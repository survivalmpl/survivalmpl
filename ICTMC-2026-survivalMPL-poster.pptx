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42805350" cy="302799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716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220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version of the A0 poster: the problem, the four-stage architecture, the four basis families, the documentation site, and the adoption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Fig1" Type="http://schemas.openxmlformats.org/officeDocument/2006/relationships/image" Target="../media/image1.png"/><Relationship Id="rIdFig2" Type="http://schemas.openxmlformats.org/officeDocument/2006/relationships/image" Target="../media/image2.png"/><Relationship Id="rIdFig3" Type="http://schemas.openxmlformats.org/officeDocument/2006/relationships/image" Target="../media/image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9975" cy="4280535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62211" y="-19051"/>
            <a:ext cx="30279975" cy="7376220"/>
          </a:xfrm>
          <a:prstGeom prst="rect">
            <a:avLst/>
          </a:prstGeom>
          <a:solidFill>
            <a:srgbClr val="003A66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619250" y="456901"/>
            <a:ext cx="26993850" cy="3325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8178"/>
              </a:lnSpc>
              <a:buNone/>
            </a:pPr>
            <a:r>
              <a:rPr lang="en-GB" sz="9600" b="1" kern="0" spc="-325" dirty="0">
                <a:solidFill>
                  <a:srgbClr val="F0F6FC"/>
                </a:solidFill>
                <a:latin typeface="IBM Plex Sans" panose="020B0503050203000203" pitchFamily="34" charset="0"/>
                <a:ea typeface="Archivo" pitchFamily="34" charset="-122"/>
                <a:cs typeface="Archivo" pitchFamily="34" charset="-120"/>
              </a:rPr>
              <a:t>Penalised Maximum Likelihood for Interval-Censored Survival Data</a:t>
            </a:r>
            <a:endParaRPr lang="en-US" sz="9600" dirty="0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85900" y="4048720"/>
            <a:ext cx="895367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kern="0" spc="-48" dirty="0">
                <a:solidFill>
                  <a:srgbClr val="CFE0F2"/>
                </a:solidFill>
                <a:latin typeface="IBM Plex Sans" panose="020B0503050203000203" pitchFamily="34" charset="0"/>
                <a:ea typeface="Archivo" pitchFamily="34" charset="-122"/>
                <a:cs typeface="Archivo" pitchFamily="34" charset="-120"/>
              </a:rPr>
              <a:t>The </a:t>
            </a:r>
            <a:r>
              <a:rPr lang="en-US" sz="5400" b="1" kern="0" spc="-48" dirty="0">
                <a:solidFill>
                  <a:srgbClr val="CFE0F2"/>
                </a:solidFill>
                <a:latin typeface="IBM Plex Sans" panose="020B0503050203000203" pitchFamily="34" charset="0"/>
                <a:ea typeface="IBM Plex Mono" pitchFamily="34" charset="-122"/>
                <a:cs typeface="IBM Plex Mono" pitchFamily="34" charset="-120"/>
              </a:rPr>
              <a:t>survivalMPL</a:t>
            </a:r>
            <a:r>
              <a:rPr lang="en-US" sz="5400" kern="0" spc="-48" dirty="0">
                <a:solidFill>
                  <a:srgbClr val="CFE0F2"/>
                </a:solidFill>
                <a:latin typeface="IBM Plex Sans" panose="020B0503050203000203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5400" kern="0" spc="-48" dirty="0">
                <a:solidFill>
                  <a:srgbClr val="CFE0F2"/>
                </a:solidFill>
                <a:latin typeface="IBM Plex Sans" panose="020B0503050203000203" pitchFamily="34" charset="0"/>
                <a:ea typeface="Archivo" pitchFamily="34" charset="-122"/>
                <a:cs typeface="Archivo" pitchFamily="34" charset="-120"/>
              </a:rPr>
              <a:t>R package</a:t>
            </a:r>
            <a:endParaRPr lang="en-US" sz="5400" dirty="0">
              <a:latin typeface="IBM Plex Sans" panose="020B050305020300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7750" y="5267920"/>
            <a:ext cx="28184475" cy="28575"/>
          </a:xfrm>
          <a:prstGeom prst="rect">
            <a:avLst/>
          </a:prstGeom>
          <a:solidFill>
            <a:srgbClr val="3661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47750" y="5677495"/>
            <a:ext cx="1962828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5455"/>
              </a:lnSpc>
            </a:pP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N. Mozgunov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1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D.-L. Couturier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J. Ma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2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S. Heritier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3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M. Manuguerra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2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S. Lo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4</a:t>
            </a:r>
          </a:p>
        </p:txBody>
      </p:sp>
      <p:sp>
        <p:nvSpPr>
          <p:cNvPr id="11" name="Text 9"/>
          <p:cNvSpPr/>
          <p:nvPr/>
        </p:nvSpPr>
        <p:spPr>
          <a:xfrm>
            <a:off x="1047750" y="6291858"/>
            <a:ext cx="19628287" cy="512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000" baseline="300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</a:t>
            </a:r>
            <a:r>
              <a:rPr lang="en-US" sz="24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MRC Biostatistics Unit, University of Cambridge · </a:t>
            </a:r>
            <a:r>
              <a:rPr lang="en-US" sz="2000" baseline="300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</a:t>
            </a:r>
            <a:r>
              <a:rPr lang="en-US" sz="24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Macquarie University · </a:t>
            </a:r>
            <a:r>
              <a:rPr lang="en-US" sz="2000" baseline="300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</a:t>
            </a:r>
            <a:r>
              <a:rPr lang="en-US" sz="24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Monash University · </a:t>
            </a:r>
            <a:r>
              <a:rPr lang="en-US" sz="2000" baseline="300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</a:t>
            </a:r>
            <a:r>
              <a:rPr lang="en-US" sz="24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Melanoma Institute Australia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47750" y="7966770"/>
            <a:ext cx="155854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447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50" y="8604945"/>
            <a:ext cx="14593644" cy="1275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492"/>
              </a:lnSpc>
              <a:buNone/>
            </a:pPr>
            <a:r>
              <a:rPr lang="en-US" sz="4200" b="1" kern="0" spc="-84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Trials observe visits, not events. The event time is known only to lie between two assessments.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047750" y="10128052"/>
            <a:ext cx="13244513" cy="2012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98"/>
              </a:lnSpc>
              <a:buNone/>
            </a:pP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survival software handles this by discarding the interval or collapsing it to a single imputed time. </a:t>
            </a:r>
            <a:r>
              <a:rPr lang="en-US" sz="2700" b="1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survivalMPL </a:t>
            </a: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fits a Cox model to exact, right-, left- and interval-censored data in one likelihood, with optional delayed entry, and returns a smooth estimate of the baseline hazard rather than a step function.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5978336" y="7966801"/>
            <a:ext cx="13253889" cy="6949440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1" name="Panel title"/>
          <p:cNvSpPr/>
          <p:nvPr/>
        </p:nvSpPr>
        <p:spPr>
          <a:xfrm>
            <a:off x="16445027" y="8395381"/>
            <a:ext cx="13551408" cy="362102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950" kern="0" spc="273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OBSERVATION SCHEMES SUPPORTED</a:t>
            </a:r>
          </a:p>
        </p:txBody>
      </p:sp>
      <p:sp>
        <p:nvSpPr>
          <p:cNvPr id="902" name="Shape"/>
          <p:cNvSpPr/>
          <p:nvPr/>
        </p:nvSpPr>
        <p:spPr>
          <a:xfrm>
            <a:off x="16445027" y="9029700"/>
            <a:ext cx="420624" cy="47549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3" name="Legend label"/>
          <p:cNvSpPr/>
          <p:nvPr/>
        </p:nvSpPr>
        <p:spPr>
          <a:xfrm>
            <a:off x="17011955" y="8869680"/>
            <a:ext cx="2468880" cy="365760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70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under observation</a:t>
            </a:r>
          </a:p>
        </p:txBody>
      </p:sp>
      <p:sp>
        <p:nvSpPr>
          <p:cNvPr id="904" name="Shape"/>
          <p:cNvSpPr/>
          <p:nvPr/>
        </p:nvSpPr>
        <p:spPr>
          <a:xfrm>
            <a:off x="19526555" y="8988552"/>
            <a:ext cx="420624" cy="118872"/>
          </a:xfrm>
          <a:prstGeom prst="rect">
            <a:avLst/>
          </a:prstGeom>
          <a:solidFill>
            <a:srgbClr val="EB88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5" name="Legend label"/>
          <p:cNvSpPr/>
          <p:nvPr/>
        </p:nvSpPr>
        <p:spPr>
          <a:xfrm>
            <a:off x="20093483" y="8869680"/>
            <a:ext cx="2468880" cy="365760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70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lies in here</a:t>
            </a:r>
          </a:p>
        </p:txBody>
      </p:sp>
      <p:sp>
        <p:nvSpPr>
          <p:cNvPr id="906" name="Shape"/>
          <p:cNvSpPr/>
          <p:nvPr/>
        </p:nvSpPr>
        <p:spPr>
          <a:xfrm>
            <a:off x="22790963" y="8924544"/>
            <a:ext cx="50292" cy="256032"/>
          </a:xfrm>
          <a:prstGeom prst="rect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7" name="Legend label"/>
          <p:cNvSpPr/>
          <p:nvPr/>
        </p:nvSpPr>
        <p:spPr>
          <a:xfrm>
            <a:off x="23175011" y="8869680"/>
            <a:ext cx="2468880" cy="365760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70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assessment visit</a:t>
            </a:r>
          </a:p>
        </p:txBody>
      </p:sp>
      <p:sp>
        <p:nvSpPr>
          <p:cNvPr id="908" name="Shape"/>
          <p:cNvSpPr/>
          <p:nvPr/>
        </p:nvSpPr>
        <p:spPr>
          <a:xfrm>
            <a:off x="25817627" y="8970264"/>
            <a:ext cx="169164" cy="169164"/>
          </a:xfrm>
          <a:prstGeom prst="ellipse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9" name="Legend label"/>
          <p:cNvSpPr/>
          <p:nvPr/>
        </p:nvSpPr>
        <p:spPr>
          <a:xfrm>
            <a:off x="26256539" y="8869680"/>
            <a:ext cx="2468880" cy="365760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70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exact event time</a:t>
            </a:r>
          </a:p>
        </p:txBody>
      </p:sp>
      <p:sp>
        <p:nvSpPr>
          <p:cNvPr id="910" name="Row label"/>
          <p:cNvSpPr/>
          <p:nvPr/>
        </p:nvSpPr>
        <p:spPr>
          <a:xfrm>
            <a:off x="16445027" y="9436608"/>
            <a:ext cx="8229600" cy="420624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2550" b="1" kern="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event</a:t>
            </a:r>
          </a:p>
        </p:txBody>
      </p:sp>
      <p:sp>
        <p:nvSpPr>
          <p:cNvPr id="911" name="Likelihood term"/>
          <p:cNvSpPr/>
          <p:nvPr/>
        </p:nvSpPr>
        <p:spPr>
          <a:xfrm>
            <a:off x="23644830" y="9464040"/>
            <a:ext cx="5120640" cy="38404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r">
              <a:buNone/>
            </a:pPr>
            <a:r>
              <a:rPr lang="en-GB" sz="2050" kern="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f(t)</a:t>
            </a:r>
          </a:p>
        </p:txBody>
      </p:sp>
      <p:sp>
        <p:nvSpPr>
          <p:cNvPr id="912" name="Timescale"/>
          <p:cNvSpPr/>
          <p:nvPr/>
        </p:nvSpPr>
        <p:spPr>
          <a:xfrm>
            <a:off x="16445027" y="10204704"/>
            <a:ext cx="12320443" cy="47549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3" name="Shape"/>
          <p:cNvSpPr/>
          <p:nvPr/>
        </p:nvSpPr>
        <p:spPr>
          <a:xfrm>
            <a:off x="16445027" y="10204704"/>
            <a:ext cx="6406630" cy="47549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4" name="Shape"/>
          <p:cNvSpPr/>
          <p:nvPr/>
        </p:nvSpPr>
        <p:spPr>
          <a:xfrm>
            <a:off x="22767075" y="10143896"/>
            <a:ext cx="169164" cy="169164"/>
          </a:xfrm>
          <a:prstGeom prst="ellipse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5" name="Row annotation"/>
          <p:cNvSpPr/>
          <p:nvPr/>
        </p:nvSpPr>
        <p:spPr>
          <a:xfrm>
            <a:off x="21617217" y="9802368"/>
            <a:ext cx="2468880" cy="29260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ctr">
              <a:buNone/>
            </a:pPr>
            <a:r>
              <a:rPr lang="en-GB" sz="165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time recorded</a:t>
            </a:r>
          </a:p>
        </p:txBody>
      </p:sp>
      <p:sp>
        <p:nvSpPr>
          <p:cNvPr id="916" name="Row label"/>
          <p:cNvSpPr/>
          <p:nvPr/>
        </p:nvSpPr>
        <p:spPr>
          <a:xfrm>
            <a:off x="16445027" y="10492740"/>
            <a:ext cx="8229600" cy="420624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2550" b="1" kern="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censored</a:t>
            </a:r>
          </a:p>
        </p:txBody>
      </p:sp>
      <p:sp>
        <p:nvSpPr>
          <p:cNvPr id="917" name="Likelihood term"/>
          <p:cNvSpPr/>
          <p:nvPr/>
        </p:nvSpPr>
        <p:spPr>
          <a:xfrm>
            <a:off x="23644830" y="10520172"/>
            <a:ext cx="5120640" cy="38404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r">
              <a:buNone/>
            </a:pPr>
            <a:r>
              <a:rPr lang="en-GB" sz="2050" kern="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S(t)</a:t>
            </a:r>
          </a:p>
        </p:txBody>
      </p:sp>
      <p:sp>
        <p:nvSpPr>
          <p:cNvPr id="918" name="Timescale"/>
          <p:cNvSpPr/>
          <p:nvPr/>
        </p:nvSpPr>
        <p:spPr>
          <a:xfrm>
            <a:off x="16445027" y="11260836"/>
            <a:ext cx="12320443" cy="47549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9" name="Shape"/>
          <p:cNvSpPr/>
          <p:nvPr/>
        </p:nvSpPr>
        <p:spPr>
          <a:xfrm>
            <a:off x="16445027" y="11260836"/>
            <a:ext cx="6406630" cy="47549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0" name="Shape"/>
          <p:cNvSpPr/>
          <p:nvPr/>
        </p:nvSpPr>
        <p:spPr>
          <a:xfrm>
            <a:off x="22851657" y="11219688"/>
            <a:ext cx="5913813" cy="128016"/>
          </a:xfrm>
          <a:prstGeom prst="rect">
            <a:avLst/>
          </a:prstGeom>
          <a:solidFill>
            <a:srgbClr val="EB88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1" name="Shape"/>
          <p:cNvSpPr/>
          <p:nvPr/>
        </p:nvSpPr>
        <p:spPr>
          <a:xfrm>
            <a:off x="22826511" y="11096244"/>
            <a:ext cx="50292" cy="310896"/>
          </a:xfrm>
          <a:prstGeom prst="rect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2" name="Row annotation"/>
          <p:cNvSpPr/>
          <p:nvPr/>
        </p:nvSpPr>
        <p:spPr>
          <a:xfrm>
            <a:off x="21617217" y="10858500"/>
            <a:ext cx="2468880" cy="29260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ctr">
              <a:buNone/>
            </a:pPr>
            <a:r>
              <a:rPr lang="en-GB" sz="165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contact</a:t>
            </a:r>
          </a:p>
        </p:txBody>
      </p:sp>
      <p:sp>
        <p:nvSpPr>
          <p:cNvPr id="923" name="Row label"/>
          <p:cNvSpPr/>
          <p:nvPr/>
        </p:nvSpPr>
        <p:spPr>
          <a:xfrm>
            <a:off x="16445027" y="11548872"/>
            <a:ext cx="8229600" cy="420624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2550" b="1" kern="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censored</a:t>
            </a:r>
          </a:p>
        </p:txBody>
      </p:sp>
      <p:sp>
        <p:nvSpPr>
          <p:cNvPr id="924" name="Likelihood term"/>
          <p:cNvSpPr/>
          <p:nvPr/>
        </p:nvSpPr>
        <p:spPr>
          <a:xfrm>
            <a:off x="23644830" y="11576304"/>
            <a:ext cx="5120640" cy="38404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r">
              <a:buNone/>
            </a:pPr>
            <a:r>
              <a:rPr lang="en-GB" sz="2050" kern="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1 − S(t)</a:t>
            </a:r>
          </a:p>
        </p:txBody>
      </p:sp>
      <p:sp>
        <p:nvSpPr>
          <p:cNvPr id="925" name="Timescale"/>
          <p:cNvSpPr/>
          <p:nvPr/>
        </p:nvSpPr>
        <p:spPr>
          <a:xfrm>
            <a:off x="16445027" y="12316968"/>
            <a:ext cx="12320443" cy="47549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6" name="Shape"/>
          <p:cNvSpPr/>
          <p:nvPr/>
        </p:nvSpPr>
        <p:spPr>
          <a:xfrm>
            <a:off x="16445027" y="12275820"/>
            <a:ext cx="3449724" cy="128016"/>
          </a:xfrm>
          <a:prstGeom prst="rect">
            <a:avLst/>
          </a:prstGeom>
          <a:solidFill>
            <a:srgbClr val="EB88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7" name="Shape"/>
          <p:cNvSpPr/>
          <p:nvPr/>
        </p:nvSpPr>
        <p:spPr>
          <a:xfrm>
            <a:off x="19869605" y="12152376"/>
            <a:ext cx="50292" cy="310896"/>
          </a:xfrm>
          <a:prstGeom prst="rect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8" name="Row annotation"/>
          <p:cNvSpPr/>
          <p:nvPr/>
        </p:nvSpPr>
        <p:spPr>
          <a:xfrm>
            <a:off x="18660311" y="11914632"/>
            <a:ext cx="2468880" cy="29260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ctr">
              <a:buNone/>
            </a:pPr>
            <a:r>
              <a:rPr lang="en-GB" sz="165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assessment</a:t>
            </a:r>
          </a:p>
        </p:txBody>
      </p:sp>
      <p:sp>
        <p:nvSpPr>
          <p:cNvPr id="929" name="Row label"/>
          <p:cNvSpPr/>
          <p:nvPr/>
        </p:nvSpPr>
        <p:spPr>
          <a:xfrm>
            <a:off x="16445027" y="12605004"/>
            <a:ext cx="8229600" cy="420624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2550" b="1" kern="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Interval censored</a:t>
            </a:r>
          </a:p>
        </p:txBody>
      </p:sp>
      <p:sp>
        <p:nvSpPr>
          <p:cNvPr id="930" name="Likelihood term"/>
          <p:cNvSpPr/>
          <p:nvPr/>
        </p:nvSpPr>
        <p:spPr>
          <a:xfrm>
            <a:off x="23644830" y="12632436"/>
            <a:ext cx="5120640" cy="38404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r">
              <a:buNone/>
            </a:pPr>
            <a:r>
              <a:rPr lang="en-GB" sz="2050" kern="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S(t₁) − S(t₂)</a:t>
            </a:r>
          </a:p>
        </p:txBody>
      </p:sp>
      <p:sp>
        <p:nvSpPr>
          <p:cNvPr id="931" name="Timescale"/>
          <p:cNvSpPr/>
          <p:nvPr/>
        </p:nvSpPr>
        <p:spPr>
          <a:xfrm>
            <a:off x="16445027" y="13373100"/>
            <a:ext cx="12320443" cy="47549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2" name="Shape"/>
          <p:cNvSpPr/>
          <p:nvPr/>
        </p:nvSpPr>
        <p:spPr>
          <a:xfrm>
            <a:off x="16445027" y="13373100"/>
            <a:ext cx="4435359" cy="47549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3" name="Shape"/>
          <p:cNvSpPr/>
          <p:nvPr/>
        </p:nvSpPr>
        <p:spPr>
          <a:xfrm>
            <a:off x="20880386" y="13331952"/>
            <a:ext cx="4188951" cy="128016"/>
          </a:xfrm>
          <a:prstGeom prst="rect">
            <a:avLst/>
          </a:prstGeom>
          <a:solidFill>
            <a:srgbClr val="EB88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4" name="Shape"/>
          <p:cNvSpPr/>
          <p:nvPr/>
        </p:nvSpPr>
        <p:spPr>
          <a:xfrm>
            <a:off x="20855240" y="13208508"/>
            <a:ext cx="50292" cy="310896"/>
          </a:xfrm>
          <a:prstGeom prst="rect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5" name="Shape"/>
          <p:cNvSpPr/>
          <p:nvPr/>
        </p:nvSpPr>
        <p:spPr>
          <a:xfrm>
            <a:off x="25044191" y="13208508"/>
            <a:ext cx="50292" cy="310896"/>
          </a:xfrm>
          <a:prstGeom prst="rect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6" name="Row annotation"/>
          <p:cNvSpPr/>
          <p:nvPr/>
        </p:nvSpPr>
        <p:spPr>
          <a:xfrm>
            <a:off x="19645946" y="12970764"/>
            <a:ext cx="2468880" cy="29260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ctr">
              <a:buNone/>
            </a:pPr>
            <a:r>
              <a:rPr lang="en-GB" sz="165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visit k</a:t>
            </a:r>
          </a:p>
        </p:txBody>
      </p:sp>
      <p:sp>
        <p:nvSpPr>
          <p:cNvPr id="937" name="Row annotation"/>
          <p:cNvSpPr/>
          <p:nvPr/>
        </p:nvSpPr>
        <p:spPr>
          <a:xfrm>
            <a:off x="23834897" y="12970764"/>
            <a:ext cx="2468880" cy="29260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ctr">
              <a:buNone/>
            </a:pPr>
            <a:r>
              <a:rPr lang="en-GB" sz="165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visit k+1</a:t>
            </a:r>
          </a:p>
        </p:txBody>
      </p:sp>
      <p:sp>
        <p:nvSpPr>
          <p:cNvPr id="938" name="Row label"/>
          <p:cNvSpPr/>
          <p:nvPr/>
        </p:nvSpPr>
        <p:spPr>
          <a:xfrm>
            <a:off x="16445027" y="13661136"/>
            <a:ext cx="8229600" cy="420624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2550" b="1" kern="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truncated</a:t>
            </a:r>
          </a:p>
        </p:txBody>
      </p:sp>
      <p:sp>
        <p:nvSpPr>
          <p:cNvPr id="939" name="Likelihood term"/>
          <p:cNvSpPr/>
          <p:nvPr/>
        </p:nvSpPr>
        <p:spPr>
          <a:xfrm>
            <a:off x="23644830" y="13688568"/>
            <a:ext cx="5120640" cy="38404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r">
              <a:buNone/>
            </a:pPr>
            <a:r>
              <a:rPr lang="en-GB" sz="2050" kern="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÷ S(entry)</a:t>
            </a:r>
          </a:p>
        </p:txBody>
      </p:sp>
      <p:sp>
        <p:nvSpPr>
          <p:cNvPr id="940" name="Timescale"/>
          <p:cNvSpPr/>
          <p:nvPr/>
        </p:nvSpPr>
        <p:spPr>
          <a:xfrm>
            <a:off x="16445027" y="14429232"/>
            <a:ext cx="12320443" cy="47549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1" name="Shape"/>
          <p:cNvSpPr/>
          <p:nvPr/>
        </p:nvSpPr>
        <p:spPr>
          <a:xfrm>
            <a:off x="19401933" y="14429232"/>
            <a:ext cx="9363536" cy="47549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2" name="Shape"/>
          <p:cNvSpPr/>
          <p:nvPr/>
        </p:nvSpPr>
        <p:spPr>
          <a:xfrm>
            <a:off x="19376787" y="14264640"/>
            <a:ext cx="50292" cy="310896"/>
          </a:xfrm>
          <a:prstGeom prst="rect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3" name="Row annotation"/>
          <p:cNvSpPr/>
          <p:nvPr/>
        </p:nvSpPr>
        <p:spPr>
          <a:xfrm>
            <a:off x="18167493" y="14026896"/>
            <a:ext cx="2468880" cy="29260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ctr">
              <a:buNone/>
            </a:pPr>
            <a:r>
              <a:rPr lang="en-GB" sz="165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delayed entry</a:t>
            </a:r>
          </a:p>
        </p:txBody>
      </p:sp>
      <p:sp>
        <p:nvSpPr>
          <p:cNvPr id="944" name="Panel footnote"/>
          <p:cNvSpPr/>
          <p:nvPr/>
        </p:nvSpPr>
        <p:spPr>
          <a:xfrm>
            <a:off x="16445027" y="14534388"/>
            <a:ext cx="12320443" cy="310896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65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 truncation combines with any of the four; entry= currently requires the uniform basis.</a:t>
            </a:r>
          </a:p>
        </p:txBody>
      </p:sp>
      <p:sp>
        <p:nvSpPr>
          <p:cNvPr id="41" name="Shape 39"/>
          <p:cNvSpPr/>
          <p:nvPr/>
        </p:nvSpPr>
        <p:spPr>
          <a:xfrm>
            <a:off x="1047750" y="15100995"/>
            <a:ext cx="28184475" cy="2322016"/>
          </a:xfrm>
          <a:prstGeom prst="rect">
            <a:avLst/>
          </a:prstGeom>
          <a:solidFill>
            <a:srgbClr val="003A6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065294" y="15100995"/>
            <a:ext cx="28575" cy="2322016"/>
          </a:xfrm>
          <a:prstGeom prst="rect">
            <a:avLst/>
          </a:prstGeom>
          <a:solidFill>
            <a:srgbClr val="2456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1466850" y="15520095"/>
            <a:ext cx="6797278" cy="104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2326"/>
              </a:lnSpc>
              <a:buNone/>
            </a:pPr>
            <a:r>
              <a:rPr lang="en-US" sz="8850" b="1" kern="0" spc="-354" dirty="0">
                <a:solidFill>
                  <a:srgbClr val="F0F6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8850" dirty="0"/>
          </a:p>
        </p:txBody>
      </p:sp>
      <p:sp>
        <p:nvSpPr>
          <p:cNvPr id="44" name="Text 42"/>
          <p:cNvSpPr/>
          <p:nvPr/>
        </p:nvSpPr>
        <p:spPr>
          <a:xfrm>
            <a:off x="1466850" y="16607730"/>
            <a:ext cx="6797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48"/>
              </a:lnSpc>
              <a:buNone/>
            </a:pPr>
            <a:r>
              <a:rPr lang="en-US" sz="2400" dirty="0">
                <a:solidFill>
                  <a:srgbClr val="C2D3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basis families for the baseline hazard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15111413" y="15100995"/>
            <a:ext cx="28575" cy="2322016"/>
          </a:xfrm>
          <a:prstGeom prst="rect">
            <a:avLst/>
          </a:prstGeom>
          <a:solidFill>
            <a:srgbClr val="2456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8512969" y="15520095"/>
            <a:ext cx="6797278" cy="104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2326"/>
              </a:lnSpc>
              <a:buNone/>
            </a:pPr>
            <a:r>
              <a:rPr lang="en-US" sz="8850" b="1" kern="0" spc="-354" dirty="0">
                <a:solidFill>
                  <a:srgbClr val="F0F6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8850" dirty="0"/>
          </a:p>
        </p:txBody>
      </p:sp>
      <p:sp>
        <p:nvSpPr>
          <p:cNvPr id="47" name="Text 45"/>
          <p:cNvSpPr/>
          <p:nvPr/>
        </p:nvSpPr>
        <p:spPr>
          <a:xfrm>
            <a:off x="8512969" y="16607730"/>
            <a:ext cx="6797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48"/>
              </a:lnSpc>
              <a:buNone/>
            </a:pPr>
            <a:r>
              <a:rPr lang="en-US" sz="2400" dirty="0">
                <a:solidFill>
                  <a:srgbClr val="C2D3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observation schemes, one likelihood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22157531" y="15100995"/>
            <a:ext cx="28575" cy="2322016"/>
          </a:xfrm>
          <a:prstGeom prst="rect">
            <a:avLst/>
          </a:prstGeom>
          <a:solidFill>
            <a:srgbClr val="2456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15559088" y="15520095"/>
            <a:ext cx="6797278" cy="104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2326"/>
              </a:lnSpc>
              <a:buNone/>
            </a:pPr>
            <a:r>
              <a:rPr lang="en-US" sz="8850" b="1" kern="0" spc="-354" dirty="0">
                <a:solidFill>
                  <a:srgbClr val="F0F6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en-US" sz="8850" dirty="0"/>
          </a:p>
        </p:txBody>
      </p:sp>
      <p:sp>
        <p:nvSpPr>
          <p:cNvPr id="50" name="Text 48"/>
          <p:cNvSpPr/>
          <p:nvPr/>
        </p:nvSpPr>
        <p:spPr>
          <a:xfrm>
            <a:off x="15559088" y="16607730"/>
            <a:ext cx="6797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48"/>
              </a:lnSpc>
              <a:buNone/>
            </a:pPr>
            <a:r>
              <a:rPr lang="en-US" sz="2400" dirty="0">
                <a:solidFill>
                  <a:srgbClr val="C2D3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methods for fitted objects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22605206" y="15520095"/>
            <a:ext cx="6828711" cy="104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2326"/>
              </a:lnSpc>
              <a:buNone/>
            </a:pPr>
            <a:r>
              <a:rPr lang="en-US" sz="8850" b="1" kern="0" spc="-354" dirty="0">
                <a:solidFill>
                  <a:srgbClr val="F0F6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</a:t>
            </a:r>
            <a:endParaRPr lang="en-US" sz="8850" dirty="0"/>
          </a:p>
        </p:txBody>
      </p:sp>
      <p:sp>
        <p:nvSpPr>
          <p:cNvPr id="52" name="Text 50"/>
          <p:cNvSpPr/>
          <p:nvPr/>
        </p:nvSpPr>
        <p:spPr>
          <a:xfrm>
            <a:off x="22605206" y="16607730"/>
            <a:ext cx="682871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48"/>
              </a:lnSpc>
              <a:buNone/>
            </a:pPr>
            <a:r>
              <a:rPr lang="en-US" sz="2400" dirty="0">
                <a:solidFill>
                  <a:srgbClr val="C2D3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worked tutorials on the docs site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1047750" y="18013561"/>
            <a:ext cx="140300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447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1047750" y="18632686"/>
            <a:ext cx="14030027" cy="55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560"/>
              </a:lnSpc>
              <a:buNone/>
            </a:pPr>
            <a:r>
              <a:rPr lang="en-US" sz="3450" b="1" kern="0" spc="-69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separated stages, one stable user-facing API.</a:t>
            </a:r>
            <a:endParaRPr lang="en-US" sz="3450" dirty="0"/>
          </a:p>
        </p:txBody>
      </p:sp>
      <p:sp>
        <p:nvSpPr>
          <p:cNvPr id="55" name="Shape 53"/>
          <p:cNvSpPr/>
          <p:nvPr/>
        </p:nvSpPr>
        <p:spPr>
          <a:xfrm>
            <a:off x="1047750" y="19416266"/>
            <a:ext cx="12754570" cy="1285875"/>
          </a:xfrm>
          <a:prstGeom prst="rect">
            <a:avLst/>
          </a:prstGeom>
          <a:solidFill>
            <a:srgbClr val="FDFC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1047750" y="20673566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1047750" y="19416266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1047750" y="19416266"/>
            <a:ext cx="114300" cy="128587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13773745" y="19416266"/>
            <a:ext cx="28575" cy="12858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1447800" y="19654391"/>
            <a:ext cx="1324421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specification</a:t>
            </a:r>
            <a:endParaRPr lang="en-US" sz="2700" dirty="0"/>
          </a:p>
        </p:txBody>
      </p:sp>
      <p:sp>
        <p:nvSpPr>
          <p:cNvPr id="61" name="Text 59"/>
          <p:cNvSpPr/>
          <p:nvPr/>
        </p:nvSpPr>
        <p:spPr>
          <a:xfrm>
            <a:off x="1447800" y="20140166"/>
            <a:ext cx="13244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formula · Surv(type = "interval2") · entry=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428750" y="20816441"/>
            <a:ext cx="47625" cy="190500"/>
          </a:xfrm>
          <a:prstGeom prst="rect">
            <a:avLst/>
          </a:prstGeom>
          <a:solidFill>
            <a:srgbClr val="B6BEC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1047750" y="21121241"/>
            <a:ext cx="12754570" cy="1285875"/>
          </a:xfrm>
          <a:prstGeom prst="rect">
            <a:avLst/>
          </a:prstGeom>
          <a:solidFill>
            <a:srgbClr val="FDFC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1047750" y="22378541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1047750" y="21121241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1047750" y="21121241"/>
            <a:ext cx="114300" cy="128587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13773745" y="21121241"/>
            <a:ext cx="28575" cy="12858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1447800" y="21359366"/>
            <a:ext cx="1324421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Estimation</a:t>
            </a:r>
            <a:endParaRPr lang="en-US" sz="2700" dirty="0"/>
          </a:p>
        </p:txBody>
      </p:sp>
      <p:sp>
        <p:nvSpPr>
          <p:cNvPr id="69" name="Text 67"/>
          <p:cNvSpPr/>
          <p:nvPr/>
        </p:nvSpPr>
        <p:spPr>
          <a:xfrm>
            <a:off x="1447800" y="21845141"/>
            <a:ext cx="13244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penalised likelihood · non-negativity · marginal-likelihood λ</a:t>
            </a: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950" dirty="0"/>
          </a:p>
        </p:txBody>
      </p:sp>
      <p:sp>
        <p:nvSpPr>
          <p:cNvPr id="70" name="Shape 68"/>
          <p:cNvSpPr/>
          <p:nvPr/>
        </p:nvSpPr>
        <p:spPr>
          <a:xfrm>
            <a:off x="1428750" y="22521416"/>
            <a:ext cx="47625" cy="190500"/>
          </a:xfrm>
          <a:prstGeom prst="rect">
            <a:avLst/>
          </a:prstGeom>
          <a:solidFill>
            <a:srgbClr val="B6BEC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1047750" y="22826216"/>
            <a:ext cx="12754570" cy="1285875"/>
          </a:xfrm>
          <a:prstGeom prst="rect">
            <a:avLst/>
          </a:prstGeom>
          <a:solidFill>
            <a:srgbClr val="FDFC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1047750" y="24083516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1047750" y="22826216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1047750" y="22826216"/>
            <a:ext cx="114300" cy="128587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13773745" y="22826216"/>
            <a:ext cx="28575" cy="12858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1447800" y="23064341"/>
            <a:ext cx="1324421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Inference</a:t>
            </a:r>
            <a:endParaRPr lang="en-US" sz="2700" dirty="0"/>
          </a:p>
        </p:txBody>
      </p:sp>
      <p:sp>
        <p:nvSpPr>
          <p:cNvPr id="77" name="Text 75"/>
          <p:cNvSpPr/>
          <p:nvPr/>
        </p:nvSpPr>
        <p:spPr>
          <a:xfrm>
            <a:off x="1447801" y="23550116"/>
            <a:ext cx="10687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coefficients · baseline hazard and survival bands</a:t>
            </a:r>
            <a:endParaRPr lang="en-US" sz="1950" dirty="0"/>
          </a:p>
        </p:txBody>
      </p:sp>
      <p:sp>
        <p:nvSpPr>
          <p:cNvPr id="78" name="Shape 76"/>
          <p:cNvSpPr/>
          <p:nvPr/>
        </p:nvSpPr>
        <p:spPr>
          <a:xfrm>
            <a:off x="1428750" y="24226391"/>
            <a:ext cx="47625" cy="190500"/>
          </a:xfrm>
          <a:prstGeom prst="rect">
            <a:avLst/>
          </a:prstGeom>
          <a:solidFill>
            <a:srgbClr val="B6BEC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1047750" y="24531191"/>
            <a:ext cx="12754570" cy="1285875"/>
          </a:xfrm>
          <a:prstGeom prst="rect">
            <a:avLst/>
          </a:prstGeom>
          <a:solidFill>
            <a:srgbClr val="FDFC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1047750" y="25788491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1047750" y="24531191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1047750" y="24531191"/>
            <a:ext cx="114300" cy="128587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13773745" y="24531191"/>
            <a:ext cx="28575" cy="12858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1447800" y="24769316"/>
            <a:ext cx="1324421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Post-processing</a:t>
            </a:r>
            <a:endParaRPr lang="en-US" sz="2700" dirty="0"/>
          </a:p>
        </p:txBody>
      </p:sp>
      <p:sp>
        <p:nvSpPr>
          <p:cNvPr id="85" name="Text 83"/>
          <p:cNvSpPr/>
          <p:nvPr/>
        </p:nvSpPr>
        <p:spPr>
          <a:xfrm>
            <a:off x="1447800" y="25255091"/>
            <a:ext cx="13244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 · summary · predict · residuals · plot</a:t>
            </a:r>
            <a:endParaRPr lang="en-US" sz="1950" dirty="0"/>
          </a:p>
        </p:txBody>
      </p:sp>
      <p:sp>
        <p:nvSpPr>
          <p:cNvPr id="86" name="Shape 84"/>
          <p:cNvSpPr/>
          <p:nvPr/>
        </p:nvSpPr>
        <p:spPr>
          <a:xfrm>
            <a:off x="1047750" y="26083766"/>
            <a:ext cx="12754570" cy="2714030"/>
          </a:xfrm>
          <a:prstGeom prst="rect">
            <a:avLst/>
          </a:prstGeom>
          <a:solidFill>
            <a:srgbClr val="FCE6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1047750" y="26083766"/>
            <a:ext cx="114300" cy="2714030"/>
          </a:xfrm>
          <a:prstGeom prst="rect">
            <a:avLst/>
          </a:prstGeom>
          <a:solidFill>
            <a:srgbClr val="EB88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1485900" y="26350466"/>
            <a:ext cx="131918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9033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EXTENSION POINT</a:t>
            </a:r>
            <a:endParaRPr lang="en-US" sz="1950" dirty="0"/>
          </a:p>
        </p:txBody>
      </p:sp>
      <p:sp>
        <p:nvSpPr>
          <p:cNvPr id="89" name="Text 87"/>
          <p:cNvSpPr/>
          <p:nvPr/>
        </p:nvSpPr>
        <p:spPr>
          <a:xfrm>
            <a:off x="1485900" y="26769566"/>
            <a:ext cx="12352347" cy="1799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91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basis is one file: three functions, registered at load time. A fifth family is a new file, not an edit to </a:t>
            </a:r>
            <a:r>
              <a:rPr lang="en-US" sz="2550" dirty="0">
                <a:solidFill>
                  <a:srgbClr val="1214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coxph_mpl()</a:t>
            </a: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same separation let the Hessian assembly drop its n × n matrices — the reason the 86,611-subject hiroshima fit runs at all — with estimates unchanged.</a:t>
            </a:r>
            <a:endParaRPr lang="en-US" sz="2550" dirty="0"/>
          </a:p>
        </p:txBody>
      </p:sp>
      <p:sp>
        <p:nvSpPr>
          <p:cNvPr id="90" name="Text 88"/>
          <p:cNvSpPr/>
          <p:nvPr/>
        </p:nvSpPr>
        <p:spPr>
          <a:xfrm>
            <a:off x="14564320" y="18013561"/>
            <a:ext cx="161346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447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 HAZARD BASES</a:t>
            </a:r>
            <a:endParaRPr lang="en-US" sz="2100" dirty="0"/>
          </a:p>
        </p:txBody>
      </p:sp>
      <p:sp>
        <p:nvSpPr>
          <p:cNvPr id="91" name="Text 89"/>
          <p:cNvSpPr/>
          <p:nvPr/>
        </p:nvSpPr>
        <p:spPr>
          <a:xfrm>
            <a:off x="14564320" y="18632686"/>
            <a:ext cx="16134695" cy="55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560"/>
              </a:lnSpc>
              <a:buNone/>
            </a:pPr>
            <a:r>
              <a:rPr lang="en-US" sz="3450" b="1" kern="0" spc="-69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baseline hazard is a non-negative mixture of basis </a:t>
            </a:r>
            <a:r>
              <a:rPr lang="en-US" sz="3450" b="1" kern="0" spc="-69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functions.</a:t>
            </a:r>
            <a:endParaRPr lang="en-US" sz="3450" dirty="0"/>
          </a:p>
        </p:txBody>
      </p:sp>
      <p:sp>
        <p:nvSpPr>
          <p:cNvPr id="92" name="Shape 90"/>
          <p:cNvSpPr/>
          <p:nvPr/>
        </p:nvSpPr>
        <p:spPr>
          <a:xfrm>
            <a:off x="14564320" y="19416266"/>
            <a:ext cx="7257752" cy="1813322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Text 91"/>
          <p:cNvSpPr/>
          <p:nvPr/>
        </p:nvSpPr>
        <p:spPr>
          <a:xfrm>
            <a:off x="14878645" y="19692491"/>
            <a:ext cx="7292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uniform</a:t>
            </a:r>
            <a:endParaRPr lang="en-US" sz="2550" dirty="0"/>
          </a:p>
        </p:txBody>
      </p:sp>
      <p:sp>
        <p:nvSpPr>
          <p:cNvPr id="94" name="Text 92"/>
          <p:cNvSpPr/>
          <p:nvPr/>
        </p:nvSpPr>
        <p:spPr>
          <a:xfrm>
            <a:off x="14878645" y="20187791"/>
            <a:ext cx="6827975" cy="803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77"/>
              </a:lnSpc>
              <a:buNone/>
            </a:pPr>
            <a:r>
              <a:rPr lang="en-US" sz="22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Piecewise-constant steps. The package default, and the only basis that supports delayed entry.</a:t>
            </a:r>
            <a:endParaRPr lang="en-US" sz="2250" dirty="0"/>
          </a:p>
        </p:txBody>
      </p:sp>
      <p:sp>
        <p:nvSpPr>
          <p:cNvPr id="95" name="Shape 93"/>
          <p:cNvSpPr/>
          <p:nvPr/>
        </p:nvSpPr>
        <p:spPr>
          <a:xfrm>
            <a:off x="21974473" y="19416266"/>
            <a:ext cx="7257752" cy="1813322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/>
          <p:nvPr/>
        </p:nvSpPr>
        <p:spPr>
          <a:xfrm>
            <a:off x="22288798" y="19692491"/>
            <a:ext cx="7292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msplines</a:t>
            </a:r>
            <a:endParaRPr lang="en-US" sz="2550" dirty="0"/>
          </a:p>
        </p:txBody>
      </p:sp>
      <p:sp>
        <p:nvSpPr>
          <p:cNvPr id="97" name="Text 95"/>
          <p:cNvSpPr/>
          <p:nvPr/>
        </p:nvSpPr>
        <p:spPr>
          <a:xfrm>
            <a:off x="22288798" y="20187791"/>
            <a:ext cx="6827975" cy="803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77"/>
              </a:lnSpc>
              <a:buNone/>
            </a:pPr>
            <a:r>
              <a:rPr lang="en-US" sz="22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Cubic M-splines, non-negative by construction. Closed-form roughness penalty; the usual recommendation.</a:t>
            </a:r>
            <a:endParaRPr lang="en-US" sz="2250" dirty="0"/>
          </a:p>
        </p:txBody>
      </p:sp>
      <p:sp>
        <p:nvSpPr>
          <p:cNvPr id="98" name="Shape 96"/>
          <p:cNvSpPr/>
          <p:nvPr/>
        </p:nvSpPr>
        <p:spPr>
          <a:xfrm>
            <a:off x="14564320" y="21381988"/>
            <a:ext cx="7257752" cy="1813322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97"/>
          <p:cNvSpPr/>
          <p:nvPr/>
        </p:nvSpPr>
        <p:spPr>
          <a:xfrm>
            <a:off x="14878645" y="21658213"/>
            <a:ext cx="7292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gaussian</a:t>
            </a:r>
            <a:endParaRPr lang="en-US" sz="2550" dirty="0"/>
          </a:p>
        </p:txBody>
      </p:sp>
      <p:sp>
        <p:nvSpPr>
          <p:cNvPr id="100" name="Text 98"/>
          <p:cNvSpPr/>
          <p:nvPr/>
        </p:nvSpPr>
        <p:spPr>
          <a:xfrm>
            <a:off x="14878645" y="22153513"/>
            <a:ext cx="6827975" cy="803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77"/>
              </a:lnSpc>
              <a:buNone/>
            </a:pPr>
            <a:r>
              <a:rPr lang="en-US" sz="22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Truncated Gaussian kernels. The smoothest estimates; first- or second-order penalty.</a:t>
            </a:r>
            <a:endParaRPr lang="en-US" sz="2250" dirty="0"/>
          </a:p>
        </p:txBody>
      </p:sp>
      <p:sp>
        <p:nvSpPr>
          <p:cNvPr id="101" name="Shape 99"/>
          <p:cNvSpPr/>
          <p:nvPr/>
        </p:nvSpPr>
        <p:spPr>
          <a:xfrm>
            <a:off x="21974473" y="21381988"/>
            <a:ext cx="7257752" cy="1813322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100"/>
          <p:cNvSpPr/>
          <p:nvPr/>
        </p:nvSpPr>
        <p:spPr>
          <a:xfrm>
            <a:off x="22288798" y="21658213"/>
            <a:ext cx="7292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epanechnikov</a:t>
            </a:r>
            <a:endParaRPr lang="en-US" sz="2550" dirty="0"/>
          </a:p>
        </p:txBody>
      </p:sp>
      <p:sp>
        <p:nvSpPr>
          <p:cNvPr id="103" name="Text 101"/>
          <p:cNvSpPr/>
          <p:nvPr/>
        </p:nvSpPr>
        <p:spPr>
          <a:xfrm>
            <a:off x="22288798" y="22153513"/>
            <a:ext cx="6827975" cy="803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77"/>
              </a:lnSpc>
              <a:buNone/>
            </a:pPr>
            <a:r>
              <a:rPr lang="en-US" sz="22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parabolic kernels. Local support like M-splines; second-order penalty only.</a:t>
            </a:r>
            <a:endParaRPr lang="en-US" sz="2250" dirty="0"/>
          </a:p>
        </p:txBody>
      </p:sp>
      <p:sp>
        <p:nvSpPr>
          <p:cNvPr id="104" name="Text 102"/>
          <p:cNvSpPr/>
          <p:nvPr/>
        </p:nvSpPr>
        <p:spPr>
          <a:xfrm>
            <a:off x="14564289" y="23390352"/>
            <a:ext cx="1466697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2  Same melanoma model, four bases. Smoothing chosen automatically for each.</a:t>
            </a:r>
            <a:endParaRPr lang="en-US" sz="1950" dirty="0"/>
          </a:p>
        </p:txBody>
      </p:sp>
      <p:sp>
        <p:nvSpPr>
          <p:cNvPr id="105" name="Shape 103"/>
          <p:cNvSpPr/>
          <p:nvPr/>
        </p:nvSpPr>
        <p:spPr>
          <a:xfrm>
            <a:off x="14564320" y="27976860"/>
            <a:ext cx="14667905" cy="2750939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4"/>
          <p:cNvSpPr/>
          <p:nvPr/>
        </p:nvSpPr>
        <p:spPr>
          <a:xfrm>
            <a:off x="14916745" y="28291185"/>
            <a:ext cx="15359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SMOOTHING &amp; METHODS</a:t>
            </a:r>
            <a:endParaRPr lang="en-US" sz="1950" dirty="0"/>
          </a:p>
        </p:txBody>
      </p:sp>
      <p:sp>
        <p:nvSpPr>
          <p:cNvPr id="107" name="Text 105"/>
          <p:cNvSpPr/>
          <p:nvPr/>
        </p:nvSpPr>
        <p:spPr>
          <a:xfrm>
            <a:off x="14916745" y="28786485"/>
            <a:ext cx="14381946" cy="931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36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λ is selected automatically by marginal likelihood, or held fixed at a value you supply. Non-negativity of θ is a constraint inside the optimiser, not a correction applied afterwards.</a:t>
            </a: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2550" dirty="0"/>
          </a:p>
        </p:txBody>
      </p:sp>
      <p:sp>
        <p:nvSpPr>
          <p:cNvPr id="108" name="Shape 106"/>
          <p:cNvSpPr/>
          <p:nvPr/>
        </p:nvSpPr>
        <p:spPr>
          <a:xfrm>
            <a:off x="14916745" y="29851499"/>
            <a:ext cx="140970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15107245" y="29946749"/>
            <a:ext cx="110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coef()</a:t>
            </a:r>
            <a:endParaRPr lang="en-US" sz="2250" dirty="0"/>
          </a:p>
        </p:txBody>
      </p:sp>
      <p:sp>
        <p:nvSpPr>
          <p:cNvPr id="110" name="Shape 108"/>
          <p:cNvSpPr/>
          <p:nvPr/>
        </p:nvSpPr>
        <p:spPr>
          <a:xfrm>
            <a:off x="16440745" y="29851499"/>
            <a:ext cx="192405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1" name="Text 109"/>
          <p:cNvSpPr/>
          <p:nvPr/>
        </p:nvSpPr>
        <p:spPr>
          <a:xfrm>
            <a:off x="16631245" y="29946749"/>
            <a:ext cx="1619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summary()</a:t>
            </a:r>
            <a:endParaRPr lang="en-US" sz="2250" dirty="0"/>
          </a:p>
        </p:txBody>
      </p:sp>
      <p:sp>
        <p:nvSpPr>
          <p:cNvPr id="112" name="Shape 110"/>
          <p:cNvSpPr/>
          <p:nvPr/>
        </p:nvSpPr>
        <p:spPr>
          <a:xfrm>
            <a:off x="18479095" y="29851499"/>
            <a:ext cx="192405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3" name="Text 111"/>
          <p:cNvSpPr/>
          <p:nvPr/>
        </p:nvSpPr>
        <p:spPr>
          <a:xfrm>
            <a:off x="18669595" y="29946749"/>
            <a:ext cx="1619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predict()</a:t>
            </a:r>
            <a:endParaRPr lang="en-US" sz="2250" dirty="0"/>
          </a:p>
        </p:txBody>
      </p:sp>
      <p:sp>
        <p:nvSpPr>
          <p:cNvPr id="114" name="Shape 112"/>
          <p:cNvSpPr/>
          <p:nvPr/>
        </p:nvSpPr>
        <p:spPr>
          <a:xfrm>
            <a:off x="20517445" y="29851499"/>
            <a:ext cx="226695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5" name="Text 113"/>
          <p:cNvSpPr/>
          <p:nvPr/>
        </p:nvSpPr>
        <p:spPr>
          <a:xfrm>
            <a:off x="20707945" y="29946749"/>
            <a:ext cx="19621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residuals()</a:t>
            </a:r>
            <a:endParaRPr lang="en-US" sz="2250" dirty="0"/>
          </a:p>
        </p:txBody>
      </p:sp>
      <p:sp>
        <p:nvSpPr>
          <p:cNvPr id="116" name="Shape 114"/>
          <p:cNvSpPr/>
          <p:nvPr/>
        </p:nvSpPr>
        <p:spPr>
          <a:xfrm>
            <a:off x="22898695" y="29851499"/>
            <a:ext cx="140970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7" name="Text 115"/>
          <p:cNvSpPr/>
          <p:nvPr/>
        </p:nvSpPr>
        <p:spPr>
          <a:xfrm>
            <a:off x="23089195" y="29946749"/>
            <a:ext cx="110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plot()</a:t>
            </a:r>
            <a:endParaRPr lang="en-US" sz="2250" dirty="0"/>
          </a:p>
        </p:txBody>
      </p:sp>
      <p:sp>
        <p:nvSpPr>
          <p:cNvPr id="118" name="Text 116"/>
          <p:cNvSpPr/>
          <p:nvPr/>
        </p:nvSpPr>
        <p:spPr>
          <a:xfrm>
            <a:off x="1047750" y="31318349"/>
            <a:ext cx="180988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447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DOCUMENTATION &amp; REPRODUCIBILITY</a:t>
            </a:r>
            <a:endParaRPr lang="en-US" sz="2100" dirty="0"/>
          </a:p>
        </p:txBody>
      </p:sp>
      <p:sp>
        <p:nvSpPr>
          <p:cNvPr id="119" name="Text 117"/>
          <p:cNvSpPr/>
          <p:nvPr/>
        </p:nvSpPr>
        <p:spPr>
          <a:xfrm>
            <a:off x="1047750" y="31937474"/>
            <a:ext cx="18098899" cy="55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560"/>
              </a:lnSpc>
              <a:buNone/>
            </a:pPr>
            <a:r>
              <a:rPr lang="en-US" sz="3450" b="1" kern="0" spc="-69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pkgdown site with a worked example for every observation scheme.</a:t>
            </a:r>
            <a:endParaRPr lang="en-US" sz="3450" dirty="0"/>
          </a:p>
        </p:txBody>
      </p:sp>
      <p:sp>
        <p:nvSpPr>
          <p:cNvPr id="120" name="Shape 118"/>
          <p:cNvSpPr/>
          <p:nvPr/>
        </p:nvSpPr>
        <p:spPr>
          <a:xfrm>
            <a:off x="1047750" y="32854404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1" name="Text 119"/>
          <p:cNvSpPr/>
          <p:nvPr/>
        </p:nvSpPr>
        <p:spPr>
          <a:xfrm>
            <a:off x="1371600" y="32721054"/>
            <a:ext cx="3831327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Getting-started vignette</a:t>
            </a:r>
            <a:endParaRPr lang="en-US" sz="2550" dirty="0"/>
          </a:p>
        </p:txBody>
      </p:sp>
      <p:sp>
        <p:nvSpPr>
          <p:cNvPr id="122" name="Shape 120"/>
          <p:cNvSpPr/>
          <p:nvPr/>
        </p:nvSpPr>
        <p:spPr>
          <a:xfrm>
            <a:off x="9465022" y="32854404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3" name="Text 121"/>
          <p:cNvSpPr/>
          <p:nvPr/>
        </p:nvSpPr>
        <p:spPr>
          <a:xfrm>
            <a:off x="9788872" y="32721054"/>
            <a:ext cx="4573756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Right, left, interval censoring</a:t>
            </a:r>
            <a:endParaRPr lang="en-US" sz="2550" dirty="0"/>
          </a:p>
        </p:txBody>
      </p:sp>
      <p:sp>
        <p:nvSpPr>
          <p:cNvPr id="124" name="Shape 122"/>
          <p:cNvSpPr/>
          <p:nvPr/>
        </p:nvSpPr>
        <p:spPr>
          <a:xfrm>
            <a:off x="1047750" y="33408640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5" name="Text 123"/>
          <p:cNvSpPr/>
          <p:nvPr/>
        </p:nvSpPr>
        <p:spPr>
          <a:xfrm>
            <a:off x="1371600" y="33275290"/>
            <a:ext cx="5190455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truncation, profile likelihood</a:t>
            </a:r>
            <a:endParaRPr lang="en-US" sz="2550" dirty="0"/>
          </a:p>
        </p:txBody>
      </p:sp>
      <p:sp>
        <p:nvSpPr>
          <p:cNvPr id="126" name="Shape 124"/>
          <p:cNvSpPr/>
          <p:nvPr/>
        </p:nvSpPr>
        <p:spPr>
          <a:xfrm>
            <a:off x="9465022" y="33408640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7" name="Text 125"/>
          <p:cNvSpPr/>
          <p:nvPr/>
        </p:nvSpPr>
        <p:spPr>
          <a:xfrm>
            <a:off x="9788872" y="33275290"/>
            <a:ext cx="5486400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Bases and control parameters</a:t>
            </a:r>
            <a:endParaRPr lang="en-US" sz="2550" dirty="0"/>
          </a:p>
        </p:txBody>
      </p:sp>
      <p:sp>
        <p:nvSpPr>
          <p:cNvPr id="128" name="Shape 126"/>
          <p:cNvSpPr/>
          <p:nvPr/>
        </p:nvSpPr>
        <p:spPr>
          <a:xfrm>
            <a:off x="1047750" y="33962876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9" name="Text 127"/>
          <p:cNvSpPr/>
          <p:nvPr/>
        </p:nvSpPr>
        <p:spPr>
          <a:xfrm>
            <a:off x="1371600" y="33829526"/>
            <a:ext cx="3733755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coxph() vs coxph_mpl()</a:t>
            </a:r>
            <a:endParaRPr lang="en-US" sz="2550" dirty="0"/>
          </a:p>
        </p:txBody>
      </p:sp>
      <p:sp>
        <p:nvSpPr>
          <p:cNvPr id="130" name="Shape 128"/>
          <p:cNvSpPr/>
          <p:nvPr/>
        </p:nvSpPr>
        <p:spPr>
          <a:xfrm>
            <a:off x="9465022" y="33962876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1" name="Text 129"/>
          <p:cNvSpPr/>
          <p:nvPr/>
        </p:nvSpPr>
        <p:spPr>
          <a:xfrm>
            <a:off x="9788872" y="33829526"/>
            <a:ext cx="5547345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Searchable, cross-linked reference</a:t>
            </a:r>
            <a:endParaRPr lang="en-US" sz="2550" dirty="0"/>
          </a:p>
        </p:txBody>
      </p:sp>
      <p:sp>
        <p:nvSpPr>
          <p:cNvPr id="132" name="Text 130"/>
          <p:cNvSpPr/>
          <p:nvPr/>
        </p:nvSpPr>
        <p:spPr>
          <a:xfrm>
            <a:off x="1047750" y="34517112"/>
            <a:ext cx="16947151" cy="1011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6"/>
              </a:lnSpc>
              <a:buNone/>
            </a:pP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datasets ship with the package: </a:t>
            </a:r>
            <a:r>
              <a:rPr lang="en-US" sz="2700" dirty="0">
                <a:solidFill>
                  <a:srgbClr val="3033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bcos2 </a:t>
            </a: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(94 women, breast cosmesis), </a:t>
            </a:r>
            <a:r>
              <a:rPr lang="en-US" sz="2700" dirty="0">
                <a:solidFill>
                  <a:srgbClr val="3033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hiv </a:t>
            </a: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</a:t>
            </a:r>
            <a:r>
              <a:rPr lang="en-US" sz="2700" dirty="0">
                <a:solidFill>
                  <a:srgbClr val="3033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melanoma </a:t>
            </a: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(300 simulated subjects each), and </a:t>
            </a:r>
            <a:r>
              <a:rPr lang="en-US" sz="2700" dirty="0">
                <a:solidFill>
                  <a:srgbClr val="3033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hiroshima </a:t>
            </a: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(86,611 subjects, delayed entry). Every example runs as written.</a:t>
            </a:r>
            <a:endParaRPr lang="en-US" sz="2700" dirty="0"/>
          </a:p>
        </p:txBody>
      </p:sp>
      <p:sp>
        <p:nvSpPr>
          <p:cNvPr id="136" name="Shape 134"/>
          <p:cNvSpPr/>
          <p:nvPr/>
        </p:nvSpPr>
        <p:spPr>
          <a:xfrm>
            <a:off x="23900160" y="31318349"/>
            <a:ext cx="5332065" cy="4524375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Text 135"/>
          <p:cNvSpPr/>
          <p:nvPr/>
        </p:nvSpPr>
        <p:spPr>
          <a:xfrm>
            <a:off x="26171426" y="31632674"/>
            <a:ext cx="7895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234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CRAN</a:t>
            </a:r>
            <a:endParaRPr lang="en-US" sz="1950" dirty="0"/>
          </a:p>
        </p:txBody>
      </p:sp>
      <p:sp>
        <p:nvSpPr>
          <p:cNvPr id="138" name="Text 136"/>
          <p:cNvSpPr/>
          <p:nvPr/>
        </p:nvSpPr>
        <p:spPr>
          <a:xfrm>
            <a:off x="24357166" y="35156924"/>
            <a:ext cx="44179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dirty="0">
                <a:solidFill>
                  <a:srgbClr val="4A4D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install.packages("survivalMPL")</a:t>
            </a:r>
            <a:endParaRPr lang="en-US" sz="2250" dirty="0"/>
          </a:p>
        </p:txBody>
      </p:sp>
      <p:sp>
        <p:nvSpPr>
          <p:cNvPr id="139" name="Shape 137"/>
          <p:cNvSpPr/>
          <p:nvPr/>
        </p:nvSpPr>
        <p:spPr>
          <a:xfrm>
            <a:off x="1047750" y="38233350"/>
            <a:ext cx="28184475" cy="2171700"/>
          </a:xfrm>
          <a:prstGeom prst="rect">
            <a:avLst/>
          </a:prstGeom>
          <a:solidFill>
            <a:srgbClr val="FCE6D9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40" name="Shape 138"/>
          <p:cNvSpPr/>
          <p:nvPr/>
        </p:nvSpPr>
        <p:spPr>
          <a:xfrm>
            <a:off x="1047750" y="38233350"/>
            <a:ext cx="28184475" cy="114300"/>
          </a:xfrm>
          <a:prstGeom prst="rect">
            <a:avLst/>
          </a:prstGeom>
          <a:solidFill>
            <a:srgbClr val="EB88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1" name="Text 139"/>
          <p:cNvSpPr/>
          <p:nvPr/>
        </p:nvSpPr>
        <p:spPr>
          <a:xfrm>
            <a:off x="1619250" y="38900100"/>
            <a:ext cx="29228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9033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2100" dirty="0"/>
          </a:p>
        </p:txBody>
      </p:sp>
      <p:sp>
        <p:nvSpPr>
          <p:cNvPr id="142" name="Text 140"/>
          <p:cNvSpPr/>
          <p:nvPr/>
        </p:nvSpPr>
        <p:spPr>
          <a:xfrm>
            <a:off x="5028456" y="38804850"/>
            <a:ext cx="24341237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Scheduled visits make interval censoring the norm. survivalMPL fits the intervals directly — no imputation, nothing discarded — and returns a smooth baseline hazard with standard errors.</a:t>
            </a:r>
            <a:endParaRPr lang="en-US" sz="3750" dirty="0"/>
          </a:p>
        </p:txBody>
      </p:sp>
      <p:sp>
        <p:nvSpPr>
          <p:cNvPr id="143" name="Text 141"/>
          <p:cNvSpPr/>
          <p:nvPr/>
        </p:nvSpPr>
        <p:spPr>
          <a:xfrm>
            <a:off x="1047750" y="40824150"/>
            <a:ext cx="2277856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 J., Héritier S., Lo S. N. (2014). On the maximum penalized likelihood approach for proportional hazard models with right censored survival data. </a:t>
            </a:r>
            <a:r>
              <a:rPr lang="en-US" sz="1950" i="1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Computational Statistics &amp; Data Analysis </a:t>
            </a: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74, 142–156.</a:t>
            </a:r>
            <a:endParaRPr lang="en-US" sz="1950" dirty="0"/>
          </a:p>
        </p:txBody>
      </p:sp>
      <p:sp>
        <p:nvSpPr>
          <p:cNvPr id="144" name="Text 142"/>
          <p:cNvSpPr/>
          <p:nvPr/>
        </p:nvSpPr>
        <p:spPr>
          <a:xfrm>
            <a:off x="1047750" y="41548050"/>
            <a:ext cx="243266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 J., Webb A., Hudson H. M. (2024). </a:t>
            </a:r>
            <a:r>
              <a:rPr lang="en-US" sz="1950" i="1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Likelihood Methods in Survival Analysis: With R Examples. </a:t>
            </a: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Chapman and Hall/CRC, Boca Raton.</a:t>
            </a:r>
            <a:endParaRPr lang="en-US" sz="1950" dirty="0"/>
          </a:p>
        </p:txBody>
      </p:sp>
      <p:sp>
        <p:nvSpPr>
          <p:cNvPr id="145" name="Text 143"/>
          <p:cNvSpPr/>
          <p:nvPr/>
        </p:nvSpPr>
        <p:spPr>
          <a:xfrm>
            <a:off x="1047750" y="41948100"/>
            <a:ext cx="243266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Bhaskaran A., Liquet B., Ma J. Maximum profile likelihood for Cox models under left truncation and right censoring. Macquarie University.</a:t>
            </a:r>
            <a:endParaRPr lang="en-US" sz="1950" dirty="0"/>
          </a:p>
        </p:txBody>
      </p:sp>
      <p:sp>
        <p:nvSpPr>
          <p:cNvPr id="146" name="Text 144"/>
          <p:cNvSpPr/>
          <p:nvPr/>
        </p:nvSpPr>
        <p:spPr>
          <a:xfrm>
            <a:off x="23184579" y="41548050"/>
            <a:ext cx="60476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003A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nikita.mozgunov@mrc-bsu.cam.ac.uk</a:t>
            </a:r>
            <a:endParaRPr lang="en-US" sz="1950" dirty="0"/>
          </a:p>
        </p:txBody>
      </p:sp>
      <p:sp>
        <p:nvSpPr>
          <p:cNvPr id="147" name="Text 145"/>
          <p:cNvSpPr/>
          <p:nvPr/>
        </p:nvSpPr>
        <p:spPr>
          <a:xfrm>
            <a:off x="23184579" y="41948100"/>
            <a:ext cx="60476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ICTMC 2026 · Birmingham</a:t>
            </a:r>
            <a:endParaRPr lang="en-US" sz="1950" dirty="0"/>
          </a:p>
        </p:txBody>
      </p:sp>
      <p:sp>
        <p:nvSpPr>
          <p:cNvPr id="150" name="Shape 134">
            <a:extLst>
              <a:ext uri="{FF2B5EF4-FFF2-40B4-BE49-F238E27FC236}">
                <a16:creationId xmlns:a16="http://schemas.microsoft.com/office/drawing/2014/main" id="{68EF7D2B-90D7-37FD-F7EA-53279D3163D4}"/>
              </a:ext>
            </a:extLst>
          </p:cNvPr>
          <p:cNvSpPr/>
          <p:nvPr/>
        </p:nvSpPr>
        <p:spPr>
          <a:xfrm>
            <a:off x="26960959" y="4115268"/>
            <a:ext cx="2189797" cy="2183493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Text 135">
            <a:extLst>
              <a:ext uri="{FF2B5EF4-FFF2-40B4-BE49-F238E27FC236}">
                <a16:creationId xmlns:a16="http://schemas.microsoft.com/office/drawing/2014/main" id="{FB3FD416-FA85-9FF6-50C2-7C6107604A98}"/>
              </a:ext>
            </a:extLst>
          </p:cNvPr>
          <p:cNvSpPr/>
          <p:nvPr/>
        </p:nvSpPr>
        <p:spPr>
          <a:xfrm>
            <a:off x="27035223" y="5118255"/>
            <a:ext cx="2067736" cy="371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234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Poster QR</a:t>
            </a:r>
            <a:endParaRPr lang="en-US" sz="1950" dirty="0"/>
          </a:p>
        </p:txBody>
      </p:sp>
      <p:sp>
        <p:nvSpPr>
          <p:cNvPr id="154" name="Text 136">
            <a:extLst>
              <a:ext uri="{FF2B5EF4-FFF2-40B4-BE49-F238E27FC236}">
                <a16:creationId xmlns:a16="http://schemas.microsoft.com/office/drawing/2014/main" id="{2678FC03-EA12-6374-DA5A-B06D4525E7B4}"/>
              </a:ext>
            </a:extLst>
          </p:cNvPr>
          <p:cNvSpPr/>
          <p:nvPr/>
        </p:nvSpPr>
        <p:spPr>
          <a:xfrm>
            <a:off x="26960959" y="5946576"/>
            <a:ext cx="2155814" cy="328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4D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Download this poster</a:t>
            </a:r>
            <a:endParaRPr lang="en-US" dirty="0"/>
          </a:p>
        </p:txBody>
      </p:sp>
      <p:sp>
        <p:nvSpPr>
          <p:cNvPr id="945" name="Figure caption"/>
          <p:cNvSpPr/>
          <p:nvPr/>
        </p:nvSpPr>
        <p:spPr>
          <a:xfrm>
            <a:off x="1047720" y="12216384"/>
            <a:ext cx="14081760" cy="329184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950" kern="0" spc="6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1  bcos2, the breast-cosmesis trial: what is recorded, and what comes back.</a:t>
            </a:r>
          </a:p>
        </p:txBody>
      </p:sp>
      <p:pic>
        <p:nvPicPr>
          <p:cNvPr id="946" name="Fig 1"/>
          <p:cNvPicPr>
            <a:picLocks noChangeAspect="1"/>
          </p:cNvPicPr>
          <p:nvPr/>
        </p:nvPicPr>
        <p:blipFill>
          <a:blip r:embed="rIdFig1"/>
          <a:stretch>
            <a:fillRect/>
          </a:stretch>
        </p:blipFill>
        <p:spPr>
          <a:xfrm>
            <a:off x="1047720" y="12600432"/>
            <a:ext cx="14081760" cy="2331720"/>
          </a:xfrm>
          <a:prstGeom prst="rect">
            <a:avLst/>
          </a:prstGeom>
        </p:spPr>
      </p:pic>
      <p:pic>
        <p:nvPicPr>
          <p:cNvPr id="947" name="Fig 2"/>
          <p:cNvPicPr>
            <a:picLocks noChangeAspect="1"/>
          </p:cNvPicPr>
          <p:nvPr/>
        </p:nvPicPr>
        <p:blipFill>
          <a:blip r:embed="rIdFig2"/>
          <a:stretch>
            <a:fillRect/>
          </a:stretch>
        </p:blipFill>
        <p:spPr>
          <a:xfrm>
            <a:off x="14564289" y="23792688"/>
            <a:ext cx="14666976" cy="4023360"/>
          </a:xfrm>
          <a:prstGeom prst="rect">
            <a:avLst/>
          </a:prstGeom>
        </p:spPr>
      </p:pic>
      <p:sp>
        <p:nvSpPr>
          <p:cNvPr id="948" name="Figure caption"/>
          <p:cNvSpPr/>
          <p:nvPr/>
        </p:nvSpPr>
        <p:spPr>
          <a:xfrm>
            <a:off x="1047720" y="35625024"/>
            <a:ext cx="22677120" cy="329184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950" kern="0" spc="6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3  The four basis families: psi_u(t), drawn with 8 knots for legibility.</a:t>
            </a:r>
          </a:p>
        </p:txBody>
      </p:sp>
      <p:pic>
        <p:nvPicPr>
          <p:cNvPr id="949" name="Fig 3"/>
          <p:cNvPicPr>
            <a:picLocks noChangeAspect="1"/>
          </p:cNvPicPr>
          <p:nvPr/>
        </p:nvPicPr>
        <p:blipFill>
          <a:blip r:embed="rIdFig3"/>
          <a:stretch>
            <a:fillRect/>
          </a:stretch>
        </p:blipFill>
        <p:spPr>
          <a:xfrm>
            <a:off x="1047720" y="36009072"/>
            <a:ext cx="22677120" cy="2148840"/>
          </a:xfrm>
          <a:prstGeom prst="rect">
            <a:avLst/>
          </a:prstGeom>
        </p:spPr>
      </p:pic>
      <p:sp>
        <p:nvSpPr>
          <p:cNvPr id="950" name="Code panel"/>
          <p:cNvSpPr/>
          <p:nvPr/>
        </p:nvSpPr>
        <p:spPr>
          <a:xfrm>
            <a:off x="1047720" y="28876752"/>
            <a:ext cx="12754600" cy="2249424"/>
          </a:xfrm>
          <a:prstGeom prst="rect">
            <a:avLst/>
          </a:prstGeom>
          <a:solidFill>
            <a:srgbClr val="F0F6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1" name="Code rule"/>
          <p:cNvSpPr/>
          <p:nvPr/>
        </p:nvSpPr>
        <p:spPr>
          <a:xfrm>
            <a:off x="1047720" y="28876752"/>
            <a:ext cx="114300" cy="2249424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2" name="Code label"/>
          <p:cNvSpPr/>
          <p:nvPr/>
        </p:nvSpPr>
        <p:spPr>
          <a:xfrm>
            <a:off x="1486632" y="29059632"/>
            <a:ext cx="10972800" cy="329184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1950" kern="0" spc="273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COMPLETE CALL</a:t>
            </a:r>
          </a:p>
        </p:txBody>
      </p:sp>
      <p:sp>
        <p:nvSpPr>
          <p:cNvPr id="953" name="Code body"/>
          <p:cNvSpPr/>
          <p:nvPr/>
        </p:nvSpPr>
        <p:spPr>
          <a:xfrm>
            <a:off x="1486632" y="29461968"/>
            <a:ext cx="12070080" cy="1554480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GB" sz="1800" kern="0" dirty="0">
                <a:solidFill>
                  <a:srgbClr val="1214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library(survivalMPL)</a:t>
            </a:r>
          </a:p>
          <a:p>
            <a:pPr marL="0" indent="0" algn="l">
              <a:lnSpc>
                <a:spcPct val="114000"/>
              </a:lnSpc>
              <a:buNone/>
            </a:pPr>
            <a:r>
              <a:rPr lang="en-GB" sz="1800" kern="0" dirty="0">
                <a:solidFill>
                  <a:srgbClr val="1214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fit &lt;- coxph_mpl(Surv(left, right, type = "interval2") ~ treatment,</a:t>
            </a:r>
          </a:p>
          <a:p>
            <a:pPr marL="0" indent="0" algn="l">
              <a:lnSpc>
                <a:spcPct val="114000"/>
              </a:lnSpc>
              <a:buNone/>
            </a:pPr>
            <a:r>
              <a:rPr lang="en-GB" sz="1800" kern="0" dirty="0">
                <a:solidFill>
                  <a:srgbClr val="1214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data = bcos2, basis = "msplines")</a:t>
            </a:r>
          </a:p>
          <a:p>
            <a:pPr marL="0" indent="0" algn="l">
              <a:lnSpc>
                <a:spcPct val="114000"/>
              </a:lnSpc>
              <a:buNone/>
            </a:pPr>
            <a:r>
              <a:rPr lang="en-GB" sz="180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summary(fit)   # coefficients, lambda, degrees of freedom</a:t>
            </a:r>
          </a:p>
          <a:p>
            <a:pPr marL="0" indent="0" algn="l">
              <a:lnSpc>
                <a:spcPct val="114000"/>
              </a:lnSpc>
              <a:buNone/>
            </a:pPr>
            <a:r>
              <a:rPr lang="en-GB" sz="1800" kern="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plot(fit)      # bases, hazard, cumulative hazard, survival</a:t>
            </a:r>
          </a:p>
        </p:txBody>
      </p:sp>
      <p:sp>
        <p:nvSpPr>
          <p:cNvPr id="954" name="Chip print"/>
          <p:cNvSpPr/>
          <p:nvPr/>
        </p:nvSpPr>
        <p:spPr>
          <a:xfrm>
            <a:off x="24498879" y="29851502"/>
            <a:ext cx="1676370" cy="561990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5" name="Chip print label"/>
          <p:cNvSpPr/>
          <p:nvPr/>
        </p:nvSpPr>
        <p:spPr>
          <a:xfrm>
            <a:off x="24689349" y="29946783"/>
            <a:ext cx="1371600" cy="409560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ctr">
              <a:buNone/>
            </a:pPr>
            <a:r>
              <a:rPr lang="en-GB" sz="2100" kern="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print()</a:t>
            </a:r>
          </a:p>
        </p:txBody>
      </p:sp>
      <p:sp>
        <p:nvSpPr>
          <p:cNvPr id="956" name="Repo URL"/>
          <p:cNvSpPr/>
          <p:nvPr/>
        </p:nvSpPr>
        <p:spPr>
          <a:xfrm>
            <a:off x="11155680" y="4224528"/>
            <a:ext cx="14630400" cy="475488"/>
          </a:xfrm>
          <a:prstGeom prst="rect">
            <a:avLst/>
          </a:prstGeom>
          <a:noFill/>
          <a:ln/>
        </p:spPr>
        <p:txBody>
          <a:bodyPr wrap="square" lIns="25420" tIns="25420" rIns="25420" bIns="25420" rtlCol="0" anchor="t">
            <a:normAutofit/>
          </a:bodyPr>
          <a:lstStyle/>
          <a:p>
            <a:pPr marL="0" indent="0" algn="l">
              <a:buNone/>
            </a:pPr>
            <a:r>
              <a:rPr lang="en-GB" sz="2400" kern="0" dirty="0">
                <a:solidFill>
                  <a:srgbClr val="B0C7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github.com/survivalMPL/survivalMPL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Custom</PresentationFormat>
  <Paragraphs>77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Archivo</vt:lpstr>
      <vt:lpstr>Arial</vt:lpstr>
      <vt:lpstr>IBM Plex Mono</vt:lpstr>
      <vt:lpstr>IBM Plex Sans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Mozgunov, Nikita</cp:lastModifiedBy>
  <cp:revision>5</cp:revision>
  <dcterms:created xsi:type="dcterms:W3CDTF">2026-08-12T21:51:48Z</dcterms:created>
  <dcterms:modified xsi:type="dcterms:W3CDTF">2026-09-09T21:23:07Z</dcterms:modified>
</cp:coreProperties>
</file>