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9975" cy="42805350"/>
  <p:notesSz cx="42805350" cy="302799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33" d="100"/>
          <a:sy n="33" d="100"/>
        </p:scale>
        <p:origin x="1716" y="-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7220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Single-slide version of the A0 poster: the problem, the four-stage architecture, the four basis families, the documentation site, and the adoption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79975" cy="42805350"/>
          </a:xfrm>
          <a:prstGeom prst="rect">
            <a:avLst/>
          </a:prstGeom>
          <a:solidFill>
            <a:srgbClr val="F7F4E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-62211" y="-19051"/>
            <a:ext cx="30279975" cy="7376220"/>
          </a:xfrm>
          <a:prstGeom prst="rect">
            <a:avLst/>
          </a:prstGeom>
          <a:solidFill>
            <a:srgbClr val="003A66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6" name="Text 4"/>
          <p:cNvSpPr/>
          <p:nvPr/>
        </p:nvSpPr>
        <p:spPr>
          <a:xfrm>
            <a:off x="1619250" y="456901"/>
            <a:ext cx="26993850" cy="3325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88178"/>
              </a:lnSpc>
              <a:buNone/>
            </a:pPr>
            <a:r>
              <a:rPr lang="en-GB" sz="9600" b="1" kern="0" spc="-325" dirty="0">
                <a:solidFill>
                  <a:srgbClr val="F0F6FC"/>
                </a:solidFill>
                <a:latin typeface="IBM Plex Sans" panose="020B0503050203000203" pitchFamily="34" charset="0"/>
                <a:ea typeface="Archivo" pitchFamily="34" charset="-122"/>
                <a:cs typeface="Archivo" pitchFamily="34" charset="-120"/>
              </a:rPr>
              <a:t>Penalised Maximum Likelihood for Interval-Censored Survival Data</a:t>
            </a:r>
            <a:endParaRPr lang="en-US" sz="9600" dirty="0">
              <a:latin typeface="IBM Plex Sans" panose="020B050305020300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85900" y="4048720"/>
            <a:ext cx="895367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5400" kern="0" spc="-48" dirty="0">
                <a:solidFill>
                  <a:srgbClr val="CFE0F2"/>
                </a:solidFill>
                <a:latin typeface="IBM Plex Sans" panose="020B0503050203000203" pitchFamily="34" charset="0"/>
                <a:ea typeface="Archivo" pitchFamily="34" charset="-122"/>
                <a:cs typeface="Archivo" pitchFamily="34" charset="-120"/>
              </a:rPr>
              <a:t>The </a:t>
            </a:r>
            <a:r>
              <a:rPr lang="en-US" sz="5400" b="1" kern="0" spc="-48" dirty="0">
                <a:solidFill>
                  <a:srgbClr val="CFE0F2"/>
                </a:solidFill>
                <a:latin typeface="IBM Plex Sans" panose="020B0503050203000203" pitchFamily="34" charset="0"/>
                <a:ea typeface="IBM Plex Mono" pitchFamily="34" charset="-122"/>
                <a:cs typeface="IBM Plex Mono" pitchFamily="34" charset="-120"/>
              </a:rPr>
              <a:t>survivalMPL</a:t>
            </a:r>
            <a:r>
              <a:rPr lang="en-US" sz="5400" kern="0" spc="-48" dirty="0">
                <a:solidFill>
                  <a:srgbClr val="CFE0F2"/>
                </a:solidFill>
                <a:latin typeface="IBM Plex Sans" panose="020B0503050203000203" pitchFamily="34" charset="0"/>
                <a:ea typeface="IBM Plex Mono" pitchFamily="34" charset="-122"/>
                <a:cs typeface="IBM Plex Mono" pitchFamily="34" charset="-120"/>
              </a:rPr>
              <a:t> </a:t>
            </a:r>
            <a:r>
              <a:rPr lang="en-US" sz="5400" kern="0" spc="-48" dirty="0">
                <a:solidFill>
                  <a:srgbClr val="CFE0F2"/>
                </a:solidFill>
                <a:latin typeface="IBM Plex Sans" panose="020B0503050203000203" pitchFamily="34" charset="0"/>
                <a:ea typeface="Archivo" pitchFamily="34" charset="-122"/>
                <a:cs typeface="Archivo" pitchFamily="34" charset="-120"/>
              </a:rPr>
              <a:t>R package</a:t>
            </a:r>
            <a:endParaRPr lang="en-US" sz="5400" dirty="0">
              <a:latin typeface="IBM Plex Sans" panose="020B050305020300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47750" y="5267920"/>
            <a:ext cx="28184475" cy="28575"/>
          </a:xfrm>
          <a:prstGeom prst="rect">
            <a:avLst/>
          </a:prstGeom>
          <a:solidFill>
            <a:srgbClr val="36618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47750" y="5677495"/>
            <a:ext cx="19628287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95455"/>
              </a:lnSpc>
            </a:pPr>
            <a:r>
              <a:rPr lang="en-US" sz="3150" b="1" dirty="0">
                <a:solidFill>
                  <a:srgbClr val="F0F6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N. Mozgunov</a:t>
            </a:r>
            <a:r>
              <a:rPr lang="en-US" sz="1733" b="1" baseline="66000" dirty="0">
                <a:solidFill>
                  <a:srgbClr val="F0F6FC"/>
                </a:solidFill>
                <a:latin typeface="IBM Plex Sans" pitchFamily="34" charset="0"/>
              </a:rPr>
              <a:t>1</a:t>
            </a:r>
            <a:r>
              <a:rPr lang="en-US" sz="3150" b="1" dirty="0">
                <a:solidFill>
                  <a:srgbClr val="F0F6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D.-L. Couturier</a:t>
            </a:r>
            <a:r>
              <a:rPr lang="en-US" sz="1733" b="1" baseline="66000" dirty="0">
                <a:solidFill>
                  <a:srgbClr val="F0F6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r>
              <a:rPr lang="en-US" sz="3150" b="1" dirty="0">
                <a:solidFill>
                  <a:srgbClr val="F0F6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J. Ma</a:t>
            </a:r>
            <a:r>
              <a:rPr lang="en-US" sz="1733" b="1" baseline="66000" dirty="0">
                <a:solidFill>
                  <a:srgbClr val="F0F6FC"/>
                </a:solidFill>
                <a:latin typeface="IBM Plex Sans" pitchFamily="34" charset="0"/>
              </a:rPr>
              <a:t>2</a:t>
            </a:r>
            <a:r>
              <a:rPr lang="en-US" sz="3150" b="1" dirty="0">
                <a:solidFill>
                  <a:srgbClr val="F0F6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S. Heritier</a:t>
            </a:r>
            <a:r>
              <a:rPr lang="en-US" sz="1733" b="1" baseline="66000" dirty="0">
                <a:solidFill>
                  <a:srgbClr val="F0F6FC"/>
                </a:solidFill>
                <a:latin typeface="IBM Plex Sans" pitchFamily="34" charset="0"/>
              </a:rPr>
              <a:t>3</a:t>
            </a:r>
            <a:r>
              <a:rPr lang="en-US" sz="3150" b="1" dirty="0">
                <a:solidFill>
                  <a:srgbClr val="F0F6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M. Manuguerra</a:t>
            </a:r>
            <a:r>
              <a:rPr lang="en-US" sz="1733" b="1" baseline="66000" dirty="0">
                <a:solidFill>
                  <a:srgbClr val="F0F6FC"/>
                </a:solidFill>
                <a:latin typeface="IBM Plex Sans" pitchFamily="34" charset="0"/>
              </a:rPr>
              <a:t>2</a:t>
            </a:r>
            <a:r>
              <a:rPr lang="en-US" sz="3150" b="1" dirty="0">
                <a:solidFill>
                  <a:srgbClr val="F0F6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S. Lo</a:t>
            </a:r>
            <a:r>
              <a:rPr lang="en-US" sz="1733" b="1" baseline="66000" dirty="0">
                <a:solidFill>
                  <a:srgbClr val="F0F6FC"/>
                </a:solidFill>
                <a:latin typeface="IBM Plex Sans" pitchFamily="34" charset="0"/>
              </a:rPr>
              <a:t>4</a:t>
            </a:r>
          </a:p>
        </p:txBody>
      </p:sp>
      <p:sp>
        <p:nvSpPr>
          <p:cNvPr id="11" name="Text 9"/>
          <p:cNvSpPr/>
          <p:nvPr/>
        </p:nvSpPr>
        <p:spPr>
          <a:xfrm>
            <a:off x="1047750" y="6291858"/>
            <a:ext cx="19628287" cy="512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2000" baseline="30000" dirty="0">
                <a:solidFill>
                  <a:srgbClr val="B0C7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</a:t>
            </a:r>
            <a:r>
              <a:rPr lang="en-US" sz="2400" dirty="0">
                <a:solidFill>
                  <a:srgbClr val="B0C7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MRC Biostatistics Unit, University of Cambridge · </a:t>
            </a:r>
            <a:r>
              <a:rPr lang="en-US" sz="2000" baseline="30000" dirty="0">
                <a:solidFill>
                  <a:srgbClr val="B0C7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</a:t>
            </a:r>
            <a:r>
              <a:rPr lang="en-US" sz="2400" dirty="0">
                <a:solidFill>
                  <a:srgbClr val="B0C7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Macquarie University · </a:t>
            </a:r>
            <a:r>
              <a:rPr lang="en-US" sz="2000" baseline="30000" dirty="0">
                <a:solidFill>
                  <a:srgbClr val="B0C7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</a:t>
            </a:r>
            <a:r>
              <a:rPr lang="en-US" sz="2400" dirty="0">
                <a:solidFill>
                  <a:srgbClr val="B0C7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Monash University · </a:t>
            </a:r>
            <a:r>
              <a:rPr lang="en-US" sz="2000" baseline="30000" dirty="0">
                <a:solidFill>
                  <a:srgbClr val="B0C7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</a:t>
            </a:r>
            <a:r>
              <a:rPr lang="en-US" sz="2400" dirty="0">
                <a:solidFill>
                  <a:srgbClr val="B0C7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Melanoma Institute Australia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47750" y="7966770"/>
            <a:ext cx="1558544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4476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PROBLEM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47750" y="8604945"/>
            <a:ext cx="14593644" cy="1275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6492"/>
              </a:lnSpc>
              <a:buNone/>
            </a:pPr>
            <a:r>
              <a:rPr lang="en-US" sz="4200" b="1" kern="0" spc="-84" dirty="0">
                <a:solidFill>
                  <a:srgbClr val="12141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Trials observe visits, not events. The event time is known only to lie between two assessments.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1047750" y="10128052"/>
            <a:ext cx="13244513" cy="2012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298"/>
              </a:lnSpc>
              <a:buNone/>
            </a:pPr>
            <a:r>
              <a:rPr lang="en-US" sz="2700" dirty="0">
                <a:solidFill>
                  <a:srgbClr val="3033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Most survival software handles this by discarding the interval or collapsing it to a single imputed time. </a:t>
            </a:r>
            <a:r>
              <a:rPr lang="en-US" sz="2700" b="1" dirty="0">
                <a:solidFill>
                  <a:srgbClr val="3033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survivalMPL </a:t>
            </a:r>
            <a:r>
              <a:rPr lang="en-US" sz="2700" dirty="0">
                <a:solidFill>
                  <a:srgbClr val="3033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fits a Cox proportional hazards model to right-, left- and interval-censored data in one framework, and returns a smooth, non-parametric estimate of the baseline hazard rather than a step function.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15978336" y="7966770"/>
            <a:ext cx="13253889" cy="6543675"/>
          </a:xfrm>
          <a:prstGeom prst="rect">
            <a:avLst/>
          </a:prstGeom>
          <a:solidFill>
            <a:srgbClr val="FDFCF9"/>
          </a:solidFill>
          <a:ln w="28575">
            <a:solidFill>
              <a:srgbClr val="D3D8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6445061" y="8395395"/>
            <a:ext cx="135524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606369"/>
                </a:solidFill>
                <a:highlight>
                  <a:srgbClr val="FFFF00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CENSORING SCHEMES SUPPORTED</a:t>
            </a:r>
            <a:endParaRPr lang="en-US" sz="1950" dirty="0">
              <a:highlight>
                <a:srgbClr val="FFFF00"/>
              </a:highlight>
            </a:endParaRPr>
          </a:p>
        </p:txBody>
      </p:sp>
      <p:sp>
        <p:nvSpPr>
          <p:cNvPr id="17" name="Text 15"/>
          <p:cNvSpPr/>
          <p:nvPr/>
        </p:nvSpPr>
        <p:spPr>
          <a:xfrm>
            <a:off x="16445061" y="9004995"/>
            <a:ext cx="1355248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Right censored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6445061" y="9786045"/>
            <a:ext cx="12320439" cy="47625"/>
          </a:xfrm>
          <a:prstGeom prst="rect">
            <a:avLst/>
          </a:prstGeom>
          <a:solidFill>
            <a:srgbClr val="CCD1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16445061" y="9786045"/>
            <a:ext cx="7638604" cy="47625"/>
          </a:xfrm>
          <a:prstGeom prst="rect">
            <a:avLst/>
          </a:prstGeom>
          <a:solidFill>
            <a:srgbClr val="0258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24083665" y="9633645"/>
            <a:ext cx="47625" cy="342900"/>
          </a:xfrm>
          <a:prstGeom prst="rect">
            <a:avLst/>
          </a:prstGeom>
          <a:solidFill>
            <a:srgbClr val="0258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23515104" y="9366945"/>
            <a:ext cx="135798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063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last seen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445061" y="10338495"/>
            <a:ext cx="1355248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Left censored</a:t>
            </a:r>
            <a:endParaRPr lang="en-US" sz="2550" dirty="0"/>
          </a:p>
        </p:txBody>
      </p:sp>
      <p:sp>
        <p:nvSpPr>
          <p:cNvPr id="24" name="Shape 22"/>
          <p:cNvSpPr/>
          <p:nvPr/>
        </p:nvSpPr>
        <p:spPr>
          <a:xfrm>
            <a:off x="16445061" y="11119545"/>
            <a:ext cx="12320439" cy="47625"/>
          </a:xfrm>
          <a:prstGeom prst="rect">
            <a:avLst/>
          </a:prstGeom>
          <a:solidFill>
            <a:srgbClr val="CCD1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16445061" y="11119545"/>
            <a:ext cx="3695998" cy="47625"/>
          </a:xfrm>
          <a:prstGeom prst="rect">
            <a:avLst/>
          </a:prstGeom>
          <a:solidFill>
            <a:srgbClr val="025894">
              <a:alpha val="3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20141059" y="10967145"/>
            <a:ext cx="47625" cy="342900"/>
          </a:xfrm>
          <a:prstGeom prst="rect">
            <a:avLst/>
          </a:prstGeom>
          <a:solidFill>
            <a:srgbClr val="0258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19100512" y="10700445"/>
            <a:ext cx="241408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063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already occurred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445061" y="11671995"/>
            <a:ext cx="1355248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9033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Interval censored</a:t>
            </a:r>
            <a:endParaRPr lang="en-US" sz="2550" dirty="0"/>
          </a:p>
        </p:txBody>
      </p:sp>
      <p:sp>
        <p:nvSpPr>
          <p:cNvPr id="29" name="Shape 27"/>
          <p:cNvSpPr/>
          <p:nvPr/>
        </p:nvSpPr>
        <p:spPr>
          <a:xfrm>
            <a:off x="16445061" y="12453045"/>
            <a:ext cx="12320439" cy="47625"/>
          </a:xfrm>
          <a:prstGeom prst="rect">
            <a:avLst/>
          </a:prstGeom>
          <a:solidFill>
            <a:srgbClr val="CCD1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20880288" y="12395895"/>
            <a:ext cx="4188916" cy="161925"/>
          </a:xfrm>
          <a:prstGeom prst="rect">
            <a:avLst/>
          </a:prstGeom>
          <a:solidFill>
            <a:srgbClr val="EB883B">
              <a:alpha val="4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20880288" y="12300645"/>
            <a:ext cx="47625" cy="342900"/>
          </a:xfrm>
          <a:prstGeom prst="rect">
            <a:avLst/>
          </a:prstGeom>
          <a:solidFill>
            <a:srgbClr val="9033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25069354" y="12300645"/>
            <a:ext cx="47625" cy="342900"/>
          </a:xfrm>
          <a:prstGeom prst="rect">
            <a:avLst/>
          </a:prstGeom>
          <a:solidFill>
            <a:srgbClr val="9033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20307552" y="11976795"/>
            <a:ext cx="10364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33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visit k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4471883" y="11973046"/>
            <a:ext cx="135798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033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visit k+1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6445061" y="13053119"/>
            <a:ext cx="1355248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Left truncated </a:t>
            </a:r>
            <a:endParaRPr lang="en-US" sz="2550" dirty="0"/>
          </a:p>
        </p:txBody>
      </p:sp>
      <p:sp>
        <p:nvSpPr>
          <p:cNvPr id="37" name="Shape 35"/>
          <p:cNvSpPr/>
          <p:nvPr/>
        </p:nvSpPr>
        <p:spPr>
          <a:xfrm>
            <a:off x="16445061" y="13891320"/>
            <a:ext cx="12320439" cy="47625"/>
          </a:xfrm>
          <a:prstGeom prst="rect">
            <a:avLst/>
          </a:prstGeom>
          <a:solidFill>
            <a:srgbClr val="CCD1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19155519" y="13891320"/>
            <a:ext cx="9609981" cy="47625"/>
          </a:xfrm>
          <a:prstGeom prst="rect">
            <a:avLst/>
          </a:prstGeom>
          <a:solidFill>
            <a:srgbClr val="0258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19155519" y="13738920"/>
            <a:ext cx="47625" cy="342900"/>
          </a:xfrm>
          <a:prstGeom prst="rect">
            <a:avLst/>
          </a:prstGeom>
          <a:solidFill>
            <a:srgbClr val="0258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18430518" y="13434120"/>
            <a:ext cx="19614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063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delayed entry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047750" y="15100995"/>
            <a:ext cx="28184475" cy="2322016"/>
          </a:xfrm>
          <a:prstGeom prst="rect">
            <a:avLst/>
          </a:prstGeom>
          <a:solidFill>
            <a:srgbClr val="003A6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8065294" y="15100995"/>
            <a:ext cx="28575" cy="2322016"/>
          </a:xfrm>
          <a:prstGeom prst="rect">
            <a:avLst/>
          </a:prstGeom>
          <a:solidFill>
            <a:srgbClr val="2456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1466850" y="15520095"/>
            <a:ext cx="6797278" cy="1049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2326"/>
              </a:lnSpc>
              <a:buNone/>
            </a:pPr>
            <a:r>
              <a:rPr lang="en-US" sz="8850" b="1" kern="0" spc="-354" dirty="0">
                <a:solidFill>
                  <a:srgbClr val="F0F6F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</a:t>
            </a:r>
            <a:endParaRPr lang="en-US" sz="8850" dirty="0"/>
          </a:p>
        </p:txBody>
      </p:sp>
      <p:sp>
        <p:nvSpPr>
          <p:cNvPr id="44" name="Text 42"/>
          <p:cNvSpPr/>
          <p:nvPr/>
        </p:nvSpPr>
        <p:spPr>
          <a:xfrm>
            <a:off x="1466850" y="16607730"/>
            <a:ext cx="6797278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48"/>
              </a:lnSpc>
              <a:buNone/>
            </a:pPr>
            <a:r>
              <a:rPr lang="en-US" sz="2400" dirty="0">
                <a:solidFill>
                  <a:srgbClr val="C2D3E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basis families for the baseline hazard</a:t>
            </a:r>
            <a:endParaRPr lang="en-US" sz="2400" dirty="0"/>
          </a:p>
        </p:txBody>
      </p:sp>
      <p:sp>
        <p:nvSpPr>
          <p:cNvPr id="45" name="Shape 43"/>
          <p:cNvSpPr/>
          <p:nvPr/>
        </p:nvSpPr>
        <p:spPr>
          <a:xfrm>
            <a:off x="15111413" y="15100995"/>
            <a:ext cx="28575" cy="2322016"/>
          </a:xfrm>
          <a:prstGeom prst="rect">
            <a:avLst/>
          </a:prstGeom>
          <a:solidFill>
            <a:srgbClr val="2456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8512969" y="15520095"/>
            <a:ext cx="6797278" cy="1049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2326"/>
              </a:lnSpc>
              <a:buNone/>
            </a:pPr>
            <a:r>
              <a:rPr lang="en-US" sz="8850" b="1" kern="0" spc="-354" dirty="0">
                <a:solidFill>
                  <a:srgbClr val="F0F6F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4</a:t>
            </a:r>
            <a:endParaRPr lang="en-US" sz="8850" dirty="0"/>
          </a:p>
        </p:txBody>
      </p:sp>
      <p:sp>
        <p:nvSpPr>
          <p:cNvPr id="47" name="Text 45"/>
          <p:cNvSpPr/>
          <p:nvPr/>
        </p:nvSpPr>
        <p:spPr>
          <a:xfrm>
            <a:off x="8512969" y="16607730"/>
            <a:ext cx="6797278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48"/>
              </a:lnSpc>
              <a:buNone/>
            </a:pPr>
            <a:r>
              <a:rPr lang="en-US" sz="2400" dirty="0">
                <a:solidFill>
                  <a:srgbClr val="C2D3E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censoring schemes, one unified likelihood</a:t>
            </a:r>
            <a:endParaRPr lang="en-US" sz="2400" dirty="0"/>
          </a:p>
        </p:txBody>
      </p:sp>
      <p:sp>
        <p:nvSpPr>
          <p:cNvPr id="48" name="Shape 46"/>
          <p:cNvSpPr/>
          <p:nvPr/>
        </p:nvSpPr>
        <p:spPr>
          <a:xfrm>
            <a:off x="22157531" y="15100995"/>
            <a:ext cx="28575" cy="2322016"/>
          </a:xfrm>
          <a:prstGeom prst="rect">
            <a:avLst/>
          </a:prstGeom>
          <a:solidFill>
            <a:srgbClr val="24568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15559088" y="15520095"/>
            <a:ext cx="6797278" cy="1049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2326"/>
              </a:lnSpc>
              <a:buNone/>
            </a:pPr>
            <a:r>
              <a:rPr lang="en-US" sz="8850" b="1" kern="0" spc="-354" dirty="0">
                <a:solidFill>
                  <a:srgbClr val="F0F6F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5</a:t>
            </a:r>
            <a:endParaRPr lang="en-US" sz="8850" dirty="0"/>
          </a:p>
        </p:txBody>
      </p:sp>
      <p:sp>
        <p:nvSpPr>
          <p:cNvPr id="50" name="Text 48"/>
          <p:cNvSpPr/>
          <p:nvPr/>
        </p:nvSpPr>
        <p:spPr>
          <a:xfrm>
            <a:off x="15559088" y="16607730"/>
            <a:ext cx="6797278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48"/>
              </a:lnSpc>
              <a:buNone/>
            </a:pPr>
            <a:r>
              <a:rPr lang="en-US" sz="2400" dirty="0">
                <a:solidFill>
                  <a:srgbClr val="C2D3E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S3 method families for post-processing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22605206" y="15520095"/>
            <a:ext cx="6828711" cy="1049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2326"/>
              </a:lnSpc>
              <a:buNone/>
            </a:pPr>
            <a:r>
              <a:rPr lang="en-US" sz="8850" b="1" kern="0" spc="-354" dirty="0">
                <a:solidFill>
                  <a:srgbClr val="F0F6FC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7</a:t>
            </a:r>
            <a:endParaRPr lang="en-US" sz="8850" dirty="0"/>
          </a:p>
        </p:txBody>
      </p:sp>
      <p:sp>
        <p:nvSpPr>
          <p:cNvPr id="52" name="Text 50"/>
          <p:cNvSpPr/>
          <p:nvPr/>
        </p:nvSpPr>
        <p:spPr>
          <a:xfrm>
            <a:off x="22605206" y="16607730"/>
            <a:ext cx="6828711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48"/>
              </a:lnSpc>
              <a:buNone/>
            </a:pPr>
            <a:r>
              <a:rPr lang="en-US" sz="2400" dirty="0">
                <a:solidFill>
                  <a:srgbClr val="C2D3E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worked tutorials on the new docs site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1047750" y="18013561"/>
            <a:ext cx="1403002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4476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ARCHITECTURE</a:t>
            </a:r>
            <a:endParaRPr lang="en-US" sz="2100" dirty="0"/>
          </a:p>
        </p:txBody>
      </p:sp>
      <p:sp>
        <p:nvSpPr>
          <p:cNvPr id="54" name="Text 52"/>
          <p:cNvSpPr/>
          <p:nvPr/>
        </p:nvSpPr>
        <p:spPr>
          <a:xfrm>
            <a:off x="1047750" y="18632686"/>
            <a:ext cx="14030027" cy="554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560"/>
              </a:lnSpc>
              <a:buNone/>
            </a:pPr>
            <a:r>
              <a:rPr lang="en-US" sz="3450" b="1" kern="0" spc="-69" dirty="0">
                <a:solidFill>
                  <a:srgbClr val="12141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Four separated stages, one stable user-facing API.</a:t>
            </a:r>
            <a:endParaRPr lang="en-US" sz="3450" dirty="0"/>
          </a:p>
        </p:txBody>
      </p:sp>
      <p:sp>
        <p:nvSpPr>
          <p:cNvPr id="55" name="Shape 53"/>
          <p:cNvSpPr/>
          <p:nvPr/>
        </p:nvSpPr>
        <p:spPr>
          <a:xfrm>
            <a:off x="1047750" y="19416266"/>
            <a:ext cx="12754570" cy="1285875"/>
          </a:xfrm>
          <a:prstGeom prst="rect">
            <a:avLst/>
          </a:prstGeom>
          <a:solidFill>
            <a:srgbClr val="FDFCF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1047750" y="20673566"/>
            <a:ext cx="12754570" cy="28575"/>
          </a:xfrm>
          <a:prstGeom prst="rect">
            <a:avLst/>
          </a:prstGeom>
          <a:solidFill>
            <a:srgbClr val="D3D8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1047750" y="19416266"/>
            <a:ext cx="12754570" cy="28575"/>
          </a:xfrm>
          <a:prstGeom prst="rect">
            <a:avLst/>
          </a:prstGeom>
          <a:solidFill>
            <a:srgbClr val="D3D8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1047750" y="19416266"/>
            <a:ext cx="114300" cy="1285875"/>
          </a:xfrm>
          <a:prstGeom prst="rect">
            <a:avLst/>
          </a:prstGeom>
          <a:solidFill>
            <a:srgbClr val="0258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Shape 57"/>
          <p:cNvSpPr/>
          <p:nvPr/>
        </p:nvSpPr>
        <p:spPr>
          <a:xfrm>
            <a:off x="13773745" y="19416266"/>
            <a:ext cx="28575" cy="1285875"/>
          </a:xfrm>
          <a:prstGeom prst="rect">
            <a:avLst/>
          </a:prstGeom>
          <a:solidFill>
            <a:srgbClr val="D3D8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58"/>
          <p:cNvSpPr/>
          <p:nvPr/>
        </p:nvSpPr>
        <p:spPr>
          <a:xfrm>
            <a:off x="1447800" y="19654391"/>
            <a:ext cx="1324421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specification</a:t>
            </a:r>
            <a:endParaRPr lang="en-US" sz="2700" dirty="0"/>
          </a:p>
        </p:txBody>
      </p:sp>
      <p:sp>
        <p:nvSpPr>
          <p:cNvPr id="61" name="Text 59"/>
          <p:cNvSpPr/>
          <p:nvPr/>
        </p:nvSpPr>
        <p:spPr>
          <a:xfrm>
            <a:off x="1447800" y="20140166"/>
            <a:ext cx="1324421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A5E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formula · response encoding</a:t>
            </a:r>
            <a:endParaRPr lang="en-US" sz="1950" dirty="0"/>
          </a:p>
        </p:txBody>
      </p:sp>
      <p:sp>
        <p:nvSpPr>
          <p:cNvPr id="62" name="Shape 60"/>
          <p:cNvSpPr/>
          <p:nvPr/>
        </p:nvSpPr>
        <p:spPr>
          <a:xfrm>
            <a:off x="1428750" y="20816441"/>
            <a:ext cx="47625" cy="190500"/>
          </a:xfrm>
          <a:prstGeom prst="rect">
            <a:avLst/>
          </a:prstGeom>
          <a:solidFill>
            <a:srgbClr val="B6BEC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1047750" y="21121241"/>
            <a:ext cx="12754570" cy="1285875"/>
          </a:xfrm>
          <a:prstGeom prst="rect">
            <a:avLst/>
          </a:prstGeom>
          <a:solidFill>
            <a:srgbClr val="FDFCF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1047750" y="22378541"/>
            <a:ext cx="12754570" cy="28575"/>
          </a:xfrm>
          <a:prstGeom prst="rect">
            <a:avLst/>
          </a:prstGeom>
          <a:solidFill>
            <a:srgbClr val="D3D8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1047750" y="21121241"/>
            <a:ext cx="12754570" cy="28575"/>
          </a:xfrm>
          <a:prstGeom prst="rect">
            <a:avLst/>
          </a:prstGeom>
          <a:solidFill>
            <a:srgbClr val="D3D8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6" name="Shape 64"/>
          <p:cNvSpPr/>
          <p:nvPr/>
        </p:nvSpPr>
        <p:spPr>
          <a:xfrm>
            <a:off x="1047750" y="21121241"/>
            <a:ext cx="114300" cy="1285875"/>
          </a:xfrm>
          <a:prstGeom prst="rect">
            <a:avLst/>
          </a:prstGeom>
          <a:solidFill>
            <a:srgbClr val="0258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7" name="Shape 65"/>
          <p:cNvSpPr/>
          <p:nvPr/>
        </p:nvSpPr>
        <p:spPr>
          <a:xfrm>
            <a:off x="13773745" y="21121241"/>
            <a:ext cx="28575" cy="1285875"/>
          </a:xfrm>
          <a:prstGeom prst="rect">
            <a:avLst/>
          </a:prstGeom>
          <a:solidFill>
            <a:srgbClr val="D3D8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8" name="Text 66"/>
          <p:cNvSpPr/>
          <p:nvPr/>
        </p:nvSpPr>
        <p:spPr>
          <a:xfrm>
            <a:off x="1447800" y="21359366"/>
            <a:ext cx="1324421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Estimation</a:t>
            </a:r>
            <a:endParaRPr lang="en-US" sz="2700" dirty="0"/>
          </a:p>
        </p:txBody>
      </p:sp>
      <p:sp>
        <p:nvSpPr>
          <p:cNvPr id="69" name="Text 67"/>
          <p:cNvSpPr/>
          <p:nvPr/>
        </p:nvSpPr>
        <p:spPr>
          <a:xfrm>
            <a:off x="1447800" y="21845141"/>
            <a:ext cx="1324421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A5E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penalised likelihood · non-negativity </a:t>
            </a:r>
            <a:r>
              <a:rPr lang="en-US" sz="1950" dirty="0">
                <a:solidFill>
                  <a:srgbClr val="5A5E63"/>
                </a:solidFill>
                <a:highlight>
                  <a:srgbClr val="FFFF00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REML</a:t>
            </a:r>
            <a:endParaRPr lang="en-US" sz="1950" dirty="0">
              <a:highlight>
                <a:srgbClr val="FFFF00"/>
              </a:highlight>
            </a:endParaRPr>
          </a:p>
        </p:txBody>
      </p:sp>
      <p:sp>
        <p:nvSpPr>
          <p:cNvPr id="70" name="Shape 68"/>
          <p:cNvSpPr/>
          <p:nvPr/>
        </p:nvSpPr>
        <p:spPr>
          <a:xfrm>
            <a:off x="1428750" y="22521416"/>
            <a:ext cx="47625" cy="190500"/>
          </a:xfrm>
          <a:prstGeom prst="rect">
            <a:avLst/>
          </a:prstGeom>
          <a:solidFill>
            <a:srgbClr val="B6BEC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1" name="Shape 69"/>
          <p:cNvSpPr/>
          <p:nvPr/>
        </p:nvSpPr>
        <p:spPr>
          <a:xfrm>
            <a:off x="1047750" y="22826216"/>
            <a:ext cx="12754570" cy="1285875"/>
          </a:xfrm>
          <a:prstGeom prst="rect">
            <a:avLst/>
          </a:prstGeom>
          <a:solidFill>
            <a:srgbClr val="FDFCF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2" name="Shape 70"/>
          <p:cNvSpPr/>
          <p:nvPr/>
        </p:nvSpPr>
        <p:spPr>
          <a:xfrm>
            <a:off x="1047750" y="24083516"/>
            <a:ext cx="12754570" cy="28575"/>
          </a:xfrm>
          <a:prstGeom prst="rect">
            <a:avLst/>
          </a:prstGeom>
          <a:solidFill>
            <a:srgbClr val="D3D8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3" name="Shape 71"/>
          <p:cNvSpPr/>
          <p:nvPr/>
        </p:nvSpPr>
        <p:spPr>
          <a:xfrm>
            <a:off x="1047750" y="22826216"/>
            <a:ext cx="12754570" cy="28575"/>
          </a:xfrm>
          <a:prstGeom prst="rect">
            <a:avLst/>
          </a:prstGeom>
          <a:solidFill>
            <a:srgbClr val="D3D8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4" name="Shape 72"/>
          <p:cNvSpPr/>
          <p:nvPr/>
        </p:nvSpPr>
        <p:spPr>
          <a:xfrm>
            <a:off x="1047750" y="22826216"/>
            <a:ext cx="114300" cy="1285875"/>
          </a:xfrm>
          <a:prstGeom prst="rect">
            <a:avLst/>
          </a:prstGeom>
          <a:solidFill>
            <a:srgbClr val="0258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5" name="Shape 73"/>
          <p:cNvSpPr/>
          <p:nvPr/>
        </p:nvSpPr>
        <p:spPr>
          <a:xfrm>
            <a:off x="13773745" y="22826216"/>
            <a:ext cx="28575" cy="1285875"/>
          </a:xfrm>
          <a:prstGeom prst="rect">
            <a:avLst/>
          </a:prstGeom>
          <a:solidFill>
            <a:srgbClr val="D3D8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6" name="Text 74"/>
          <p:cNvSpPr/>
          <p:nvPr/>
        </p:nvSpPr>
        <p:spPr>
          <a:xfrm>
            <a:off x="1447800" y="23064341"/>
            <a:ext cx="1324421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Inference</a:t>
            </a:r>
            <a:endParaRPr lang="en-US" sz="2700" dirty="0"/>
          </a:p>
        </p:txBody>
      </p:sp>
      <p:sp>
        <p:nvSpPr>
          <p:cNvPr id="77" name="Text 75"/>
          <p:cNvSpPr/>
          <p:nvPr/>
        </p:nvSpPr>
        <p:spPr>
          <a:xfrm>
            <a:off x="1447801" y="23550116"/>
            <a:ext cx="10687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A5E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coefficients · baseline hazard and survival bands</a:t>
            </a:r>
            <a:endParaRPr lang="en-US" sz="1950" dirty="0"/>
          </a:p>
        </p:txBody>
      </p:sp>
      <p:sp>
        <p:nvSpPr>
          <p:cNvPr id="78" name="Shape 76"/>
          <p:cNvSpPr/>
          <p:nvPr/>
        </p:nvSpPr>
        <p:spPr>
          <a:xfrm>
            <a:off x="1428750" y="24226391"/>
            <a:ext cx="47625" cy="190500"/>
          </a:xfrm>
          <a:prstGeom prst="rect">
            <a:avLst/>
          </a:prstGeom>
          <a:solidFill>
            <a:srgbClr val="B6BEC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9" name="Shape 77"/>
          <p:cNvSpPr/>
          <p:nvPr/>
        </p:nvSpPr>
        <p:spPr>
          <a:xfrm>
            <a:off x="1047750" y="24531191"/>
            <a:ext cx="12754570" cy="1285875"/>
          </a:xfrm>
          <a:prstGeom prst="rect">
            <a:avLst/>
          </a:prstGeom>
          <a:solidFill>
            <a:srgbClr val="FDFCF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0" name="Shape 78"/>
          <p:cNvSpPr/>
          <p:nvPr/>
        </p:nvSpPr>
        <p:spPr>
          <a:xfrm>
            <a:off x="1047750" y="25788491"/>
            <a:ext cx="12754570" cy="28575"/>
          </a:xfrm>
          <a:prstGeom prst="rect">
            <a:avLst/>
          </a:prstGeom>
          <a:solidFill>
            <a:srgbClr val="D3D8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1" name="Shape 79"/>
          <p:cNvSpPr/>
          <p:nvPr/>
        </p:nvSpPr>
        <p:spPr>
          <a:xfrm>
            <a:off x="1047750" y="24531191"/>
            <a:ext cx="12754570" cy="28575"/>
          </a:xfrm>
          <a:prstGeom prst="rect">
            <a:avLst/>
          </a:prstGeom>
          <a:solidFill>
            <a:srgbClr val="D3D8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2" name="Shape 80"/>
          <p:cNvSpPr/>
          <p:nvPr/>
        </p:nvSpPr>
        <p:spPr>
          <a:xfrm>
            <a:off x="1047750" y="24531191"/>
            <a:ext cx="114300" cy="1285875"/>
          </a:xfrm>
          <a:prstGeom prst="rect">
            <a:avLst/>
          </a:prstGeom>
          <a:solidFill>
            <a:srgbClr val="0258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3" name="Shape 81"/>
          <p:cNvSpPr/>
          <p:nvPr/>
        </p:nvSpPr>
        <p:spPr>
          <a:xfrm>
            <a:off x="13773745" y="24531191"/>
            <a:ext cx="28575" cy="1285875"/>
          </a:xfrm>
          <a:prstGeom prst="rect">
            <a:avLst/>
          </a:prstGeom>
          <a:solidFill>
            <a:srgbClr val="D3D8E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4" name="Text 82"/>
          <p:cNvSpPr/>
          <p:nvPr/>
        </p:nvSpPr>
        <p:spPr>
          <a:xfrm>
            <a:off x="1447800" y="24769316"/>
            <a:ext cx="13244215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Post-processing</a:t>
            </a:r>
            <a:endParaRPr lang="en-US" sz="2700" dirty="0"/>
          </a:p>
        </p:txBody>
      </p:sp>
      <p:sp>
        <p:nvSpPr>
          <p:cNvPr id="85" name="Text 83"/>
          <p:cNvSpPr/>
          <p:nvPr/>
        </p:nvSpPr>
        <p:spPr>
          <a:xfrm>
            <a:off x="1447800" y="25255091"/>
            <a:ext cx="1324421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A5E6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summary · predict · residuals · plot</a:t>
            </a:r>
            <a:endParaRPr lang="en-US" sz="1950" dirty="0"/>
          </a:p>
        </p:txBody>
      </p:sp>
      <p:sp>
        <p:nvSpPr>
          <p:cNvPr id="86" name="Shape 84"/>
          <p:cNvSpPr/>
          <p:nvPr/>
        </p:nvSpPr>
        <p:spPr>
          <a:xfrm>
            <a:off x="1047750" y="26083766"/>
            <a:ext cx="12754570" cy="2714030"/>
          </a:xfrm>
          <a:prstGeom prst="rect">
            <a:avLst/>
          </a:prstGeom>
          <a:solidFill>
            <a:srgbClr val="FCE6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7" name="Shape 85"/>
          <p:cNvSpPr/>
          <p:nvPr/>
        </p:nvSpPr>
        <p:spPr>
          <a:xfrm>
            <a:off x="1047750" y="26083766"/>
            <a:ext cx="114300" cy="2714030"/>
          </a:xfrm>
          <a:prstGeom prst="rect">
            <a:avLst/>
          </a:prstGeom>
          <a:solidFill>
            <a:srgbClr val="EB88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8" name="Text 86"/>
          <p:cNvSpPr/>
          <p:nvPr/>
        </p:nvSpPr>
        <p:spPr>
          <a:xfrm>
            <a:off x="1485900" y="26350466"/>
            <a:ext cx="1319182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9033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EXTENSION POINT</a:t>
            </a:r>
            <a:endParaRPr lang="en-US" sz="1950" dirty="0"/>
          </a:p>
        </p:txBody>
      </p:sp>
      <p:sp>
        <p:nvSpPr>
          <p:cNvPr id="89" name="Text 87"/>
          <p:cNvSpPr/>
          <p:nvPr/>
        </p:nvSpPr>
        <p:spPr>
          <a:xfrm>
            <a:off x="1485900" y="26769566"/>
            <a:ext cx="12352347" cy="1799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91"/>
              </a:lnSpc>
              <a:buNone/>
            </a:pPr>
            <a:r>
              <a:rPr lang="en-US" sz="2550" dirty="0">
                <a:solidFill>
                  <a:srgbClr val="121417"/>
                </a:solidFill>
                <a:highlight>
                  <a:srgbClr val="FFFF00"/>
                </a:highlight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basis registry means new basis families, penalty structures and censoring schemes plug in without touching </a:t>
            </a:r>
            <a:r>
              <a:rPr lang="en-US" sz="2550" dirty="0">
                <a:solidFill>
                  <a:srgbClr val="121417"/>
                </a:solidFill>
                <a:highlight>
                  <a:srgbClr val="FFFF00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coxph_mpl() </a:t>
            </a:r>
            <a:r>
              <a:rPr lang="en-US" sz="2550" dirty="0">
                <a:solidFill>
                  <a:srgbClr val="121417"/>
                </a:solidFill>
                <a:highlight>
                  <a:srgbClr val="FFFF00"/>
                </a:highlight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Targeted work on the numerical routines cut memory use substantially, with full numerical agreement against prior versions.</a:t>
            </a:r>
            <a:endParaRPr lang="en-US" sz="2550" dirty="0">
              <a:highlight>
                <a:srgbClr val="FFFF00"/>
              </a:highlight>
            </a:endParaRPr>
          </a:p>
        </p:txBody>
      </p:sp>
      <p:sp>
        <p:nvSpPr>
          <p:cNvPr id="90" name="Text 88"/>
          <p:cNvSpPr/>
          <p:nvPr/>
        </p:nvSpPr>
        <p:spPr>
          <a:xfrm>
            <a:off x="14564320" y="18013561"/>
            <a:ext cx="1613469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4476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BASELINE HAZARD BASES</a:t>
            </a:r>
            <a:endParaRPr lang="en-US" sz="2100" dirty="0"/>
          </a:p>
        </p:txBody>
      </p:sp>
      <p:sp>
        <p:nvSpPr>
          <p:cNvPr id="91" name="Text 89"/>
          <p:cNvSpPr/>
          <p:nvPr/>
        </p:nvSpPr>
        <p:spPr>
          <a:xfrm>
            <a:off x="14564320" y="18632686"/>
            <a:ext cx="16134695" cy="554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560"/>
              </a:lnSpc>
              <a:buNone/>
            </a:pPr>
            <a:r>
              <a:rPr lang="en-US" sz="3450" b="1" kern="0" spc="-69" dirty="0">
                <a:solidFill>
                  <a:srgbClr val="12141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The smooth baseline is the point </a:t>
            </a:r>
            <a:r>
              <a:rPr lang="en-US" sz="3450" b="1" kern="0" spc="-69" dirty="0">
                <a:solidFill>
                  <a:srgbClr val="121417"/>
                </a:solidFill>
                <a:highlight>
                  <a:srgbClr val="FFFF00"/>
                </a:highlight>
                <a:latin typeface="Archivo" pitchFamily="34" charset="0"/>
                <a:ea typeface="Archivo" pitchFamily="34" charset="-122"/>
                <a:cs typeface="Archivo" pitchFamily="34" charset="-120"/>
              </a:rPr>
              <a:t>— pick how it is represented.</a:t>
            </a:r>
            <a:endParaRPr lang="en-US" sz="3450" dirty="0">
              <a:highlight>
                <a:srgbClr val="FFFF00"/>
              </a:highlight>
            </a:endParaRPr>
          </a:p>
        </p:txBody>
      </p:sp>
      <p:sp>
        <p:nvSpPr>
          <p:cNvPr id="92" name="Shape 90"/>
          <p:cNvSpPr/>
          <p:nvPr/>
        </p:nvSpPr>
        <p:spPr>
          <a:xfrm>
            <a:off x="14564320" y="19416266"/>
            <a:ext cx="7257752" cy="1813322"/>
          </a:xfrm>
          <a:prstGeom prst="rect">
            <a:avLst/>
          </a:prstGeom>
          <a:solidFill>
            <a:srgbClr val="FDFCF9"/>
          </a:solidFill>
          <a:ln w="28575">
            <a:solidFill>
              <a:srgbClr val="D3D8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3" name="Text 91"/>
          <p:cNvSpPr/>
          <p:nvPr/>
        </p:nvSpPr>
        <p:spPr>
          <a:xfrm>
            <a:off x="14878645" y="19692491"/>
            <a:ext cx="729201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0258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uniform</a:t>
            </a:r>
            <a:endParaRPr lang="en-US" sz="2550" dirty="0"/>
          </a:p>
        </p:txBody>
      </p:sp>
      <p:sp>
        <p:nvSpPr>
          <p:cNvPr id="94" name="Text 92"/>
          <p:cNvSpPr/>
          <p:nvPr/>
        </p:nvSpPr>
        <p:spPr>
          <a:xfrm>
            <a:off x="14878645" y="20187791"/>
            <a:ext cx="6827975" cy="803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77"/>
              </a:lnSpc>
              <a:buNone/>
            </a:pPr>
            <a:r>
              <a:rPr lang="en-US" sz="2250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Piecewise-constant step functions. The only basis valid with delayed entry.</a:t>
            </a:r>
            <a:endParaRPr lang="en-US" sz="2250" dirty="0"/>
          </a:p>
        </p:txBody>
      </p:sp>
      <p:sp>
        <p:nvSpPr>
          <p:cNvPr id="95" name="Shape 93"/>
          <p:cNvSpPr/>
          <p:nvPr/>
        </p:nvSpPr>
        <p:spPr>
          <a:xfrm>
            <a:off x="21974473" y="19416266"/>
            <a:ext cx="7257752" cy="1813322"/>
          </a:xfrm>
          <a:prstGeom prst="rect">
            <a:avLst/>
          </a:prstGeom>
          <a:solidFill>
            <a:srgbClr val="FDFCF9"/>
          </a:solidFill>
          <a:ln w="28575">
            <a:solidFill>
              <a:srgbClr val="D3D8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6" name="Text 94"/>
          <p:cNvSpPr/>
          <p:nvPr/>
        </p:nvSpPr>
        <p:spPr>
          <a:xfrm>
            <a:off x="22288798" y="19692491"/>
            <a:ext cx="729201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0258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msplines</a:t>
            </a:r>
            <a:endParaRPr lang="en-US" sz="2550" dirty="0"/>
          </a:p>
        </p:txBody>
      </p:sp>
      <p:sp>
        <p:nvSpPr>
          <p:cNvPr id="97" name="Text 95"/>
          <p:cNvSpPr/>
          <p:nvPr/>
        </p:nvSpPr>
        <p:spPr>
          <a:xfrm>
            <a:off x="22288798" y="20187791"/>
            <a:ext cx="6827975" cy="803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77"/>
              </a:lnSpc>
              <a:buNone/>
            </a:pPr>
            <a:r>
              <a:rPr lang="en-US" sz="2250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Non-negative spline basis; the default choice for interval-censored fits.</a:t>
            </a:r>
            <a:endParaRPr lang="en-US" sz="2250" dirty="0"/>
          </a:p>
        </p:txBody>
      </p:sp>
      <p:sp>
        <p:nvSpPr>
          <p:cNvPr id="98" name="Shape 96"/>
          <p:cNvSpPr/>
          <p:nvPr/>
        </p:nvSpPr>
        <p:spPr>
          <a:xfrm>
            <a:off x="14564320" y="21381988"/>
            <a:ext cx="7257752" cy="1813322"/>
          </a:xfrm>
          <a:prstGeom prst="rect">
            <a:avLst/>
          </a:prstGeom>
          <a:solidFill>
            <a:srgbClr val="FDFCF9"/>
          </a:solidFill>
          <a:ln w="28575">
            <a:solidFill>
              <a:srgbClr val="D3D8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9" name="Text 97"/>
          <p:cNvSpPr/>
          <p:nvPr/>
        </p:nvSpPr>
        <p:spPr>
          <a:xfrm>
            <a:off x="14878645" y="21658213"/>
            <a:ext cx="729201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0258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gaussian</a:t>
            </a:r>
            <a:endParaRPr lang="en-US" sz="2550" dirty="0"/>
          </a:p>
        </p:txBody>
      </p:sp>
      <p:sp>
        <p:nvSpPr>
          <p:cNvPr id="100" name="Text 98"/>
          <p:cNvSpPr/>
          <p:nvPr/>
        </p:nvSpPr>
        <p:spPr>
          <a:xfrm>
            <a:off x="14878645" y="22153513"/>
            <a:ext cx="6827975" cy="803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77"/>
              </a:lnSpc>
              <a:buNone/>
            </a:pPr>
            <a:r>
              <a:rPr lang="en-US" sz="2250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Kernel basis giving a very smooth hazard over a wide time range.</a:t>
            </a:r>
            <a:endParaRPr lang="en-US" sz="2250" dirty="0"/>
          </a:p>
        </p:txBody>
      </p:sp>
      <p:sp>
        <p:nvSpPr>
          <p:cNvPr id="101" name="Shape 99"/>
          <p:cNvSpPr/>
          <p:nvPr/>
        </p:nvSpPr>
        <p:spPr>
          <a:xfrm>
            <a:off x="21974473" y="21381988"/>
            <a:ext cx="7257752" cy="1813322"/>
          </a:xfrm>
          <a:prstGeom prst="rect">
            <a:avLst/>
          </a:prstGeom>
          <a:solidFill>
            <a:srgbClr val="FDFCF9"/>
          </a:solidFill>
          <a:ln w="28575">
            <a:solidFill>
              <a:srgbClr val="D3D8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2" name="Text 100"/>
          <p:cNvSpPr/>
          <p:nvPr/>
        </p:nvSpPr>
        <p:spPr>
          <a:xfrm>
            <a:off x="22288798" y="21658213"/>
            <a:ext cx="729201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0258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epanechnikov</a:t>
            </a:r>
            <a:endParaRPr lang="en-US" sz="2550" dirty="0"/>
          </a:p>
        </p:txBody>
      </p:sp>
      <p:sp>
        <p:nvSpPr>
          <p:cNvPr id="103" name="Text 101"/>
          <p:cNvSpPr/>
          <p:nvPr/>
        </p:nvSpPr>
        <p:spPr>
          <a:xfrm>
            <a:off x="22288798" y="22153513"/>
            <a:ext cx="6827975" cy="803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077"/>
              </a:lnSpc>
              <a:buNone/>
            </a:pPr>
            <a:r>
              <a:rPr lang="en-US" sz="2250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Compact-support kernel; local by construction, cheap to evaluate.</a:t>
            </a:r>
            <a:endParaRPr lang="en-US" sz="2250" dirty="0"/>
          </a:p>
        </p:txBody>
      </p:sp>
      <p:sp>
        <p:nvSpPr>
          <p:cNvPr id="104" name="Text 102"/>
          <p:cNvSpPr/>
          <p:nvPr/>
        </p:nvSpPr>
        <p:spPr>
          <a:xfrm>
            <a:off x="18479095" y="25476101"/>
            <a:ext cx="1613469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063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 1 Estimated baseline hazard, four bases, bcos2</a:t>
            </a:r>
            <a:endParaRPr lang="en-US" sz="1950" dirty="0"/>
          </a:p>
        </p:txBody>
      </p:sp>
      <p:sp>
        <p:nvSpPr>
          <p:cNvPr id="105" name="Shape 103"/>
          <p:cNvSpPr/>
          <p:nvPr/>
        </p:nvSpPr>
        <p:spPr>
          <a:xfrm>
            <a:off x="14564320" y="27976860"/>
            <a:ext cx="14667905" cy="2750939"/>
          </a:xfrm>
          <a:prstGeom prst="rect">
            <a:avLst/>
          </a:prstGeom>
          <a:solidFill>
            <a:srgbClr val="FDFCF9"/>
          </a:solidFill>
          <a:ln w="28575">
            <a:solidFill>
              <a:srgbClr val="D3D8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6" name="Text 104"/>
          <p:cNvSpPr/>
          <p:nvPr/>
        </p:nvSpPr>
        <p:spPr>
          <a:xfrm>
            <a:off x="14916745" y="28291185"/>
            <a:ext cx="153593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273" dirty="0">
                <a:solidFill>
                  <a:srgbClr val="6063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SMOOTHING &amp; METHODS</a:t>
            </a:r>
            <a:endParaRPr lang="en-US" sz="1950" dirty="0"/>
          </a:p>
        </p:txBody>
      </p:sp>
      <p:sp>
        <p:nvSpPr>
          <p:cNvPr id="107" name="Text 105"/>
          <p:cNvSpPr/>
          <p:nvPr/>
        </p:nvSpPr>
        <p:spPr>
          <a:xfrm>
            <a:off x="14916745" y="28786485"/>
            <a:ext cx="14381946" cy="931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636"/>
              </a:lnSpc>
              <a:buNone/>
            </a:pPr>
            <a:r>
              <a:rPr lang="en-US" sz="2550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Smoothing is chosen by restricted maximum likelihood or fixed by the user. Non-negativity of the hazard is enforced during optimisation</a:t>
            </a:r>
            <a:r>
              <a:rPr lang="en-US" sz="2550" dirty="0">
                <a:solidFill>
                  <a:srgbClr val="121417"/>
                </a:solidFill>
                <a:highlight>
                  <a:srgbClr val="FFFF00"/>
                </a:highlight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not patched afterwards.</a:t>
            </a:r>
            <a:endParaRPr lang="en-US" sz="2550" dirty="0">
              <a:highlight>
                <a:srgbClr val="FFFF00"/>
              </a:highlight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14916745" y="29851499"/>
            <a:ext cx="1409700" cy="561975"/>
          </a:xfrm>
          <a:prstGeom prst="rect">
            <a:avLst/>
          </a:prstGeom>
          <a:solidFill>
            <a:srgbClr val="D9EA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9" name="Text 107"/>
          <p:cNvSpPr/>
          <p:nvPr/>
        </p:nvSpPr>
        <p:spPr>
          <a:xfrm>
            <a:off x="15107245" y="29946749"/>
            <a:ext cx="11049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003A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coef()</a:t>
            </a:r>
            <a:endParaRPr lang="en-US" sz="2250" dirty="0"/>
          </a:p>
        </p:txBody>
      </p:sp>
      <p:sp>
        <p:nvSpPr>
          <p:cNvPr id="110" name="Shape 108"/>
          <p:cNvSpPr/>
          <p:nvPr/>
        </p:nvSpPr>
        <p:spPr>
          <a:xfrm>
            <a:off x="16440745" y="29851499"/>
            <a:ext cx="1924050" cy="561975"/>
          </a:xfrm>
          <a:prstGeom prst="rect">
            <a:avLst/>
          </a:prstGeom>
          <a:solidFill>
            <a:srgbClr val="D9EA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1" name="Text 109"/>
          <p:cNvSpPr/>
          <p:nvPr/>
        </p:nvSpPr>
        <p:spPr>
          <a:xfrm>
            <a:off x="16631245" y="29946749"/>
            <a:ext cx="16192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003A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summary()</a:t>
            </a:r>
            <a:endParaRPr lang="en-US" sz="2250" dirty="0"/>
          </a:p>
        </p:txBody>
      </p:sp>
      <p:sp>
        <p:nvSpPr>
          <p:cNvPr id="112" name="Shape 110"/>
          <p:cNvSpPr/>
          <p:nvPr/>
        </p:nvSpPr>
        <p:spPr>
          <a:xfrm>
            <a:off x="18479095" y="29851499"/>
            <a:ext cx="1924050" cy="561975"/>
          </a:xfrm>
          <a:prstGeom prst="rect">
            <a:avLst/>
          </a:prstGeom>
          <a:solidFill>
            <a:srgbClr val="D9EA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3" name="Text 111"/>
          <p:cNvSpPr/>
          <p:nvPr/>
        </p:nvSpPr>
        <p:spPr>
          <a:xfrm>
            <a:off x="18669595" y="29946749"/>
            <a:ext cx="16192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003A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predict()</a:t>
            </a:r>
            <a:endParaRPr lang="en-US" sz="2250" dirty="0"/>
          </a:p>
        </p:txBody>
      </p:sp>
      <p:sp>
        <p:nvSpPr>
          <p:cNvPr id="114" name="Shape 112"/>
          <p:cNvSpPr/>
          <p:nvPr/>
        </p:nvSpPr>
        <p:spPr>
          <a:xfrm>
            <a:off x="20517445" y="29851499"/>
            <a:ext cx="2266950" cy="561975"/>
          </a:xfrm>
          <a:prstGeom prst="rect">
            <a:avLst/>
          </a:prstGeom>
          <a:solidFill>
            <a:srgbClr val="D9EA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5" name="Text 113"/>
          <p:cNvSpPr/>
          <p:nvPr/>
        </p:nvSpPr>
        <p:spPr>
          <a:xfrm>
            <a:off x="20707945" y="29946749"/>
            <a:ext cx="19621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003A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residuals()</a:t>
            </a:r>
            <a:endParaRPr lang="en-US" sz="2250" dirty="0"/>
          </a:p>
        </p:txBody>
      </p:sp>
      <p:sp>
        <p:nvSpPr>
          <p:cNvPr id="116" name="Shape 114"/>
          <p:cNvSpPr/>
          <p:nvPr/>
        </p:nvSpPr>
        <p:spPr>
          <a:xfrm>
            <a:off x="22898695" y="29851499"/>
            <a:ext cx="1409700" cy="561975"/>
          </a:xfrm>
          <a:prstGeom prst="rect">
            <a:avLst/>
          </a:prstGeom>
          <a:solidFill>
            <a:srgbClr val="D9EA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7" name="Text 115"/>
          <p:cNvSpPr/>
          <p:nvPr/>
        </p:nvSpPr>
        <p:spPr>
          <a:xfrm>
            <a:off x="23089195" y="29946749"/>
            <a:ext cx="11049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003A6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plot()</a:t>
            </a:r>
            <a:endParaRPr lang="en-US" sz="2250" dirty="0"/>
          </a:p>
        </p:txBody>
      </p:sp>
      <p:sp>
        <p:nvSpPr>
          <p:cNvPr id="118" name="Text 116"/>
          <p:cNvSpPr/>
          <p:nvPr/>
        </p:nvSpPr>
        <p:spPr>
          <a:xfrm>
            <a:off x="1047750" y="31318349"/>
            <a:ext cx="1809889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78" dirty="0">
                <a:solidFill>
                  <a:srgbClr val="4476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DOCUMENTATION &amp; REPRODUCIBILITY</a:t>
            </a:r>
            <a:endParaRPr lang="en-US" sz="2100" dirty="0"/>
          </a:p>
        </p:txBody>
      </p:sp>
      <p:sp>
        <p:nvSpPr>
          <p:cNvPr id="119" name="Text 117"/>
          <p:cNvSpPr/>
          <p:nvPr/>
        </p:nvSpPr>
        <p:spPr>
          <a:xfrm>
            <a:off x="1047750" y="31937474"/>
            <a:ext cx="18098899" cy="554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8560"/>
              </a:lnSpc>
              <a:buNone/>
            </a:pPr>
            <a:r>
              <a:rPr lang="en-US" sz="3450" b="1" kern="0" spc="-69" dirty="0">
                <a:solidFill>
                  <a:srgbClr val="121417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 pkgdown site with a worked example for every observation scheme.</a:t>
            </a:r>
            <a:endParaRPr lang="en-US" sz="3450" dirty="0"/>
          </a:p>
        </p:txBody>
      </p:sp>
      <p:sp>
        <p:nvSpPr>
          <p:cNvPr id="120" name="Shape 118"/>
          <p:cNvSpPr/>
          <p:nvPr/>
        </p:nvSpPr>
        <p:spPr>
          <a:xfrm>
            <a:off x="1047750" y="32854404"/>
            <a:ext cx="152400" cy="152400"/>
          </a:xfrm>
          <a:prstGeom prst="rect">
            <a:avLst/>
          </a:prstGeom>
          <a:solidFill>
            <a:srgbClr val="0258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1" name="Text 119"/>
          <p:cNvSpPr/>
          <p:nvPr/>
        </p:nvSpPr>
        <p:spPr>
          <a:xfrm>
            <a:off x="1371600" y="32721054"/>
            <a:ext cx="3831327" cy="45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455"/>
              </a:lnSpc>
              <a:buNone/>
            </a:pPr>
            <a:r>
              <a:rPr lang="en-US" sz="2550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Getting-started vignette</a:t>
            </a:r>
            <a:endParaRPr lang="en-US" sz="2550" dirty="0"/>
          </a:p>
        </p:txBody>
      </p:sp>
      <p:sp>
        <p:nvSpPr>
          <p:cNvPr id="122" name="Shape 120"/>
          <p:cNvSpPr/>
          <p:nvPr/>
        </p:nvSpPr>
        <p:spPr>
          <a:xfrm>
            <a:off x="9465022" y="32854404"/>
            <a:ext cx="152400" cy="152400"/>
          </a:xfrm>
          <a:prstGeom prst="rect">
            <a:avLst/>
          </a:prstGeom>
          <a:solidFill>
            <a:srgbClr val="0258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3" name="Text 121"/>
          <p:cNvSpPr/>
          <p:nvPr/>
        </p:nvSpPr>
        <p:spPr>
          <a:xfrm>
            <a:off x="9788872" y="32721054"/>
            <a:ext cx="4573756" cy="45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455"/>
              </a:lnSpc>
              <a:buNone/>
            </a:pPr>
            <a:r>
              <a:rPr lang="en-US" sz="2550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Right, left, interval censoring</a:t>
            </a:r>
            <a:endParaRPr lang="en-US" sz="2550" dirty="0"/>
          </a:p>
        </p:txBody>
      </p:sp>
      <p:sp>
        <p:nvSpPr>
          <p:cNvPr id="124" name="Shape 122"/>
          <p:cNvSpPr/>
          <p:nvPr/>
        </p:nvSpPr>
        <p:spPr>
          <a:xfrm>
            <a:off x="1047750" y="33408640"/>
            <a:ext cx="152400" cy="152400"/>
          </a:xfrm>
          <a:prstGeom prst="rect">
            <a:avLst/>
          </a:prstGeom>
          <a:solidFill>
            <a:srgbClr val="0258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5" name="Text 123"/>
          <p:cNvSpPr/>
          <p:nvPr/>
        </p:nvSpPr>
        <p:spPr>
          <a:xfrm>
            <a:off x="1371600" y="33275290"/>
            <a:ext cx="5190455" cy="45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455"/>
              </a:lnSpc>
              <a:buNone/>
            </a:pPr>
            <a:r>
              <a:rPr lang="en-US" sz="2550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Left truncation, profile likelihood</a:t>
            </a:r>
            <a:endParaRPr lang="en-US" sz="2550" dirty="0"/>
          </a:p>
        </p:txBody>
      </p:sp>
      <p:sp>
        <p:nvSpPr>
          <p:cNvPr id="126" name="Shape 124"/>
          <p:cNvSpPr/>
          <p:nvPr/>
        </p:nvSpPr>
        <p:spPr>
          <a:xfrm>
            <a:off x="9465022" y="33408640"/>
            <a:ext cx="152400" cy="152400"/>
          </a:xfrm>
          <a:prstGeom prst="rect">
            <a:avLst/>
          </a:prstGeom>
          <a:solidFill>
            <a:srgbClr val="0258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7" name="Text 125"/>
          <p:cNvSpPr/>
          <p:nvPr/>
        </p:nvSpPr>
        <p:spPr>
          <a:xfrm>
            <a:off x="9788872" y="33275290"/>
            <a:ext cx="2822540" cy="45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455"/>
              </a:lnSpc>
              <a:buNone/>
            </a:pPr>
            <a:r>
              <a:rPr lang="en-US" sz="2550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Basis comparison</a:t>
            </a:r>
            <a:endParaRPr lang="en-US" sz="2550" dirty="0"/>
          </a:p>
        </p:txBody>
      </p:sp>
      <p:sp>
        <p:nvSpPr>
          <p:cNvPr id="128" name="Shape 126"/>
          <p:cNvSpPr/>
          <p:nvPr/>
        </p:nvSpPr>
        <p:spPr>
          <a:xfrm>
            <a:off x="1047750" y="33962876"/>
            <a:ext cx="152400" cy="152400"/>
          </a:xfrm>
          <a:prstGeom prst="rect">
            <a:avLst/>
          </a:prstGeom>
          <a:solidFill>
            <a:srgbClr val="0258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9" name="Text 127"/>
          <p:cNvSpPr/>
          <p:nvPr/>
        </p:nvSpPr>
        <p:spPr>
          <a:xfrm>
            <a:off x="1371600" y="33829526"/>
            <a:ext cx="3733755" cy="45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455"/>
              </a:lnSpc>
              <a:buNone/>
            </a:pPr>
            <a:r>
              <a:rPr lang="en-US" sz="2550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coxph() vs coxph_mpl()</a:t>
            </a:r>
            <a:endParaRPr lang="en-US" sz="2550" dirty="0"/>
          </a:p>
        </p:txBody>
      </p:sp>
      <p:sp>
        <p:nvSpPr>
          <p:cNvPr id="130" name="Shape 128"/>
          <p:cNvSpPr/>
          <p:nvPr/>
        </p:nvSpPr>
        <p:spPr>
          <a:xfrm>
            <a:off x="9465022" y="33962876"/>
            <a:ext cx="152400" cy="152400"/>
          </a:xfrm>
          <a:prstGeom prst="rect">
            <a:avLst/>
          </a:prstGeom>
          <a:solidFill>
            <a:srgbClr val="02589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1" name="Text 129"/>
          <p:cNvSpPr/>
          <p:nvPr/>
        </p:nvSpPr>
        <p:spPr>
          <a:xfrm>
            <a:off x="9788872" y="33829526"/>
            <a:ext cx="5547345" cy="45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455"/>
              </a:lnSpc>
              <a:buNone/>
            </a:pPr>
            <a:r>
              <a:rPr lang="en-US" sz="2550" dirty="0">
                <a:solidFill>
                  <a:srgbClr val="12141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Searchable, cross-linked reference</a:t>
            </a:r>
            <a:endParaRPr lang="en-US" sz="2550" dirty="0"/>
          </a:p>
        </p:txBody>
      </p:sp>
      <p:sp>
        <p:nvSpPr>
          <p:cNvPr id="132" name="Text 130"/>
          <p:cNvSpPr/>
          <p:nvPr/>
        </p:nvSpPr>
        <p:spPr>
          <a:xfrm>
            <a:off x="1047750" y="34517112"/>
            <a:ext cx="16947151" cy="1011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766"/>
              </a:lnSpc>
              <a:buNone/>
            </a:pPr>
            <a:r>
              <a:rPr lang="en-US" sz="2700" dirty="0">
                <a:solidFill>
                  <a:srgbClr val="303338"/>
                </a:solidFill>
                <a:highlight>
                  <a:srgbClr val="FFFF00"/>
                </a:highlight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real datasets ship with the package — </a:t>
            </a:r>
            <a:r>
              <a:rPr lang="en-US" sz="2700" dirty="0">
                <a:solidFill>
                  <a:srgbClr val="303338"/>
                </a:solidFill>
                <a:highlight>
                  <a:srgbClr val="FFFF00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bcos2 </a:t>
            </a:r>
            <a:r>
              <a:rPr lang="en-US" sz="2700" dirty="0">
                <a:solidFill>
                  <a:srgbClr val="303338"/>
                </a:solidFill>
                <a:highlight>
                  <a:srgbClr val="FFFF00"/>
                </a:highlight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(interval-censored breast cosmesis), </a:t>
            </a:r>
            <a:r>
              <a:rPr lang="en-US" sz="2700" dirty="0">
                <a:solidFill>
                  <a:srgbClr val="303338"/>
                </a:solidFill>
                <a:highlight>
                  <a:srgbClr val="FFFF00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melanoma </a:t>
            </a:r>
            <a:r>
              <a:rPr lang="en-US" sz="2700" dirty="0">
                <a:solidFill>
                  <a:srgbClr val="303338"/>
                </a:solidFill>
                <a:highlight>
                  <a:srgbClr val="FFFF00"/>
                </a:highlight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</a:t>
            </a:r>
            <a:r>
              <a:rPr lang="en-US" sz="2700" dirty="0">
                <a:solidFill>
                  <a:srgbClr val="303338"/>
                </a:solidFill>
                <a:highlight>
                  <a:srgbClr val="FFFF00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hiroshima </a:t>
            </a:r>
            <a:r>
              <a:rPr lang="en-US" sz="2700" dirty="0">
                <a:solidFill>
                  <a:srgbClr val="303338"/>
                </a:solidFill>
                <a:highlight>
                  <a:srgbClr val="FFFF00"/>
                </a:highlight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(86,611 subjects, delayed entry) — so every example on the site runs as written.</a:t>
            </a:r>
            <a:endParaRPr lang="en-US" sz="2700" dirty="0">
              <a:highlight>
                <a:srgbClr val="FFFF00"/>
              </a:highlight>
            </a:endParaRPr>
          </a:p>
        </p:txBody>
      </p:sp>
      <p:sp>
        <p:nvSpPr>
          <p:cNvPr id="136" name="Shape 134"/>
          <p:cNvSpPr/>
          <p:nvPr/>
        </p:nvSpPr>
        <p:spPr>
          <a:xfrm>
            <a:off x="23900160" y="31318349"/>
            <a:ext cx="5332065" cy="4524375"/>
          </a:xfrm>
          <a:prstGeom prst="rect">
            <a:avLst/>
          </a:prstGeom>
          <a:solidFill>
            <a:srgbClr val="FDFCF9"/>
          </a:solidFill>
          <a:ln w="28575">
            <a:solidFill>
              <a:srgbClr val="D3D8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7" name="Text 135"/>
          <p:cNvSpPr/>
          <p:nvPr/>
        </p:nvSpPr>
        <p:spPr>
          <a:xfrm>
            <a:off x="26171426" y="31632674"/>
            <a:ext cx="78953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kern="0" spc="234" dirty="0">
                <a:solidFill>
                  <a:srgbClr val="0258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CRAN</a:t>
            </a:r>
            <a:endParaRPr lang="en-US" sz="1950" dirty="0"/>
          </a:p>
        </p:txBody>
      </p:sp>
      <p:sp>
        <p:nvSpPr>
          <p:cNvPr id="138" name="Text 136"/>
          <p:cNvSpPr/>
          <p:nvPr/>
        </p:nvSpPr>
        <p:spPr>
          <a:xfrm>
            <a:off x="24357166" y="35156924"/>
            <a:ext cx="441790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50" dirty="0">
                <a:solidFill>
                  <a:srgbClr val="4A4D5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install.packages("survivalMPL")</a:t>
            </a:r>
            <a:endParaRPr lang="en-US" sz="2250" dirty="0"/>
          </a:p>
        </p:txBody>
      </p:sp>
      <p:sp>
        <p:nvSpPr>
          <p:cNvPr id="139" name="Shape 137"/>
          <p:cNvSpPr/>
          <p:nvPr/>
        </p:nvSpPr>
        <p:spPr>
          <a:xfrm>
            <a:off x="1047750" y="38233350"/>
            <a:ext cx="28184475" cy="2171700"/>
          </a:xfrm>
          <a:prstGeom prst="rect">
            <a:avLst/>
          </a:prstGeom>
          <a:solidFill>
            <a:srgbClr val="FCE6D9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140" name="Shape 138"/>
          <p:cNvSpPr/>
          <p:nvPr/>
        </p:nvSpPr>
        <p:spPr>
          <a:xfrm>
            <a:off x="1047750" y="38233350"/>
            <a:ext cx="28184475" cy="114300"/>
          </a:xfrm>
          <a:prstGeom prst="rect">
            <a:avLst/>
          </a:prstGeom>
          <a:solidFill>
            <a:srgbClr val="EB88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1" name="Text 139"/>
          <p:cNvSpPr/>
          <p:nvPr/>
        </p:nvSpPr>
        <p:spPr>
          <a:xfrm>
            <a:off x="1619250" y="38900100"/>
            <a:ext cx="292283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36" dirty="0">
                <a:solidFill>
                  <a:srgbClr val="9033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IT MATTERS</a:t>
            </a:r>
            <a:endParaRPr lang="en-US" sz="2100" dirty="0"/>
          </a:p>
        </p:txBody>
      </p:sp>
      <p:sp>
        <p:nvSpPr>
          <p:cNvPr id="142" name="Text 140"/>
          <p:cNvSpPr/>
          <p:nvPr/>
        </p:nvSpPr>
        <p:spPr>
          <a:xfrm>
            <a:off x="5028456" y="38804850"/>
            <a:ext cx="2434123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091"/>
              </a:lnSpc>
              <a:buNone/>
            </a:pPr>
            <a:r>
              <a:rPr lang="en-US" sz="3750" b="1" kern="0" spc="-75" dirty="0">
                <a:solidFill>
                  <a:srgbClr val="121417"/>
                </a:solidFill>
                <a:highlight>
                  <a:srgbClr val="FFFF00"/>
                </a:highlight>
                <a:latin typeface="Archivo" pitchFamily="34" charset="0"/>
                <a:ea typeface="Archivo" pitchFamily="34" charset="-122"/>
                <a:cs typeface="Archivo" pitchFamily="34" charset="-120"/>
              </a:rPr>
              <a:t>Rigorous penalised likelihood, openly documented, so trialists stop discarding the censoring mechanism they actually observed.</a:t>
            </a:r>
            <a:endParaRPr lang="en-US" sz="3750" dirty="0">
              <a:highlight>
                <a:srgbClr val="FFFF00"/>
              </a:highlight>
            </a:endParaRPr>
          </a:p>
        </p:txBody>
      </p:sp>
      <p:sp>
        <p:nvSpPr>
          <p:cNvPr id="143" name="Text 141"/>
          <p:cNvSpPr/>
          <p:nvPr/>
        </p:nvSpPr>
        <p:spPr>
          <a:xfrm>
            <a:off x="1047750" y="40824150"/>
            <a:ext cx="22778569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255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 J., Héritier S., Lo S. N. (2014). On the maximum penalized likelihood approach for proportional hazard models with right censored survival data. </a:t>
            </a:r>
            <a:r>
              <a:rPr lang="en-US" sz="1950" i="1" dirty="0">
                <a:solidFill>
                  <a:srgbClr val="5255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Computational Statistics &amp; Data Analysis </a:t>
            </a:r>
            <a:r>
              <a:rPr lang="en-US" sz="1950" dirty="0">
                <a:solidFill>
                  <a:srgbClr val="5255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74, 142–156.</a:t>
            </a:r>
            <a:endParaRPr lang="en-US" sz="1950" dirty="0"/>
          </a:p>
        </p:txBody>
      </p:sp>
      <p:sp>
        <p:nvSpPr>
          <p:cNvPr id="144" name="Text 142"/>
          <p:cNvSpPr/>
          <p:nvPr/>
        </p:nvSpPr>
        <p:spPr>
          <a:xfrm>
            <a:off x="1047750" y="41548050"/>
            <a:ext cx="2432662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255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 J., Webb A., Hudson H. M. (2024). </a:t>
            </a:r>
            <a:r>
              <a:rPr lang="en-US" sz="1950" i="1" dirty="0">
                <a:solidFill>
                  <a:srgbClr val="5255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Likelihood Methods in Survival Analysis: With R Examples. </a:t>
            </a:r>
            <a:r>
              <a:rPr lang="en-US" sz="1950" dirty="0">
                <a:solidFill>
                  <a:srgbClr val="5255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Chapman and Hall/CRC, Boca Raton.</a:t>
            </a:r>
            <a:endParaRPr lang="en-US" sz="1950" dirty="0"/>
          </a:p>
        </p:txBody>
      </p:sp>
      <p:sp>
        <p:nvSpPr>
          <p:cNvPr id="145" name="Text 143"/>
          <p:cNvSpPr/>
          <p:nvPr/>
        </p:nvSpPr>
        <p:spPr>
          <a:xfrm>
            <a:off x="1047750" y="41948100"/>
            <a:ext cx="2432662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255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Bhaskaran A., Liquet B., Ma J. Maximum profile likelihood for Cox models under left truncation and right censoring. Macquarie University.</a:t>
            </a:r>
            <a:endParaRPr lang="en-US" sz="1950" dirty="0"/>
          </a:p>
        </p:txBody>
      </p:sp>
      <p:sp>
        <p:nvSpPr>
          <p:cNvPr id="146" name="Text 144"/>
          <p:cNvSpPr/>
          <p:nvPr/>
        </p:nvSpPr>
        <p:spPr>
          <a:xfrm>
            <a:off x="23184579" y="41548050"/>
            <a:ext cx="604764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003A6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nikita.mozgunov@mrc-bsu.cam.ac.uk</a:t>
            </a:r>
            <a:endParaRPr lang="en-US" sz="1950" dirty="0"/>
          </a:p>
        </p:txBody>
      </p:sp>
      <p:sp>
        <p:nvSpPr>
          <p:cNvPr id="147" name="Text 145"/>
          <p:cNvSpPr/>
          <p:nvPr/>
        </p:nvSpPr>
        <p:spPr>
          <a:xfrm>
            <a:off x="23184579" y="41948100"/>
            <a:ext cx="604764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52555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ICTMC 2026 · Birmingham</a:t>
            </a:r>
            <a:endParaRPr lang="en-US" sz="1950" dirty="0"/>
          </a:p>
        </p:txBody>
      </p:sp>
      <p:sp>
        <p:nvSpPr>
          <p:cNvPr id="150" name="Shape 134">
            <a:extLst>
              <a:ext uri="{FF2B5EF4-FFF2-40B4-BE49-F238E27FC236}">
                <a16:creationId xmlns:a16="http://schemas.microsoft.com/office/drawing/2014/main" id="{68EF7D2B-90D7-37FD-F7EA-53279D3163D4}"/>
              </a:ext>
            </a:extLst>
          </p:cNvPr>
          <p:cNvSpPr/>
          <p:nvPr/>
        </p:nvSpPr>
        <p:spPr>
          <a:xfrm>
            <a:off x="26960959" y="4115268"/>
            <a:ext cx="2189797" cy="2183493"/>
          </a:xfrm>
          <a:prstGeom prst="rect">
            <a:avLst/>
          </a:prstGeom>
          <a:solidFill>
            <a:srgbClr val="FDFCF9"/>
          </a:solidFill>
          <a:ln w="28575">
            <a:solidFill>
              <a:srgbClr val="D3D8E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2" name="Text 135">
            <a:extLst>
              <a:ext uri="{FF2B5EF4-FFF2-40B4-BE49-F238E27FC236}">
                <a16:creationId xmlns:a16="http://schemas.microsoft.com/office/drawing/2014/main" id="{FB3FD416-FA85-9FF6-50C2-7C6107604A98}"/>
              </a:ext>
            </a:extLst>
          </p:cNvPr>
          <p:cNvSpPr/>
          <p:nvPr/>
        </p:nvSpPr>
        <p:spPr>
          <a:xfrm>
            <a:off x="27035223" y="5118255"/>
            <a:ext cx="2067736" cy="371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kern="0" spc="234" dirty="0">
                <a:solidFill>
                  <a:srgbClr val="02589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Poster QR</a:t>
            </a:r>
            <a:endParaRPr lang="en-US" sz="1950" dirty="0"/>
          </a:p>
        </p:txBody>
      </p:sp>
      <p:sp>
        <p:nvSpPr>
          <p:cNvPr id="154" name="Text 136">
            <a:extLst>
              <a:ext uri="{FF2B5EF4-FFF2-40B4-BE49-F238E27FC236}">
                <a16:creationId xmlns:a16="http://schemas.microsoft.com/office/drawing/2014/main" id="{2678FC03-EA12-6374-DA5A-B06D4525E7B4}"/>
              </a:ext>
            </a:extLst>
          </p:cNvPr>
          <p:cNvSpPr/>
          <p:nvPr/>
        </p:nvSpPr>
        <p:spPr>
          <a:xfrm>
            <a:off x="26960959" y="5946576"/>
            <a:ext cx="2155814" cy="328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4A4D5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Download this poster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630</Words>
  <Application>Microsoft Office PowerPoint</Application>
  <PresentationFormat>Custom</PresentationFormat>
  <Paragraphs>77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Archivo</vt:lpstr>
      <vt:lpstr>Arial</vt:lpstr>
      <vt:lpstr>IBM Plex Mono</vt:lpstr>
      <vt:lpstr>IBM Plex Sans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Mozgunov, Nikita</cp:lastModifiedBy>
  <cp:revision>5</cp:revision>
  <dcterms:created xsi:type="dcterms:W3CDTF">2026-08-12T21:51:48Z</dcterms:created>
  <dcterms:modified xsi:type="dcterms:W3CDTF">2026-09-09T21:23:07Z</dcterms:modified>
</cp:coreProperties>
</file>