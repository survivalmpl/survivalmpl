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83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27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390" y="548640"/>
            <a:ext cx="0" cy="173737"/>
          </a:xfrm>
          <a:prstGeom prst="line">
            <a:avLst/>
          </a:prstGeom>
          <a:noFill/>
          <a:ln w="20320">
            <a:solidFill>
              <a:srgbClr val="3A6E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080760" y="1417320"/>
            <a:ext cx="0" cy="393192"/>
          </a:xfrm>
          <a:prstGeom prst="line">
            <a:avLst/>
          </a:prstGeom>
          <a:noFill/>
          <a:ln w="20320">
            <a:solidFill>
              <a:srgbClr val="3A6E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095390" y="4096512"/>
            <a:ext cx="0" cy="164592"/>
          </a:xfrm>
          <a:prstGeom prst="line">
            <a:avLst/>
          </a:prstGeom>
          <a:noFill/>
          <a:ln w="17780">
            <a:solidFill>
              <a:srgbClr val="3A6EA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834640" y="4261104"/>
            <a:ext cx="5779008" cy="0"/>
          </a:xfrm>
          <a:prstGeom prst="line">
            <a:avLst/>
          </a:prstGeom>
          <a:noFill/>
          <a:ln w="17780">
            <a:solidFill>
              <a:srgbClr val="3A6EA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834640" y="4261104"/>
            <a:ext cx="0" cy="146304"/>
          </a:xfrm>
          <a:prstGeom prst="line">
            <a:avLst/>
          </a:prstGeom>
          <a:noFill/>
          <a:ln w="17780">
            <a:solidFill>
              <a:srgbClr val="3A6E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613648" y="4261104"/>
            <a:ext cx="0" cy="146304"/>
          </a:xfrm>
          <a:prstGeom prst="line">
            <a:avLst/>
          </a:prstGeom>
          <a:noFill/>
          <a:ln w="17780">
            <a:solidFill>
              <a:srgbClr val="3A6E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915668" y="30953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5E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CALL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164592"/>
            <a:ext cx="3776472" cy="384048"/>
          </a:xfrm>
          <a:prstGeom prst="roundRect">
            <a:avLst>
              <a:gd name="adj" fmla="val 19048"/>
            </a:avLst>
          </a:prstGeom>
          <a:solidFill>
            <a:srgbClr val="EAF4FB"/>
          </a:solidFill>
          <a:ln w="15240">
            <a:solidFill>
              <a:srgbClr val="8EB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355400" y="218693"/>
            <a:ext cx="3436041" cy="284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2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coxph_mpl(..., basis = "m")</a:t>
            </a:r>
            <a:endParaRPr lang="en-US" sz="125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A7642EA-5AD7-1F74-7074-953659B5A649}"/>
              </a:ext>
            </a:extLst>
          </p:cNvPr>
          <p:cNvGrpSpPr/>
          <p:nvPr/>
        </p:nvGrpSpPr>
        <p:grpSpPr>
          <a:xfrm>
            <a:off x="2513838" y="722377"/>
            <a:ext cx="7048119" cy="749807"/>
            <a:chOff x="448056" y="704088"/>
            <a:chExt cx="11548872" cy="713232"/>
          </a:xfrm>
        </p:grpSpPr>
        <p:sp>
          <p:nvSpPr>
            <p:cNvPr id="11" name="Shape 9"/>
            <p:cNvSpPr/>
            <p:nvPr/>
          </p:nvSpPr>
          <p:spPr>
            <a:xfrm>
              <a:off x="448056" y="704088"/>
              <a:ext cx="11548872" cy="713232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5240">
              <a:solidFill>
                <a:srgbClr val="CAD6E2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Shape 10"/>
            <p:cNvSpPr/>
            <p:nvPr/>
          </p:nvSpPr>
          <p:spPr>
            <a:xfrm>
              <a:off x="448056" y="704088"/>
              <a:ext cx="11548872" cy="292608"/>
            </a:xfrm>
            <a:prstGeom prst="rect">
              <a:avLst/>
            </a:prstGeom>
            <a:solidFill>
              <a:srgbClr val="12355B"/>
            </a:solidFill>
            <a:ln w="12700">
              <a:solidFill>
                <a:srgbClr val="12355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3" name="Text 11"/>
          <p:cNvSpPr/>
          <p:nvPr/>
        </p:nvSpPr>
        <p:spPr>
          <a:xfrm>
            <a:off x="576072" y="731520"/>
            <a:ext cx="11292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control.R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1003" y="1060470"/>
            <a:ext cx="5330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resolve_basis_name("m")</a:t>
            </a:r>
            <a:r>
              <a:rPr lang="en-US" sz="1200" dirty="0">
                <a:solidFill>
                  <a:srgbClr val="2A7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"msplines"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defaults from registry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810512"/>
            <a:ext cx="1154887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CAD6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20040" y="1810512"/>
            <a:ext cx="11548872" cy="292608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48056" y="1837944"/>
            <a:ext cx="11292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basis.R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28032" y="18562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DEA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REGISTRY + DISPATCHERS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194559"/>
            <a:ext cx="5532120" cy="1847089"/>
          </a:xfrm>
          <a:prstGeom prst="roundRect">
            <a:avLst>
              <a:gd name="adj" fmla="val 5195"/>
            </a:avLst>
          </a:prstGeom>
          <a:solidFill>
            <a:srgbClr val="F2F6FA"/>
          </a:solidFill>
          <a:ln w="1524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48640" y="2194560"/>
            <a:ext cx="5532120" cy="219456"/>
          </a:xfrm>
          <a:prstGeom prst="rect">
            <a:avLst/>
          </a:prstGeom>
          <a:solidFill>
            <a:srgbClr val="E9F1F7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13232" y="224028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.basis_registry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2459736"/>
            <a:ext cx="5120640" cy="1517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2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"m","mspline","msplines"   →  { knots_fn, matrix_fn, penalty_fn, label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"u","unif","uniform"       →  { ...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"g","gauss","gaussian"     →  { ...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"e","epa","epanechnikov"  →  { ...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"b","bs","bsplines"       →  { ... }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450591"/>
            <a:ext cx="4747260" cy="1527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get_basis(name)        →  entry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compute_knots()        →  entry$knots_fn()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compute_basis_matrix() →  entry$matrix_fn()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compute_penalty()      →  entry$penalty_fn()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basis_label()          →  entry$label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19672" y="2167126"/>
            <a:ext cx="3393948" cy="24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i="1" dirty="0">
                <a:solidFill>
                  <a:srgbClr val="5E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registry entry supplies the full basis-specific behavior.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320040" y="4407408"/>
            <a:ext cx="521208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5240">
            <a:solidFill>
              <a:srgbClr val="CAD6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20040" y="4407408"/>
            <a:ext cx="5212080" cy="292608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48056" y="4434840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coxph.R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755648" y="44531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DEA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FITTING ENGINE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7512" y="478231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compute_knots()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compute_basis_matrix()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compute_penalty()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5303520"/>
            <a:ext cx="5029200" cy="128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E73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optim-helpers.R:  </a:t>
            </a:r>
            <a:r>
              <a:rPr lang="en-US" sz="970" dirty="0" err="1">
                <a:solidFill>
                  <a:srgbClr val="5E73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compute_loglik</a:t>
            </a:r>
            <a:r>
              <a:rPr lang="en-US" sz="970" dirty="0">
                <a:solidFill>
                  <a:srgbClr val="5E73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etc.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5833872" y="4407408"/>
            <a:ext cx="603504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5240">
            <a:solidFill>
              <a:srgbClr val="CAD6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5833872" y="4407408"/>
            <a:ext cx="6035040" cy="292608"/>
          </a:xfrm>
          <a:prstGeom prst="rect">
            <a:avLst/>
          </a:prstGeom>
          <a:solidFill>
            <a:srgbClr val="2A7F98"/>
          </a:solidFill>
          <a:ln w="12700">
            <a:solidFill>
              <a:srgbClr val="2A7F9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5961888" y="4434840"/>
            <a:ext cx="5779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S3 METHODS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144768" y="4756405"/>
            <a:ext cx="5440680" cy="576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plot.R</a:t>
            </a:r>
            <a:r>
              <a:rPr lang="en-US" sz="1200" b="1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</a:p>
          <a:p>
            <a:pPr marL="0" indent="0">
              <a:buNone/>
            </a:pPr>
            <a:r>
              <a:rPr lang="en-US" sz="1200" b="1" dirty="0" err="1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summary.R</a:t>
            </a:r>
            <a:r>
              <a:rPr lang="en-US" sz="1200" b="1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</a:p>
          <a:p>
            <a:pPr marL="0" indent="0">
              <a:buNone/>
            </a:pPr>
            <a:r>
              <a:rPr lang="en-US" sz="1200" b="1" dirty="0" err="1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print.R</a:t>
            </a:r>
            <a:endParaRPr lang="en-US" sz="1200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5521052-A2CD-4B85-0278-9DE51F536D75}"/>
              </a:ext>
            </a:extLst>
          </p:cNvPr>
          <p:cNvGrpSpPr/>
          <p:nvPr/>
        </p:nvGrpSpPr>
        <p:grpSpPr>
          <a:xfrm>
            <a:off x="3189731" y="5602224"/>
            <a:ext cx="5288281" cy="1097280"/>
            <a:chOff x="320040" y="5596128"/>
            <a:chExt cx="11548872" cy="1261872"/>
          </a:xfrm>
        </p:grpSpPr>
        <p:sp>
          <p:nvSpPr>
            <p:cNvPr id="37" name="Shape 35"/>
            <p:cNvSpPr/>
            <p:nvPr/>
          </p:nvSpPr>
          <p:spPr>
            <a:xfrm>
              <a:off x="320040" y="5596128"/>
              <a:ext cx="11548872" cy="1261872"/>
            </a:xfrm>
            <a:prstGeom prst="roundRect">
              <a:avLst>
                <a:gd name="adj" fmla="val 7767"/>
              </a:avLst>
            </a:prstGeom>
            <a:solidFill>
              <a:srgbClr val="FFFFFF"/>
            </a:solidFill>
            <a:ln w="15240">
              <a:solidFill>
                <a:srgbClr val="CAD6E2"/>
              </a:solidFill>
              <a:prstDash val="solid"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320040" y="5596128"/>
              <a:ext cx="11548872" cy="292608"/>
            </a:xfrm>
            <a:prstGeom prst="rect">
              <a:avLst/>
            </a:prstGeom>
            <a:solidFill>
              <a:srgbClr val="3E8E7E"/>
            </a:solidFill>
            <a:ln w="12700">
              <a:solidFill>
                <a:srgbClr val="3E8E7E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9" name="Text 37"/>
          <p:cNvSpPr/>
          <p:nvPr/>
        </p:nvSpPr>
        <p:spPr>
          <a:xfrm>
            <a:off x="3314700" y="5648896"/>
            <a:ext cx="5134355" cy="146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SELF-REGISTERING BASIS FILES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491483" y="5913120"/>
            <a:ext cx="1392937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basis-uniform.R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basis-</a:t>
            </a:r>
            <a:r>
              <a:rPr lang="en-US" sz="1010" dirty="0" err="1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gaussian.R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basis-</a:t>
            </a:r>
            <a:r>
              <a:rPr lang="en-US" sz="1010" dirty="0" err="1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msplines.R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basis-</a:t>
            </a:r>
            <a:r>
              <a:rPr lang="en-US" sz="1010" dirty="0" err="1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epanechnikov.R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basis-</a:t>
            </a:r>
            <a:r>
              <a:rPr lang="en-US" sz="1010" dirty="0" err="1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bsplines.R</a:t>
            </a:r>
            <a:endParaRPr lang="en-US" sz="1010" dirty="0"/>
          </a:p>
        </p:txBody>
      </p:sp>
      <p:sp>
        <p:nvSpPr>
          <p:cNvPr id="42" name="Text 40"/>
          <p:cNvSpPr/>
          <p:nvPr/>
        </p:nvSpPr>
        <p:spPr>
          <a:xfrm>
            <a:off x="5265421" y="5914644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file defines 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91328" y="6017067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knots_fn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03520" y="612343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matrix_fn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286754" y="6228778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penalty_fn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250179" y="6370318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then calls 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286754" y="6501384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register_basis()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187438" y="6490716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at load time.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234683" y="6105079"/>
            <a:ext cx="2214372" cy="460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i="1" dirty="0">
                <a:solidFill>
                  <a:srgbClr val="3E8E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 new basis = add one new file.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Microsoft Office PowerPoint</Application>
  <PresentationFormat>Widescreen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Courier New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Basis architecture and dispatch flow</dc:title>
  <dc:subject>Basis architecture flow</dc:subject>
  <dc:creator>OpenAI</dc:creator>
  <cp:lastModifiedBy>Nikita Mozgunov</cp:lastModifiedBy>
  <cp:revision>3</cp:revision>
  <dcterms:created xsi:type="dcterms:W3CDTF">2026-03-02T19:14:58Z</dcterms:created>
  <dcterms:modified xsi:type="dcterms:W3CDTF">2026-03-02T19:29:48Z</dcterms:modified>
</cp:coreProperties>
</file>