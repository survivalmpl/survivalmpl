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6" r:id="rId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14" y="-45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-38" y="-24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E9F301-EED9-4118-AEA8-C38BB04FC35C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4BAC82-EB5F-4402-96C7-E6939EA730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0711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4BAC82-EB5F-4402-96C7-E6939EA730E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416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600" b="1" dirty="0">
                <a:solidFill>
                  <a:srgbClr val="FFFFFF"/>
                </a:solidFill>
              </a:rPr>
              <a:t>Left Truncation</a:t>
            </a:r>
            <a:endParaRPr sz="2600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600" y="1115568"/>
            <a:ext cx="539496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143000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FFFFFF"/>
                </a:solidFill>
              </a:rPr>
              <a:t>Research Prototype (</a:t>
            </a:r>
            <a:r>
              <a:rPr b="1" dirty="0" err="1">
                <a:solidFill>
                  <a:srgbClr val="FFFFFF"/>
                </a:solidFill>
              </a:rPr>
              <a:t>LTRC_codes</a:t>
            </a:r>
            <a:r>
              <a:rPr b="1" dirty="0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00200"/>
            <a:ext cx="5394960" cy="841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dirty="0">
                <a:solidFill>
                  <a:srgbClr val="333333"/>
                </a:solidFill>
              </a:rPr>
              <a:t>Code from a left-truncation paper</a:t>
            </a:r>
            <a:r>
              <a:rPr lang="en-GB" sz="1400" dirty="0">
                <a:solidFill>
                  <a:srgbClr val="333333"/>
                </a:solidFill>
              </a:rPr>
              <a:t>:</a:t>
            </a:r>
            <a:endParaRPr sz="140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lang="en-GB" sz="1400" dirty="0">
                <a:solidFill>
                  <a:srgbClr val="333333"/>
                </a:solidFill>
              </a:rPr>
              <a:t>	</a:t>
            </a:r>
            <a:r>
              <a:rPr sz="1400" dirty="0">
                <a:solidFill>
                  <a:srgbClr val="333333"/>
                </a:solidFill>
              </a:rPr>
              <a:t>• Generates LTRC data (Weibull / log-logistic)</a:t>
            </a:r>
          </a:p>
          <a:p>
            <a:pPr>
              <a:spcBef>
                <a:spcPts val="400"/>
              </a:spcBef>
            </a:pPr>
            <a:r>
              <a:rPr lang="en-GB" sz="1400" dirty="0">
                <a:solidFill>
                  <a:srgbClr val="333333"/>
                </a:solidFill>
              </a:rPr>
              <a:t>	</a:t>
            </a:r>
            <a:r>
              <a:rPr sz="1400" dirty="0">
                <a:solidFill>
                  <a:srgbClr val="333333"/>
                </a:solidFill>
              </a:rPr>
              <a:t>• Fits a piecewise-exponential Cox model 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2432312"/>
            <a:ext cx="539496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7180" y="2459744"/>
            <a:ext cx="5280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 err="1">
                <a:solidFill>
                  <a:srgbClr val="FFFFFF"/>
                </a:solidFill>
              </a:rPr>
              <a:t>survivalMPL</a:t>
            </a:r>
            <a:r>
              <a:rPr b="1" dirty="0">
                <a:solidFill>
                  <a:srgbClr val="FFFFFF"/>
                </a:solidFill>
              </a:rPr>
              <a:t> Package (current)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955072"/>
            <a:ext cx="55778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1400" b="1" dirty="0">
                <a:solidFill>
                  <a:srgbClr val="333333"/>
                </a:solidFill>
              </a:rPr>
              <a:t># Right-censored </a:t>
            </a:r>
            <a:br>
              <a:rPr lang="en-GB" sz="1400" dirty="0">
                <a:solidFill>
                  <a:srgbClr val="333333"/>
                </a:solidFill>
              </a:rPr>
            </a:br>
            <a:r>
              <a:rPr lang="en-GB" sz="1400" dirty="0" err="1">
                <a:solidFill>
                  <a:srgbClr val="333333"/>
                </a:solidFill>
                <a:latin typeface="Consolas" panose="020B0609020204030204" pitchFamily="49" charset="0"/>
              </a:rPr>
              <a:t>coxph_mpl</a:t>
            </a:r>
            <a:r>
              <a:rPr lang="en-GB" sz="1400" dirty="0">
                <a:solidFill>
                  <a:srgbClr val="333333"/>
                </a:solidFill>
                <a:latin typeface="Consolas" panose="020B0609020204030204" pitchFamily="49" charset="0"/>
              </a:rPr>
              <a:t>(</a:t>
            </a:r>
            <a:r>
              <a:rPr lang="en-GB" sz="1400" dirty="0" err="1">
                <a:solidFill>
                  <a:srgbClr val="333333"/>
                </a:solidFill>
                <a:latin typeface="Consolas" panose="020B0609020204030204" pitchFamily="49" charset="0"/>
              </a:rPr>
              <a:t>Surv</a:t>
            </a:r>
            <a:r>
              <a:rPr lang="en-GB" sz="1400" dirty="0">
                <a:solidFill>
                  <a:srgbClr val="333333"/>
                </a:solidFill>
                <a:latin typeface="Consolas" panose="020B0609020204030204" pitchFamily="49" charset="0"/>
              </a:rPr>
              <a:t>(time, event) ~ x1 + x2, data = </a:t>
            </a:r>
            <a:r>
              <a:rPr lang="en-GB" sz="1400" dirty="0" err="1">
                <a:solidFill>
                  <a:srgbClr val="333333"/>
                </a:solidFill>
                <a:latin typeface="Consolas" panose="020B0609020204030204" pitchFamily="49" charset="0"/>
              </a:rPr>
              <a:t>df</a:t>
            </a:r>
            <a:r>
              <a:rPr lang="en-GB" sz="1400" dirty="0">
                <a:solidFill>
                  <a:srgbClr val="333333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n-GB" sz="1400" b="1" dirty="0">
                <a:solidFill>
                  <a:srgbClr val="333333"/>
                </a:solidFill>
                <a:latin typeface="Consolas" panose="020B0609020204030204" pitchFamily="49" charset="0"/>
              </a:rPr>
              <a:t># Interval </a:t>
            </a:r>
            <a:br>
              <a:rPr lang="en-GB" sz="1400" dirty="0">
                <a:solidFill>
                  <a:srgbClr val="333333"/>
                </a:solidFill>
                <a:latin typeface="Consolas" panose="020B0609020204030204" pitchFamily="49" charset="0"/>
              </a:rPr>
            </a:br>
            <a:r>
              <a:rPr lang="en-GB" sz="1400" dirty="0" err="1">
                <a:solidFill>
                  <a:srgbClr val="333333"/>
                </a:solidFill>
                <a:latin typeface="Consolas" panose="020B0609020204030204" pitchFamily="49" charset="0"/>
              </a:rPr>
              <a:t>coxph_mpl</a:t>
            </a:r>
            <a:r>
              <a:rPr lang="en-GB" sz="1400" dirty="0">
                <a:solidFill>
                  <a:srgbClr val="333333"/>
                </a:solidFill>
                <a:latin typeface="Consolas" panose="020B0609020204030204" pitchFamily="49" charset="0"/>
              </a:rPr>
              <a:t>(</a:t>
            </a:r>
            <a:r>
              <a:rPr lang="en-GB" sz="1400" dirty="0" err="1">
                <a:solidFill>
                  <a:srgbClr val="333333"/>
                </a:solidFill>
                <a:latin typeface="Consolas" panose="020B0609020204030204" pitchFamily="49" charset="0"/>
              </a:rPr>
              <a:t>Surv</a:t>
            </a:r>
            <a:r>
              <a:rPr lang="en-GB" sz="1400" dirty="0">
                <a:solidFill>
                  <a:srgbClr val="333333"/>
                </a:solidFill>
                <a:latin typeface="Consolas" panose="020B0609020204030204" pitchFamily="49" charset="0"/>
              </a:rPr>
              <a:t>(left, right, type = "interval2")</a:t>
            </a:r>
            <a:br>
              <a:rPr lang="en-GB" sz="1400" dirty="0">
                <a:solidFill>
                  <a:srgbClr val="333333"/>
                </a:solidFill>
                <a:latin typeface="Consolas" panose="020B0609020204030204" pitchFamily="49" charset="0"/>
              </a:rPr>
            </a:br>
            <a:r>
              <a:rPr lang="en-GB" sz="1400" dirty="0">
                <a:solidFill>
                  <a:srgbClr val="333333"/>
                </a:solidFill>
                <a:latin typeface="Consolas" panose="020B0609020204030204" pitchFamily="49" charset="0"/>
              </a:rPr>
              <a:t>			~ x1 + x2, data = </a:t>
            </a:r>
            <a:r>
              <a:rPr lang="en-GB" sz="1400" dirty="0" err="1">
                <a:solidFill>
                  <a:srgbClr val="333333"/>
                </a:solidFill>
                <a:latin typeface="Consolas" panose="020B0609020204030204" pitchFamily="49" charset="0"/>
              </a:rPr>
              <a:t>df</a:t>
            </a:r>
            <a:r>
              <a:rPr lang="en-GB" sz="1400" dirty="0">
                <a:solidFill>
                  <a:srgbClr val="333333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n-GB" sz="1400" b="1" dirty="0">
                <a:latin typeface="Consolas" panose="020B0609020204030204" pitchFamily="49" charset="0"/>
              </a:rPr>
              <a:t># Truncation in survival package</a:t>
            </a:r>
            <a:br>
              <a:rPr lang="en-GB" sz="1400" dirty="0">
                <a:latin typeface="Consolas" panose="020B0609020204030204" pitchFamily="49" charset="0"/>
              </a:rPr>
            </a:br>
            <a:r>
              <a:rPr lang="en-GB" sz="1400" dirty="0">
                <a:latin typeface="Consolas" panose="020B0609020204030204" pitchFamily="49" charset="0"/>
              </a:rPr>
              <a:t>Survival::</a:t>
            </a:r>
            <a:r>
              <a:rPr lang="en-GB" sz="1400" dirty="0" err="1">
                <a:latin typeface="Consolas" panose="020B0609020204030204" pitchFamily="49" charset="0"/>
              </a:rPr>
              <a:t>Surv</a:t>
            </a:r>
            <a:r>
              <a:rPr lang="en-GB" sz="1400" dirty="0">
                <a:latin typeface="Consolas" panose="020B0609020204030204" pitchFamily="49" charset="0"/>
              </a:rPr>
              <a:t>(time, time2, event, type=“counting”)</a:t>
            </a:r>
            <a:endParaRPr sz="1400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989320" y="1143000"/>
            <a:ext cx="105092" cy="520293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28600" y="4895296"/>
            <a:ext cx="5394960" cy="3657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4913584"/>
            <a:ext cx="5166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FFFFFF"/>
                </a:solidFill>
              </a:rPr>
              <a:t>New </a:t>
            </a:r>
            <a:r>
              <a:rPr lang="en-GB" b="1" dirty="0">
                <a:solidFill>
                  <a:srgbClr val="FFFFFF"/>
                </a:solidFill>
              </a:rPr>
              <a:t>argument</a:t>
            </a:r>
            <a:endParaRPr b="1" dirty="0">
              <a:solidFill>
                <a:srgbClr val="FFFFFF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8ED740-9EDF-D78E-47ED-FA9F9D113D9C}"/>
              </a:ext>
            </a:extLst>
          </p:cNvPr>
          <p:cNvSpPr txBox="1"/>
          <p:nvPr/>
        </p:nvSpPr>
        <p:spPr>
          <a:xfrm>
            <a:off x="278828" y="5261056"/>
            <a:ext cx="5536756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en-GB" sz="1400" b="1" dirty="0">
                <a:solidFill>
                  <a:srgbClr val="333333"/>
                </a:solidFill>
                <a:latin typeface="+mj-lt"/>
                <a:ea typeface="Cascadia Mono" panose="020B0609020000020004" pitchFamily="49" charset="0"/>
                <a:cs typeface="Cascadia Mono" panose="020B0609020000020004" pitchFamily="49" charset="0"/>
              </a:rPr>
              <a:t># Left-truncated + right-censored</a:t>
            </a:r>
          </a:p>
          <a:p>
            <a:pPr>
              <a:spcBef>
                <a:spcPts val="400"/>
              </a:spcBef>
            </a:pPr>
            <a:r>
              <a:rPr lang="en-GB" sz="1400" dirty="0" err="1">
                <a:solidFill>
                  <a:srgbClr val="333333"/>
                </a:solidFill>
                <a:latin typeface="Consolas" panose="020B06090202040302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coxph_mpl</a:t>
            </a:r>
            <a:r>
              <a:rPr lang="en-GB" sz="1400" dirty="0">
                <a:solidFill>
                  <a:srgbClr val="333333"/>
                </a:solidFill>
                <a:latin typeface="Consolas" panose="020B06090202040302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GB" sz="1400" dirty="0" err="1">
                <a:solidFill>
                  <a:srgbClr val="333333"/>
                </a:solidFill>
                <a:latin typeface="Consolas" panose="020B06090202040302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Surv</a:t>
            </a:r>
            <a:r>
              <a:rPr lang="en-GB" sz="1400" dirty="0">
                <a:solidFill>
                  <a:srgbClr val="333333"/>
                </a:solidFill>
                <a:latin typeface="Consolas" panose="020B06090202040302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(time, event) ~ x1 + x2, data = </a:t>
            </a:r>
            <a:r>
              <a:rPr lang="en-GB" sz="1400" dirty="0" err="1">
                <a:solidFill>
                  <a:srgbClr val="333333"/>
                </a:solidFill>
                <a:latin typeface="Consolas" panose="020B06090202040302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df</a:t>
            </a:r>
            <a:r>
              <a:rPr lang="en-GB" sz="1400" dirty="0">
                <a:solidFill>
                  <a:srgbClr val="333333"/>
                </a:solidFill>
                <a:latin typeface="Consolas" panose="020B06090202040302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,  							</a:t>
            </a:r>
            <a:r>
              <a:rPr lang="en-GB" sz="1400" dirty="0">
                <a:solidFill>
                  <a:srgbClr val="333333"/>
                </a:solidFill>
                <a:highlight>
                  <a:srgbClr val="00FFFF"/>
                </a:highlight>
                <a:latin typeface="Consolas" panose="020B06090202040302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entry = </a:t>
            </a:r>
            <a:r>
              <a:rPr lang="en-GB" sz="1400" dirty="0" err="1">
                <a:solidFill>
                  <a:srgbClr val="333333"/>
                </a:solidFill>
                <a:highlight>
                  <a:srgbClr val="00FFFF"/>
                </a:highlight>
                <a:latin typeface="Consolas" panose="020B06090202040302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df$L</a:t>
            </a:r>
            <a:r>
              <a:rPr lang="en-GB" sz="1400" dirty="0">
                <a:solidFill>
                  <a:srgbClr val="333333"/>
                </a:solidFill>
                <a:latin typeface="Consolas" panose="020B06090202040302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)</a:t>
            </a:r>
          </a:p>
          <a:p>
            <a:pPr>
              <a:spcBef>
                <a:spcPts val="400"/>
              </a:spcBef>
            </a:pPr>
            <a:r>
              <a:rPr lang="en-GB" sz="1400" b="1" dirty="0">
                <a:solidFill>
                  <a:srgbClr val="333333"/>
                </a:solidFill>
                <a:latin typeface="Consolas" panose="020B06090202040302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# Or</a:t>
            </a:r>
          </a:p>
          <a:p>
            <a:pPr>
              <a:spcBef>
                <a:spcPts val="400"/>
              </a:spcBef>
            </a:pPr>
            <a:r>
              <a:rPr lang="en-GB" sz="1400" dirty="0" err="1">
                <a:solidFill>
                  <a:srgbClr val="333333"/>
                </a:solidFill>
                <a:latin typeface="Consolas" panose="020B06090202040302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coxph_mpl</a:t>
            </a:r>
            <a:r>
              <a:rPr lang="en-GB" sz="1400" dirty="0">
                <a:solidFill>
                  <a:srgbClr val="333333"/>
                </a:solidFill>
                <a:latin typeface="Consolas" panose="020B06090202040302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GB" sz="1400" dirty="0" err="1">
                <a:solidFill>
                  <a:srgbClr val="333333"/>
                </a:solidFill>
                <a:latin typeface="Consolas" panose="020B06090202040302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Surv</a:t>
            </a:r>
            <a:r>
              <a:rPr lang="en-GB" sz="1400" dirty="0">
                <a:solidFill>
                  <a:srgbClr val="333333"/>
                </a:solidFill>
                <a:latin typeface="Consolas" panose="020B06090202040302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GB" sz="1400" dirty="0">
                <a:latin typeface="Consolas" panose="020B0609020204030204" pitchFamily="49" charset="0"/>
              </a:rPr>
              <a:t>time</a:t>
            </a:r>
            <a:r>
              <a:rPr lang="en-GB" sz="1400" dirty="0">
                <a:solidFill>
                  <a:srgbClr val="333333"/>
                </a:solidFill>
                <a:latin typeface="Consolas" panose="020B06090202040302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, </a:t>
            </a:r>
            <a:r>
              <a:rPr lang="en-GB" sz="1400" dirty="0">
                <a:latin typeface="Consolas" panose="020B0609020204030204" pitchFamily="49" charset="0"/>
              </a:rPr>
              <a:t>time2</a:t>
            </a:r>
            <a:r>
              <a:rPr lang="en-GB" sz="1400" dirty="0">
                <a:solidFill>
                  <a:srgbClr val="333333"/>
                </a:solidFill>
                <a:latin typeface="Consolas" panose="020B06090202040302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, event, type = "counting") 		~ x1 + x2, data = </a:t>
            </a:r>
            <a:r>
              <a:rPr lang="en-GB" sz="1400" dirty="0" err="1">
                <a:solidFill>
                  <a:srgbClr val="333333"/>
                </a:solidFill>
                <a:latin typeface="Consolas" panose="020B06090202040302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df</a:t>
            </a:r>
            <a:r>
              <a:rPr lang="en-GB" sz="1400" dirty="0">
                <a:solidFill>
                  <a:srgbClr val="333333"/>
                </a:solidFill>
                <a:latin typeface="Consolas" panose="020B06090202040302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)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BD3999-90AE-F023-CBB8-7DF95EDDB28D}"/>
              </a:ext>
            </a:extLst>
          </p:cNvPr>
          <p:cNvSpPr txBox="1"/>
          <p:nvPr/>
        </p:nvSpPr>
        <p:spPr>
          <a:xfrm>
            <a:off x="6766560" y="1731226"/>
            <a:ext cx="5248656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0" dirty="0"/>
              <a:t>Code changes only in R/</a:t>
            </a:r>
            <a:r>
              <a:rPr lang="en-GB" b="0" dirty="0" err="1"/>
              <a:t>coxph.r</a:t>
            </a:r>
            <a:endParaRPr lang="en-GB" b="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0" dirty="0"/>
              <a:t>Add a dataset for L</a:t>
            </a:r>
            <a:r>
              <a:rPr lang="en-GB" dirty="0"/>
              <a:t>T</a:t>
            </a:r>
            <a:endParaRPr lang="en-GB" b="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0" dirty="0"/>
              <a:t>Reuse prototype functions for validation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Add regression and validations tests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0" dirty="0"/>
              <a:t>Create a new vignette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b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5E89A7-9C0A-3BA4-F946-2B5F88347107}"/>
              </a:ext>
            </a:extLst>
          </p:cNvPr>
          <p:cNvSpPr/>
          <p:nvPr/>
        </p:nvSpPr>
        <p:spPr>
          <a:xfrm>
            <a:off x="6437376" y="1117641"/>
            <a:ext cx="539496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222884-2DE2-F52B-5981-AD622EF6C0BC}"/>
              </a:ext>
            </a:extLst>
          </p:cNvPr>
          <p:cNvSpPr txBox="1"/>
          <p:nvPr/>
        </p:nvSpPr>
        <p:spPr>
          <a:xfrm>
            <a:off x="6483096" y="1145073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dirty="0">
                <a:solidFill>
                  <a:srgbClr val="FFFFFF"/>
                </a:solidFill>
              </a:rPr>
              <a:t>Plan</a:t>
            </a:r>
            <a:endParaRPr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/>
      <p:bldP spid="9" grpId="0"/>
      <p:bldP spid="13" grpId="0" animBg="1"/>
      <p:bldP spid="14" grpId="0"/>
      <p:bldP spid="16" grpId="0"/>
      <p:bldP spid="18" grpId="0"/>
      <p:bldP spid="19" grpId="0" animBg="1"/>
      <p:bldP spid="2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2822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5C0350-08C7-3350-EFE5-703E61CF77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61" t="23306" r="17783" b="21667"/>
          <a:stretch>
            <a:fillRect/>
          </a:stretch>
        </p:blipFill>
        <p:spPr>
          <a:xfrm>
            <a:off x="4336311" y="1490757"/>
            <a:ext cx="3516203" cy="38703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8FCBE9-C282-6DF1-7DC4-95DC60E21A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97" y="1490757"/>
            <a:ext cx="3536424" cy="40765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71546F-B8CD-C98F-9470-BAAEA91B64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7848" y="1269115"/>
            <a:ext cx="4502559" cy="481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771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208</Words>
  <Application>Microsoft Office PowerPoint</Application>
  <PresentationFormat>Custom</PresentationFormat>
  <Paragraphs>21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Nikita Mozgunov</cp:lastModifiedBy>
  <cp:revision>6</cp:revision>
  <dcterms:created xsi:type="dcterms:W3CDTF">2013-01-27T09:14:16Z</dcterms:created>
  <dcterms:modified xsi:type="dcterms:W3CDTF">2026-07-16T05:33:55Z</dcterms:modified>
  <cp:category/>
</cp:coreProperties>
</file>