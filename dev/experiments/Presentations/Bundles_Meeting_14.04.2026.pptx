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09:52:26.0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1 349 9830,'1'13'446,"1"0"-1,1-1 1,0 0 0,0 1-1,1-1 1,1-1-1,8 17 1,1 4 271,102 230 2727,-115-259-3386,0 0 1,1 0-1,-1 0 0,1 0 1,0-1-1,0 1 0,0-1 1,4 5-1,-6-7-50,0 0 0,1 0 0,-1 0 0,0 1 0,1-1 0,-1 0-1,0 0 1,1 0 0,-1 0 0,1 0 0,-1 0 0,0 0 0,1 0 0,-1 0-1,1 0 1,-1 0 0,0 0 0,1 0 0,-1 0 0,0 0 0,1 0 0,-1 0 0,0 0-1,1-1 1,-1 1 0,1 0 0,10-16-228,11-38-449,-15 37 414,0-1 0,0 1 0,16-24 0,391-498-5238,-406 529 5424,25-32-80,-10 11 125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09:52:31.5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1 349 9830,'1'13'446,"1"0"-1,1-1 1,0 0 0,0 1-1,1-1 1,1-1-1,8 17 1,1 4 271,102 230 2727,-115-259-3386,0 0 1,1 0-1,-1 0 0,1 0 1,0-1-1,0 1 0,0-1 1,4 5-1,-6-7-50,0 0 0,1 0 0,-1 0 0,0 1 0,1-1 0,-1 0-1,0 0 1,1 0 0,-1 0 0,1 0 0,-1 0 0,0 0 0,1 0 0,-1 0-1,1 0 1,-1 0 0,0 0 0,1 0 0,-1 0 0,0 0 0,1 0 0,-1 0 0,0 0-1,1-1 1,-1 1 0,1 0 0,10-16-228,11-38-449,-15 37 414,0-1 0,0 1 0,16-24 0,391-498-5238,-406 529 5424,25-32-80,-10 11 125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09:52:40.6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1 349 9830,'1'13'446,"1"0"-1,1-1 1,0 0 0,0 1-1,1-1 1,1-1-1,8 17 1,1 4 271,102 230 2727,-115-259-3386,0 0 1,1 0-1,-1 0 0,1 0 1,0-1-1,0 1 0,0-1 1,4 5-1,-6-7-50,0 0 0,1 0 0,-1 0 0,0 1 0,1-1 0,-1 0-1,0 0 1,1 0 0,-1 0 0,1 0 0,-1 0 0,0 0 0,1 0 0,-1 0-1,1 0 1,-1 0 0,0 0 0,1 0 0,-1 0 0,0 0 0,1 0 0,-1 0 0,0 0-1,1-1 1,-1 1 0,1 0 0,10-16-228,11-38-449,-15 37 414,0-1 0,0 1 0,16-24 0,391-498-5238,-406 529 5424,25-32-80,-10 11 125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853D4-2858-C830-E28C-5B5B0D690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594E9-E0DA-9DF0-3A2B-A276D59CB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DA1C-345F-3A33-04E7-2E20E3FA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BD985-CB66-440F-7C61-0B04B92A5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DBA99-57C1-62ED-0FDA-FB613D60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70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72E5-A012-FE4C-4100-991C32E9D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B8202-0FC2-380D-FED0-BFB39CE91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03B3D-2B67-C184-26E2-E78C3B0E6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CEF91-B393-EC24-484A-1108ABA5A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301AF-0561-2CF8-EC53-F8BFE404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15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D197-EBD9-C851-7C82-06FAD3AB2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076F3-6851-96B2-6E4A-3863583AD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9502E-264D-6AAD-194B-372EBBF92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22E93-727A-A7A1-2072-3DB8E465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33221-C4C9-E8A9-91F6-AE0811EA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82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C1D14-EDBA-AB25-FBB8-024FD5C0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53084-830F-A87F-9E1F-1861D1792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33C0F-3197-91AF-E5B0-A5F8DB74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19C44-7070-9E80-A585-905F1365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98654-65EE-508B-21CA-43AD9E69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6409A-FD48-D5B6-2613-2C34A2CBC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9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5842-AD4B-54A6-A3D9-0A89EE9EE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D94CC-5E78-7EC0-BF48-59E8A0A6B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134F1-4869-72D2-71A8-CA3CC5406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ABC2F-3400-40AC-5FAF-B1B7EF3A0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CFC32D-13B1-98AF-068C-66BE32A72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EEF8A0-14E1-B310-B00F-B0AF87F59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C7515-401F-F7D7-5DAE-72D7C8208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DE836-283F-8853-9892-C8A69121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77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59CD-49B7-7686-E4FD-35A3D8A7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B84F8-A546-FF47-1903-BF8DF3F4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06E3C-03B3-E575-BA34-2C0F6EE6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DC9D0-87AE-0712-D8EE-1BF39850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59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B4746-80B4-4AE0-4D0A-B3F1056C0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4A38BE-8AB6-20B4-BA3E-719D23593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3748B-BAF3-B8F4-CC99-DEC51A87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61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70AB-2730-53F6-0B9E-1AF1CAAF5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57216-5FFE-1AD1-F5C5-3CC4F720A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9CDE5-DBB4-54ED-F756-D77A827A3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38BBC-81C9-57E4-4461-19B59D05F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341EE-A166-34F2-0224-FE501692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845C1-91F7-B459-639B-4B393765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013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4C124-99C4-5FCB-70FD-0E185DAB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BED690-27D2-7B59-4A14-B6F6D6C25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FB640-87C4-12FF-16AC-4DE9DC4F2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4DB69-EB1B-A5DE-8305-DCAC93BE5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DAE3B-6F38-2A36-28B1-40EC0189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CB0C7-F414-305D-DE50-432CB42F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53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DEC26-8A81-599D-689C-CE55DE466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8B956-4EA2-43DC-4677-7A47EF7D1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0A4D8-0093-DE93-AD97-5BAEC89A0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B96AD-029B-5B5E-3211-82ED765F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60F20-E578-5640-479B-84F66E9C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12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39861-8197-E578-C002-313C46DF1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7F1B6-7928-5F14-F0DC-24BBB7968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9C1C9-7DCA-60E5-644B-FCE7B8F7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911A7-4511-4108-EF6C-32B334C7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580EB-ED91-F5CE-DB55-FBA30E28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18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9C087-79E7-AF1C-FB94-336FF33D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9C46C-E405-AF3D-95BE-C4EC420A0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AA473-8324-71EE-241F-591D239B10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576FD-C1B7-4311-8AD9-29DECA139B2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85B45-A8D9-A614-8E84-93F8F7DC8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E1012-BAEE-9114-96EA-B8E12CB76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033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0BB19-57B3-54D7-1F42-3BB80B19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F35225B-A402-59FF-D85B-6FFCC59FE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E97214C-0FA4-D2E8-2F6F-19442D318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07AA62-07AF-36E5-1045-D1E824A88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219A8C-56F5-8ED3-260B-8F3308585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93B0795-5456-2002-B23E-5CB9B996D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A4D275C-B015-A02D-B8DF-CCA5D3059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8C2B3F-9D49-8CDC-016A-1E4FE4AFF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A6D7F1-EE42-361A-9608-101BD68472F3}"/>
              </a:ext>
            </a:extLst>
          </p:cNvPr>
          <p:cNvSpPr txBox="1"/>
          <p:nvPr/>
        </p:nvSpPr>
        <p:spPr>
          <a:xfrm>
            <a:off x="4583303" y="95250"/>
            <a:ext cx="7208647" cy="540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400" b="1" dirty="0">
                <a:effectLst/>
              </a:rPr>
              <a:t>Bundle </a:t>
            </a:r>
            <a:r>
              <a:rPr lang="ru-RU" sz="2400" b="1" dirty="0">
                <a:effectLst/>
              </a:rPr>
              <a:t>1</a:t>
            </a:r>
            <a:r>
              <a:rPr lang="en-US" sz="2400" b="1" dirty="0">
                <a:effectLst/>
              </a:rPr>
              <a:t>:</a:t>
            </a:r>
            <a:endParaRPr lang="ru-RU" sz="2400" b="1" dirty="0">
              <a:effectLst/>
            </a:endParaRPr>
          </a:p>
          <a:p>
            <a:pPr>
              <a:buNone/>
            </a:pPr>
            <a:endParaRPr lang="ru-RU" sz="2400" b="1" dirty="0">
              <a:effectLst/>
            </a:endParaRPr>
          </a:p>
          <a:p>
            <a:pPr marL="342900" indent="-34290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noProof="0" dirty="0">
                <a:effectLst/>
              </a:rPr>
              <a:t>organise the package in a modular manner allowing extensions</a:t>
            </a:r>
            <a:endParaRPr lang="en-GB" sz="2400" noProof="0" dirty="0"/>
          </a:p>
          <a:p>
            <a:pPr marL="342900" indent="-34290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noProof="0" dirty="0">
                <a:effectLst/>
              </a:rPr>
              <a:t>organise a GitHub website with </a:t>
            </a:r>
            <a:r>
              <a:rPr lang="en-GB" sz="2400" noProof="0" dirty="0" err="1">
                <a:effectLst/>
              </a:rPr>
              <a:t>pkgdown</a:t>
            </a:r>
            <a:r>
              <a:rPr lang="en-GB" sz="2400" noProof="0" dirty="0">
                <a:effectLst/>
              </a:rPr>
              <a:t> documentation and vignettes</a:t>
            </a:r>
            <a:endParaRPr lang="en-GB" sz="2400" noProof="0" dirty="0"/>
          </a:p>
          <a:p>
            <a:pPr marL="342900" indent="-34290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noProof="0" dirty="0">
                <a:effectLst/>
              </a:rPr>
              <a:t>revisit code and speed up relevant sections via C</a:t>
            </a:r>
            <a:endParaRPr lang="en-GB" sz="2400" noProof="0" dirty="0"/>
          </a:p>
          <a:p>
            <a:pPr>
              <a:lnSpc>
                <a:spcPct val="90000"/>
              </a:lnSpc>
              <a:spcAft>
                <a:spcPts val="1800"/>
              </a:spcAft>
            </a:pPr>
            <a:endParaRPr lang="en-US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34E2A3B-D224-7324-C971-138BBB298292}"/>
                  </a:ext>
                </a:extLst>
              </p14:cNvPr>
              <p14:cNvContentPartPr/>
              <p14:nvPr/>
            </p14:nvContentPartPr>
            <p14:xfrm>
              <a:off x="4757176" y="1663383"/>
              <a:ext cx="270000" cy="28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34E2A3B-D224-7324-C971-138BBB2982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39536" y="1645743"/>
                <a:ext cx="30564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DBDEFD-9B74-E004-00DC-F3AA252889B2}"/>
                  </a:ext>
                </a:extLst>
              </p14:cNvPr>
              <p14:cNvContentPartPr/>
              <p14:nvPr/>
            </p14:nvContentPartPr>
            <p14:xfrm>
              <a:off x="4755152" y="2653747"/>
              <a:ext cx="270000" cy="283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DBDEFD-9B74-E004-00DC-F3AA252889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37512" y="2636107"/>
                <a:ext cx="30564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703ED6-C037-A30A-1CF8-EA636A0F999B}"/>
                  </a:ext>
                </a:extLst>
              </p14:cNvPr>
              <p14:cNvContentPartPr/>
              <p14:nvPr/>
            </p14:nvContentPartPr>
            <p14:xfrm>
              <a:off x="4737852" y="3579654"/>
              <a:ext cx="270000" cy="283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703ED6-C037-A30A-1CF8-EA636A0F99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20212" y="3562014"/>
                <a:ext cx="305640" cy="31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2647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BB1767-4DD9-9F5C-3868-23A05D4F8A91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1800"/>
              </a:spcAft>
            </a:pPr>
            <a:r>
              <a:rPr lang="en-GB" sz="2400" b="1" noProof="0" dirty="0">
                <a:effectLst/>
              </a:rPr>
              <a:t>Bundle 2:</a:t>
            </a:r>
            <a:endParaRPr lang="en-GB" sz="2400" b="1" noProof="0" dirty="0"/>
          </a:p>
          <a:p>
            <a:pPr marL="114300" indent="-342900">
              <a:lnSpc>
                <a:spcPct val="90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noProof="0" dirty="0">
                <a:effectLst/>
              </a:rPr>
              <a:t>add left truncation case (without penalty based on existing code considering a piecewise baseline hazard)</a:t>
            </a:r>
            <a:endParaRPr lang="en-GB" sz="2400" noProof="0" dirty="0"/>
          </a:p>
          <a:p>
            <a:pPr marL="114300" indent="-342900">
              <a:lnSpc>
                <a:spcPct val="90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noProof="0" dirty="0">
                <a:effectLst/>
              </a:rPr>
              <a:t>stabilise estimation when the number of knots is large compared to the sample size (based on existing code considering eigenvalues/vectors to stabilise the computation of the Hessian matrix).</a:t>
            </a:r>
            <a:endParaRPr lang="en-GB" sz="2400" noProof="0" dirty="0"/>
          </a:p>
          <a:p>
            <a:pPr marL="114300" indent="-342900">
              <a:lnSpc>
                <a:spcPct val="90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noProof="0" dirty="0">
                <a:effectLst/>
              </a:rPr>
              <a:t>consider time-varying covariates (based on existing code/methods)</a:t>
            </a: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1173743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AB953-7F9B-EAEF-D85F-F778FD94C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8F14854B-A2AF-6BD0-FFC3-D91C87789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797BDFC-68A0-6696-2CAC-960797718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B144C11-2001-32F2-5C73-DEAE75C86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C9921D4-DEC6-CC1D-8147-C90E69391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D438478-3E17-707F-4BEC-F21550E31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6E513BB9-793E-5F2E-280F-B7B3C428A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E535C8-3472-4E7C-70C6-1E85862AA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4B0207-3F24-1A37-B952-F1ABDF3F72B8}"/>
              </a:ext>
            </a:extLst>
          </p:cNvPr>
          <p:cNvSpPr txBox="1"/>
          <p:nvPr/>
        </p:nvSpPr>
        <p:spPr>
          <a:xfrm>
            <a:off x="4905054" y="511388"/>
            <a:ext cx="6555347" cy="4737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1800"/>
              </a:spcAft>
            </a:pPr>
            <a:r>
              <a:rPr lang="en-GB" sz="2400" b="1" noProof="0" dirty="0">
                <a:effectLst/>
              </a:rPr>
              <a:t>Bundle 3:</a:t>
            </a:r>
            <a:endParaRPr lang="en-GB" sz="2400" b="1" noProof="0" dirty="0"/>
          </a:p>
          <a:p>
            <a:pPr marL="114300" indent="-342900">
              <a:lnSpc>
                <a:spcPct val="90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dirty="0"/>
              <a:t>consider Lasso model selection (method development)</a:t>
            </a:r>
          </a:p>
          <a:p>
            <a:pPr marL="114300" indent="-342900">
              <a:lnSpc>
                <a:spcPct val="90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dirty="0"/>
              <a:t>consider AFT model with right censoring (based on existing code)</a:t>
            </a:r>
          </a:p>
          <a:p>
            <a:pPr marL="114300" indent="-342900">
              <a:lnSpc>
                <a:spcPct val="90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dirty="0"/>
              <a:t>consider 'cured approach' </a:t>
            </a: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155672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120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Mozgunov</dc:creator>
  <cp:lastModifiedBy>Mozgunov, Nikita</cp:lastModifiedBy>
  <cp:revision>3</cp:revision>
  <dcterms:created xsi:type="dcterms:W3CDTF">2026-02-09T22:03:52Z</dcterms:created>
  <dcterms:modified xsi:type="dcterms:W3CDTF">2026-04-14T13:38:37Z</dcterms:modified>
</cp:coreProperties>
</file>