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0279975" cy="42805350"/>
  <p:notesSz cx="42805350" cy="302799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C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310" autoAdjust="0"/>
    <p:restoredTop sz="94610"/>
  </p:normalViewPr>
  <p:slideViewPr>
    <p:cSldViewPr snapToGrid="0" snapToObjects="1">
      <p:cViewPr varScale="1">
        <p:scale>
          <a:sx n="17" d="100"/>
          <a:sy n="17" d="100"/>
        </p:scale>
        <p:origin x="3906" y="150"/>
      </p:cViewPr>
      <p:guideLst>
        <p:guide orient="horz" pos="13482"/>
        <p:guide pos="95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220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Single-slide version of the A0 poster: the problem, the four-stage architecture, the four basis families, the documentation site, and the adoption argument.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515/ijb-2020-0104"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a:effectLst/>
      </p:bgPr>
    </p:bg>
    <p:spTree>
      <p:nvGrpSpPr>
        <p:cNvPr id="1" name=""/>
        <p:cNvGrpSpPr/>
        <p:nvPr/>
      </p:nvGrpSpPr>
      <p:grpSpPr>
        <a:xfrm>
          <a:off x="0" y="0"/>
          <a:ext cx="0" cy="0"/>
          <a:chOff x="0" y="0"/>
          <a:chExt cx="0" cy="0"/>
        </a:xfrm>
      </p:grpSpPr>
      <p:sp>
        <p:nvSpPr>
          <p:cNvPr id="2" name="Shape 0"/>
          <p:cNvSpPr/>
          <p:nvPr/>
        </p:nvSpPr>
        <p:spPr>
          <a:xfrm>
            <a:off x="0" y="4593148"/>
            <a:ext cx="30279975" cy="37963168"/>
          </a:xfrm>
          <a:prstGeom prst="rect">
            <a:avLst/>
          </a:prstGeom>
          <a:solidFill>
            <a:srgbClr val="F7F4EF"/>
          </a:solidFill>
          <a:ln/>
        </p:spPr>
        <p:txBody>
          <a:bodyPr/>
          <a:lstStyle/>
          <a:p>
            <a:r>
              <a:rPr lang="en-GB" dirty="0"/>
              <a:t>`</a:t>
            </a:r>
          </a:p>
        </p:txBody>
      </p:sp>
      <p:sp>
        <p:nvSpPr>
          <p:cNvPr id="3" name="Shape 1"/>
          <p:cNvSpPr/>
          <p:nvPr/>
        </p:nvSpPr>
        <p:spPr>
          <a:xfrm>
            <a:off x="-62210" y="-19051"/>
            <a:ext cx="30342186" cy="7306696"/>
          </a:xfrm>
          <a:prstGeom prst="rect">
            <a:avLst/>
          </a:prstGeom>
          <a:solidFill>
            <a:srgbClr val="003A66"/>
          </a:solidFill>
          <a:ln/>
        </p:spPr>
        <p:txBody>
          <a:bodyPr/>
          <a:lstStyle/>
          <a:p>
            <a:endParaRPr lang="en-GB" dirty="0"/>
          </a:p>
        </p:txBody>
      </p:sp>
      <p:sp>
        <p:nvSpPr>
          <p:cNvPr id="6" name="Text 4"/>
          <p:cNvSpPr/>
          <p:nvPr/>
        </p:nvSpPr>
        <p:spPr>
          <a:xfrm>
            <a:off x="1524243" y="1094633"/>
            <a:ext cx="26993850" cy="3325117"/>
          </a:xfrm>
          <a:prstGeom prst="rect">
            <a:avLst/>
          </a:prstGeom>
          <a:noFill/>
          <a:ln/>
        </p:spPr>
        <p:txBody>
          <a:bodyPr wrap="square" lIns="25400" tIns="25400" rIns="25400" bIns="25400" rtlCol="0" anchor="t">
            <a:normAutofit/>
          </a:bodyPr>
          <a:lstStyle/>
          <a:p>
            <a:pPr marL="0" indent="0" algn="ctr">
              <a:lnSpc>
                <a:spcPct val="88178"/>
              </a:lnSpc>
              <a:buNone/>
            </a:pPr>
            <a:r>
              <a:rPr lang="en-GB" sz="9600" b="1" kern="0" spc="-325" dirty="0">
                <a:solidFill>
                  <a:srgbClr val="F0F6FC"/>
                </a:solidFill>
                <a:latin typeface="IBM Plex Sans" panose="020B0503050203000203" pitchFamily="34" charset="0"/>
                <a:ea typeface="Archivo" pitchFamily="34" charset="-122"/>
                <a:cs typeface="Archivo" pitchFamily="34" charset="-120"/>
              </a:rPr>
              <a:t>Penalised Maximum Likelihood </a:t>
            </a:r>
          </a:p>
          <a:p>
            <a:pPr marL="0" indent="0" algn="ctr">
              <a:lnSpc>
                <a:spcPct val="88178"/>
              </a:lnSpc>
              <a:buNone/>
            </a:pPr>
            <a:r>
              <a:rPr lang="en-GB" sz="9600" b="1" kern="0" spc="-325" dirty="0">
                <a:solidFill>
                  <a:srgbClr val="F0F6FC"/>
                </a:solidFill>
                <a:latin typeface="IBM Plex Sans" panose="020B0503050203000203" pitchFamily="34" charset="0"/>
                <a:ea typeface="Archivo" pitchFamily="34" charset="-122"/>
                <a:cs typeface="Archivo" pitchFamily="34" charset="-120"/>
              </a:rPr>
              <a:t>for Interval-Censored Survival Data</a:t>
            </a:r>
            <a:endParaRPr lang="en-US" sz="9600" dirty="0">
              <a:latin typeface="IBM Plex Sans" panose="020B0503050203000203" pitchFamily="34" charset="0"/>
            </a:endParaRPr>
          </a:p>
        </p:txBody>
      </p:sp>
      <p:sp>
        <p:nvSpPr>
          <p:cNvPr id="8" name="Text 6"/>
          <p:cNvSpPr/>
          <p:nvPr/>
        </p:nvSpPr>
        <p:spPr>
          <a:xfrm>
            <a:off x="1485900" y="4048720"/>
            <a:ext cx="8953679" cy="838200"/>
          </a:xfrm>
          <a:prstGeom prst="rect">
            <a:avLst/>
          </a:prstGeom>
          <a:noFill/>
          <a:ln/>
        </p:spPr>
        <p:txBody>
          <a:bodyPr wrap="square" lIns="25400" tIns="25400" rIns="25400" bIns="25400" rtlCol="0" anchor="t">
            <a:normAutofit lnSpcReduction="10000"/>
          </a:bodyPr>
          <a:lstStyle/>
          <a:p>
            <a:pPr marL="0" indent="0" algn="l">
              <a:buNone/>
            </a:pPr>
            <a:r>
              <a:rPr lang="en-US" sz="5400" kern="0" spc="-48" dirty="0">
                <a:solidFill>
                  <a:srgbClr val="CFE0F2"/>
                </a:solidFill>
                <a:latin typeface="IBM Plex Sans" panose="020B0503050203000203" pitchFamily="34" charset="0"/>
                <a:ea typeface="Archivo" pitchFamily="34" charset="-122"/>
                <a:cs typeface="Archivo" pitchFamily="34" charset="-120"/>
              </a:rPr>
              <a:t>The </a:t>
            </a:r>
            <a:r>
              <a:rPr lang="en-US" sz="5400" b="1" kern="0" spc="-48" dirty="0">
                <a:solidFill>
                  <a:srgbClr val="CFE0F2"/>
                </a:solidFill>
                <a:latin typeface="IBM Plex Sans" panose="020B0503050203000203" pitchFamily="34" charset="0"/>
                <a:ea typeface="IBM Plex Mono" pitchFamily="34" charset="-122"/>
                <a:cs typeface="IBM Plex Mono" pitchFamily="34" charset="-120"/>
              </a:rPr>
              <a:t>survivalMPL</a:t>
            </a:r>
            <a:r>
              <a:rPr lang="en-US" sz="5400" kern="0" spc="-48" dirty="0">
                <a:solidFill>
                  <a:srgbClr val="CFE0F2"/>
                </a:solidFill>
                <a:latin typeface="IBM Plex Sans" panose="020B0503050203000203" pitchFamily="34" charset="0"/>
                <a:ea typeface="IBM Plex Mono" pitchFamily="34" charset="-122"/>
                <a:cs typeface="IBM Plex Mono" pitchFamily="34" charset="-120"/>
              </a:rPr>
              <a:t> </a:t>
            </a:r>
            <a:r>
              <a:rPr lang="en-US" sz="5400" kern="0" spc="-48" dirty="0">
                <a:solidFill>
                  <a:srgbClr val="CFE0F2"/>
                </a:solidFill>
                <a:latin typeface="IBM Plex Sans" panose="020B0503050203000203" pitchFamily="34" charset="0"/>
                <a:ea typeface="Archivo" pitchFamily="34" charset="-122"/>
                <a:cs typeface="Archivo" pitchFamily="34" charset="-120"/>
              </a:rPr>
              <a:t>R package</a:t>
            </a:r>
            <a:endParaRPr lang="en-US" sz="5400" dirty="0">
              <a:latin typeface="IBM Plex Sans" panose="020B0503050203000203" pitchFamily="34" charset="0"/>
            </a:endParaRPr>
          </a:p>
        </p:txBody>
      </p:sp>
      <p:sp>
        <p:nvSpPr>
          <p:cNvPr id="9" name="Shape 7"/>
          <p:cNvSpPr/>
          <p:nvPr/>
        </p:nvSpPr>
        <p:spPr>
          <a:xfrm>
            <a:off x="1047750" y="5267920"/>
            <a:ext cx="25728853" cy="45719"/>
          </a:xfrm>
          <a:prstGeom prst="rect">
            <a:avLst/>
          </a:prstGeom>
          <a:solidFill>
            <a:srgbClr val="366189"/>
          </a:solidFill>
          <a:ln/>
        </p:spPr>
        <p:txBody>
          <a:bodyPr/>
          <a:lstStyle/>
          <a:p>
            <a:endParaRPr lang="en-GB"/>
          </a:p>
        </p:txBody>
      </p:sp>
      <p:sp>
        <p:nvSpPr>
          <p:cNvPr id="10" name="Text 8"/>
          <p:cNvSpPr/>
          <p:nvPr/>
        </p:nvSpPr>
        <p:spPr>
          <a:xfrm>
            <a:off x="1047750" y="5677495"/>
            <a:ext cx="19628287" cy="538163"/>
          </a:xfrm>
          <a:prstGeom prst="rect">
            <a:avLst/>
          </a:prstGeom>
          <a:noFill/>
          <a:ln/>
        </p:spPr>
        <p:txBody>
          <a:bodyPr wrap="square" lIns="25400" tIns="25400" rIns="25400" bIns="25400" rtlCol="0" anchor="t">
            <a:normAutofit/>
          </a:bodyPr>
          <a:lstStyle/>
          <a:p>
            <a:pPr>
              <a:lnSpc>
                <a:spcPct val="95455"/>
              </a:lnSpc>
            </a:pPr>
            <a:r>
              <a:rPr lang="en-US" sz="3150" b="1" dirty="0">
                <a:solidFill>
                  <a:srgbClr val="F0F6FC"/>
                </a:solidFill>
                <a:latin typeface="IBM Plex Sans" pitchFamily="34" charset="0"/>
                <a:ea typeface="IBM Plex Sans" pitchFamily="34" charset="-122"/>
                <a:cs typeface="IBM Plex Sans" pitchFamily="34" charset="-120"/>
              </a:rPr>
              <a:t>N. Mozgunov</a:t>
            </a:r>
            <a:r>
              <a:rPr lang="en-US" sz="1733" b="1" baseline="66000" dirty="0">
                <a:solidFill>
                  <a:srgbClr val="F0F6FC"/>
                </a:solidFill>
                <a:latin typeface="IBM Plex Sans" pitchFamily="34" charset="0"/>
              </a:rPr>
              <a:t>1</a:t>
            </a:r>
            <a:r>
              <a:rPr lang="en-US" sz="3150" b="1" dirty="0">
                <a:solidFill>
                  <a:srgbClr val="F0F6FC"/>
                </a:solidFill>
                <a:latin typeface="IBM Plex Sans" pitchFamily="34" charset="0"/>
                <a:ea typeface="IBM Plex Sans" pitchFamily="34" charset="-122"/>
                <a:cs typeface="IBM Plex Sans" pitchFamily="34" charset="-120"/>
              </a:rPr>
              <a:t>, D.-L. Couturier</a:t>
            </a:r>
            <a:r>
              <a:rPr lang="en-US" sz="1733" b="1" baseline="66000" dirty="0">
                <a:solidFill>
                  <a:srgbClr val="F0F6FC"/>
                </a:solidFill>
                <a:latin typeface="IBM Plex Sans" pitchFamily="34" charset="0"/>
                <a:ea typeface="IBM Plex Sans" pitchFamily="34" charset="-122"/>
                <a:cs typeface="IBM Plex Sans" pitchFamily="34" charset="-120"/>
              </a:rPr>
              <a:t>1</a:t>
            </a:r>
            <a:r>
              <a:rPr lang="en-US" sz="3150" b="1" dirty="0">
                <a:solidFill>
                  <a:srgbClr val="F0F6FC"/>
                </a:solidFill>
                <a:latin typeface="IBM Plex Sans" pitchFamily="34" charset="0"/>
                <a:ea typeface="IBM Plex Sans" pitchFamily="34" charset="-122"/>
                <a:cs typeface="IBM Plex Sans" pitchFamily="34" charset="-120"/>
              </a:rPr>
              <a:t>, S. Lo</a:t>
            </a:r>
            <a:r>
              <a:rPr lang="en-US" sz="1733" b="1" baseline="66000" dirty="0">
                <a:solidFill>
                  <a:srgbClr val="F0F6FC"/>
                </a:solidFill>
                <a:latin typeface="IBM Plex Sans" pitchFamily="34" charset="0"/>
                <a:ea typeface="IBM Plex Sans" pitchFamily="34" charset="-122"/>
                <a:cs typeface="IBM Plex Sans" pitchFamily="34" charset="-120"/>
              </a:rPr>
              <a:t>2</a:t>
            </a:r>
            <a:r>
              <a:rPr lang="en-US" sz="1733" b="1" dirty="0">
                <a:solidFill>
                  <a:srgbClr val="F0F6FC"/>
                </a:solidFill>
                <a:latin typeface="IBM Plex Sans" pitchFamily="34" charset="0"/>
              </a:rPr>
              <a:t>, </a:t>
            </a:r>
            <a:r>
              <a:rPr lang="en-US" sz="3150" b="1" dirty="0">
                <a:solidFill>
                  <a:srgbClr val="F0F6FC"/>
                </a:solidFill>
                <a:latin typeface="IBM Plex Sans" pitchFamily="34" charset="0"/>
              </a:rPr>
              <a:t>J. Ma</a:t>
            </a:r>
            <a:r>
              <a:rPr lang="en-US" sz="1733" b="1" baseline="66000" dirty="0">
                <a:solidFill>
                  <a:srgbClr val="F0F6FC"/>
                </a:solidFill>
                <a:latin typeface="IBM Plex Sans" pitchFamily="34" charset="0"/>
              </a:rPr>
              <a:t>3</a:t>
            </a:r>
          </a:p>
        </p:txBody>
      </p:sp>
      <p:sp>
        <p:nvSpPr>
          <p:cNvPr id="11" name="Text 9"/>
          <p:cNvSpPr/>
          <p:nvPr/>
        </p:nvSpPr>
        <p:spPr>
          <a:xfrm>
            <a:off x="1047750" y="6291858"/>
            <a:ext cx="19628287" cy="512862"/>
          </a:xfrm>
          <a:prstGeom prst="rect">
            <a:avLst/>
          </a:prstGeom>
          <a:noFill/>
          <a:ln/>
        </p:spPr>
        <p:txBody>
          <a:bodyPr wrap="square" lIns="25400" tIns="25400" rIns="25400" bIns="25400" rtlCol="0" anchor="t">
            <a:normAutofit/>
          </a:bodyPr>
          <a:lstStyle/>
          <a:p>
            <a:pPr>
              <a:lnSpc>
                <a:spcPct val="102857"/>
              </a:lnSpc>
            </a:pPr>
            <a:r>
              <a:rPr lang="en-US" sz="2000" baseline="30000" dirty="0">
                <a:solidFill>
                  <a:srgbClr val="B0C7DD"/>
                </a:solidFill>
                <a:latin typeface="IBM Plex Sans" pitchFamily="34" charset="0"/>
                <a:ea typeface="IBM Plex Sans" pitchFamily="34" charset="-122"/>
                <a:cs typeface="IBM Plex Sans" pitchFamily="34" charset="-120"/>
              </a:rPr>
              <a:t>1 </a:t>
            </a:r>
            <a:r>
              <a:rPr lang="en-US" sz="2400" dirty="0">
                <a:solidFill>
                  <a:srgbClr val="B0C7DD"/>
                </a:solidFill>
                <a:latin typeface="IBM Plex Sans" pitchFamily="34" charset="0"/>
                <a:ea typeface="IBM Plex Sans" pitchFamily="34" charset="-122"/>
                <a:cs typeface="IBM Plex Sans" pitchFamily="34" charset="-120"/>
              </a:rPr>
              <a:t>MRC Biostatistics Unit, University of Cambridge · </a:t>
            </a:r>
            <a:r>
              <a:rPr lang="en-US" sz="2000" baseline="30000" dirty="0">
                <a:solidFill>
                  <a:srgbClr val="B0C7DD"/>
                </a:solidFill>
                <a:latin typeface="IBM Plex Sans" pitchFamily="34" charset="0"/>
                <a:ea typeface="IBM Plex Sans" pitchFamily="34" charset="-122"/>
                <a:cs typeface="IBM Plex Sans" pitchFamily="34" charset="-120"/>
              </a:rPr>
              <a:t>2</a:t>
            </a:r>
            <a:r>
              <a:rPr lang="en-US" sz="2400" dirty="0">
                <a:solidFill>
                  <a:srgbClr val="B0C7DD"/>
                </a:solidFill>
                <a:latin typeface="IBM Plex Sans" pitchFamily="34" charset="0"/>
                <a:ea typeface="IBM Plex Sans" pitchFamily="34" charset="-122"/>
                <a:cs typeface="IBM Plex Sans" pitchFamily="34" charset="-120"/>
              </a:rPr>
              <a:t>Melanoma Institute Australia · </a:t>
            </a:r>
            <a:r>
              <a:rPr lang="en-US" sz="2000" baseline="30000" dirty="0">
                <a:solidFill>
                  <a:srgbClr val="B0C7DD"/>
                </a:solidFill>
                <a:latin typeface="IBM Plex Sans" pitchFamily="34" charset="0"/>
                <a:ea typeface="IBM Plex Sans" pitchFamily="34" charset="-122"/>
                <a:cs typeface="IBM Plex Sans" pitchFamily="34" charset="-120"/>
              </a:rPr>
              <a:t>3 </a:t>
            </a:r>
            <a:r>
              <a:rPr lang="en-US" sz="2400" dirty="0">
                <a:solidFill>
                  <a:srgbClr val="B0C7DD"/>
                </a:solidFill>
                <a:latin typeface="IBM Plex Sans" pitchFamily="34" charset="0"/>
                <a:ea typeface="IBM Plex Sans" pitchFamily="34" charset="-122"/>
                <a:cs typeface="IBM Plex Sans" pitchFamily="34" charset="-120"/>
              </a:rPr>
              <a:t>Macquarie University </a:t>
            </a:r>
            <a:endParaRPr lang="en-US" sz="2400" dirty="0"/>
          </a:p>
        </p:txBody>
      </p:sp>
      <p:sp>
        <p:nvSpPr>
          <p:cNvPr id="12" name="Text 10"/>
          <p:cNvSpPr/>
          <p:nvPr/>
        </p:nvSpPr>
        <p:spPr>
          <a:xfrm>
            <a:off x="1047750" y="7966770"/>
            <a:ext cx="1558544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THE PROBLEM</a:t>
            </a:r>
            <a:endParaRPr lang="en-US" sz="2100" dirty="0"/>
          </a:p>
        </p:txBody>
      </p:sp>
      <p:sp>
        <p:nvSpPr>
          <p:cNvPr id="13" name="Text 11"/>
          <p:cNvSpPr/>
          <p:nvPr/>
        </p:nvSpPr>
        <p:spPr>
          <a:xfrm>
            <a:off x="1047750" y="8604945"/>
            <a:ext cx="14593644" cy="1275457"/>
          </a:xfrm>
          <a:prstGeom prst="rect">
            <a:avLst/>
          </a:prstGeom>
          <a:noFill/>
          <a:ln/>
        </p:spPr>
        <p:txBody>
          <a:bodyPr wrap="square" lIns="25400" tIns="25400" rIns="25400" bIns="25400" rtlCol="0" anchor="t">
            <a:normAutofit fontScale="92500" lnSpcReduction="10000"/>
          </a:bodyPr>
          <a:lstStyle/>
          <a:p>
            <a:pPr marL="0" indent="0" algn="l">
              <a:lnSpc>
                <a:spcPct val="106492"/>
              </a:lnSpc>
              <a:buNone/>
            </a:pPr>
            <a:r>
              <a:rPr lang="en-US" sz="4200" b="1" kern="0" spc="-84" dirty="0">
                <a:solidFill>
                  <a:srgbClr val="121417"/>
                </a:solidFill>
                <a:latin typeface="Archivo" pitchFamily="34" charset="0"/>
                <a:ea typeface="Archivo" pitchFamily="34" charset="-122"/>
                <a:cs typeface="Archivo" pitchFamily="34" charset="-120"/>
              </a:rPr>
              <a:t>Trials observe visits, not events. The event time is known only to lie between two assessments.</a:t>
            </a:r>
            <a:endParaRPr lang="en-US" sz="4200" dirty="0"/>
          </a:p>
        </p:txBody>
      </p:sp>
      <p:sp>
        <p:nvSpPr>
          <p:cNvPr id="14" name="Text 12"/>
          <p:cNvSpPr/>
          <p:nvPr/>
        </p:nvSpPr>
        <p:spPr>
          <a:xfrm>
            <a:off x="1047750" y="10128052"/>
            <a:ext cx="13244513" cy="2012752"/>
          </a:xfrm>
          <a:prstGeom prst="rect">
            <a:avLst/>
          </a:prstGeom>
          <a:noFill/>
          <a:ln/>
        </p:spPr>
        <p:txBody>
          <a:bodyPr wrap="square" lIns="25400" tIns="25400" rIns="25400" bIns="25400" rtlCol="0" anchor="t">
            <a:normAutofit fontScale="92500" lnSpcReduction="10000"/>
          </a:bodyPr>
          <a:lstStyle/>
          <a:p>
            <a:pPr marL="0" indent="0" algn="just">
              <a:lnSpc>
                <a:spcPct val="110298"/>
              </a:lnSpc>
              <a:buNone/>
            </a:pPr>
            <a:r>
              <a:rPr lang="en-US" sz="3200" dirty="0">
                <a:solidFill>
                  <a:srgbClr val="303338"/>
                </a:solidFill>
                <a:latin typeface="IBM Plex Sans" pitchFamily="34" charset="0"/>
                <a:ea typeface="IBM Plex Sans" pitchFamily="34" charset="-122"/>
                <a:cs typeface="IBM Plex Sans" pitchFamily="34" charset="-120"/>
              </a:rPr>
              <a:t>Most survival software handles this by discarding the interval or collapsing it to a single imputed time. </a:t>
            </a:r>
            <a:r>
              <a:rPr lang="en-US" sz="3200" b="1" dirty="0">
                <a:solidFill>
                  <a:srgbClr val="303338"/>
                </a:solidFill>
                <a:latin typeface="IBM Plex Sans" pitchFamily="34" charset="0"/>
                <a:ea typeface="IBM Plex Sans" pitchFamily="34" charset="-122"/>
                <a:cs typeface="IBM Plex Sans" pitchFamily="34" charset="-120"/>
              </a:rPr>
              <a:t>survivalMPL </a:t>
            </a:r>
            <a:r>
              <a:rPr lang="en-US" sz="3200" dirty="0">
                <a:solidFill>
                  <a:srgbClr val="303338"/>
                </a:solidFill>
                <a:latin typeface="IBM Plex Sans" pitchFamily="34" charset="0"/>
                <a:ea typeface="IBM Plex Sans" pitchFamily="34" charset="-122"/>
                <a:cs typeface="IBM Plex Sans" pitchFamily="34" charset="-120"/>
              </a:rPr>
              <a:t> fits a Cox model to exact, right-, left- and interval-censored data in one likelihood, with optional delayed entry, and returns a smooth estimate of the baseline hazard rather than a step function.</a:t>
            </a:r>
            <a:endParaRPr lang="en-US" sz="3200" dirty="0"/>
          </a:p>
        </p:txBody>
      </p:sp>
      <p:sp>
        <p:nvSpPr>
          <p:cNvPr id="15" name="Shape 13"/>
          <p:cNvSpPr/>
          <p:nvPr/>
        </p:nvSpPr>
        <p:spPr>
          <a:xfrm>
            <a:off x="15978336" y="7966801"/>
            <a:ext cx="13253889" cy="6949440"/>
          </a:xfrm>
          <a:prstGeom prst="rect">
            <a:avLst/>
          </a:prstGeom>
          <a:solidFill>
            <a:srgbClr val="FDFCF9"/>
          </a:solidFill>
          <a:ln w="28575">
            <a:solidFill>
              <a:srgbClr val="D3D8E0"/>
            </a:solidFill>
            <a:prstDash val="solid"/>
          </a:ln>
        </p:spPr>
        <p:txBody>
          <a:bodyPr/>
          <a:lstStyle/>
          <a:p>
            <a:endParaRPr lang="en-GB"/>
          </a:p>
        </p:txBody>
      </p:sp>
      <p:sp>
        <p:nvSpPr>
          <p:cNvPr id="901" name="Panel title"/>
          <p:cNvSpPr/>
          <p:nvPr/>
        </p:nvSpPr>
        <p:spPr>
          <a:xfrm>
            <a:off x="16445027" y="8395381"/>
            <a:ext cx="13551408" cy="362102"/>
          </a:xfrm>
          <a:prstGeom prst="rect">
            <a:avLst/>
          </a:prstGeom>
          <a:noFill/>
          <a:ln/>
        </p:spPr>
        <p:txBody>
          <a:bodyPr wrap="square" lIns="25420" tIns="25420" rIns="25420" bIns="25420" rtlCol="0" anchor="t">
            <a:normAutofit/>
          </a:bodyPr>
          <a:lstStyle/>
          <a:p>
            <a:pPr marL="0" indent="0" algn="l">
              <a:buNone/>
            </a:pPr>
            <a:r>
              <a:rPr lang="en-GB" sz="1950" kern="0" spc="273" dirty="0">
                <a:solidFill>
                  <a:srgbClr val="606369"/>
                </a:solidFill>
                <a:latin typeface="IBM Plex Mono" pitchFamily="34" charset="0"/>
                <a:ea typeface="IBM Plex Mono" pitchFamily="34" charset="-122"/>
                <a:cs typeface="IBM Plex Mono" pitchFamily="34" charset="-120"/>
              </a:rPr>
              <a:t>OBSERVATION SCHEMES SUPPORTED</a:t>
            </a:r>
          </a:p>
        </p:txBody>
      </p:sp>
      <p:sp>
        <p:nvSpPr>
          <p:cNvPr id="902" name="Shape"/>
          <p:cNvSpPr/>
          <p:nvPr/>
        </p:nvSpPr>
        <p:spPr>
          <a:xfrm>
            <a:off x="16445027" y="9029700"/>
            <a:ext cx="420624" cy="47549"/>
          </a:xfrm>
          <a:prstGeom prst="rect">
            <a:avLst/>
          </a:prstGeom>
          <a:solidFill>
            <a:srgbClr val="025894"/>
          </a:solidFill>
          <a:ln/>
        </p:spPr>
        <p:txBody>
          <a:bodyPr/>
          <a:lstStyle/>
          <a:p>
            <a:endParaRPr lang="en-GB"/>
          </a:p>
        </p:txBody>
      </p:sp>
      <p:sp>
        <p:nvSpPr>
          <p:cNvPr id="903" name="Legend label"/>
          <p:cNvSpPr/>
          <p:nvPr/>
        </p:nvSpPr>
        <p:spPr>
          <a:xfrm>
            <a:off x="17011955"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under observation</a:t>
            </a:r>
          </a:p>
        </p:txBody>
      </p:sp>
      <p:sp>
        <p:nvSpPr>
          <p:cNvPr id="904" name="Shape"/>
          <p:cNvSpPr/>
          <p:nvPr/>
        </p:nvSpPr>
        <p:spPr>
          <a:xfrm>
            <a:off x="19526555" y="8988552"/>
            <a:ext cx="420624" cy="118872"/>
          </a:xfrm>
          <a:prstGeom prst="rect">
            <a:avLst/>
          </a:prstGeom>
          <a:solidFill>
            <a:srgbClr val="EB883B"/>
          </a:solidFill>
          <a:ln/>
        </p:spPr>
        <p:txBody>
          <a:bodyPr/>
          <a:lstStyle/>
          <a:p>
            <a:endParaRPr lang="en-GB"/>
          </a:p>
        </p:txBody>
      </p:sp>
      <p:sp>
        <p:nvSpPr>
          <p:cNvPr id="905" name="Legend label"/>
          <p:cNvSpPr/>
          <p:nvPr/>
        </p:nvSpPr>
        <p:spPr>
          <a:xfrm>
            <a:off x="20093483"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event lies in here</a:t>
            </a:r>
          </a:p>
        </p:txBody>
      </p:sp>
      <p:sp>
        <p:nvSpPr>
          <p:cNvPr id="906" name="Shape"/>
          <p:cNvSpPr/>
          <p:nvPr/>
        </p:nvSpPr>
        <p:spPr>
          <a:xfrm>
            <a:off x="22790963" y="8924544"/>
            <a:ext cx="50292" cy="256032"/>
          </a:xfrm>
          <a:prstGeom prst="rect">
            <a:avLst/>
          </a:prstGeom>
          <a:solidFill>
            <a:srgbClr val="903300"/>
          </a:solidFill>
          <a:ln/>
        </p:spPr>
        <p:txBody>
          <a:bodyPr/>
          <a:lstStyle/>
          <a:p>
            <a:endParaRPr lang="en-GB"/>
          </a:p>
        </p:txBody>
      </p:sp>
      <p:sp>
        <p:nvSpPr>
          <p:cNvPr id="907" name="Legend label"/>
          <p:cNvSpPr/>
          <p:nvPr/>
        </p:nvSpPr>
        <p:spPr>
          <a:xfrm>
            <a:off x="23175011"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assessment visit</a:t>
            </a:r>
          </a:p>
        </p:txBody>
      </p:sp>
      <p:sp>
        <p:nvSpPr>
          <p:cNvPr id="908" name="Shape"/>
          <p:cNvSpPr/>
          <p:nvPr/>
        </p:nvSpPr>
        <p:spPr>
          <a:xfrm>
            <a:off x="25817627" y="8970264"/>
            <a:ext cx="169164" cy="169164"/>
          </a:xfrm>
          <a:prstGeom prst="ellipse">
            <a:avLst/>
          </a:prstGeom>
          <a:solidFill>
            <a:srgbClr val="903300"/>
          </a:solidFill>
          <a:ln/>
        </p:spPr>
        <p:txBody>
          <a:bodyPr/>
          <a:lstStyle/>
          <a:p>
            <a:endParaRPr lang="en-GB"/>
          </a:p>
        </p:txBody>
      </p:sp>
      <p:sp>
        <p:nvSpPr>
          <p:cNvPr id="909" name="Legend label"/>
          <p:cNvSpPr/>
          <p:nvPr/>
        </p:nvSpPr>
        <p:spPr>
          <a:xfrm>
            <a:off x="26256539" y="8869680"/>
            <a:ext cx="2468880" cy="365760"/>
          </a:xfrm>
          <a:prstGeom prst="rect">
            <a:avLst/>
          </a:prstGeom>
          <a:noFill/>
          <a:ln/>
        </p:spPr>
        <p:txBody>
          <a:bodyPr wrap="square" lIns="25420" tIns="25420" rIns="25420" bIns="25420" rtlCol="0" anchor="t">
            <a:normAutofit/>
          </a:bodyPr>
          <a:lstStyle/>
          <a:p>
            <a:pPr marL="0" indent="0" algn="l">
              <a:buNone/>
            </a:pPr>
            <a:r>
              <a:rPr lang="en-GB" sz="1700" kern="0" dirty="0">
                <a:solidFill>
                  <a:srgbClr val="606369"/>
                </a:solidFill>
                <a:latin typeface="IBM Plex Mono" pitchFamily="34" charset="0"/>
                <a:ea typeface="IBM Plex Mono" pitchFamily="34" charset="-122"/>
                <a:cs typeface="IBM Plex Mono" pitchFamily="34" charset="-120"/>
              </a:rPr>
              <a:t>exact event time</a:t>
            </a:r>
          </a:p>
        </p:txBody>
      </p:sp>
      <p:sp>
        <p:nvSpPr>
          <p:cNvPr id="910" name="Row label"/>
          <p:cNvSpPr/>
          <p:nvPr/>
        </p:nvSpPr>
        <p:spPr>
          <a:xfrm>
            <a:off x="16445027" y="9436608"/>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Exact event</a:t>
            </a:r>
          </a:p>
        </p:txBody>
      </p:sp>
      <p:sp>
        <p:nvSpPr>
          <p:cNvPr id="912" name="Timescale"/>
          <p:cNvSpPr/>
          <p:nvPr/>
        </p:nvSpPr>
        <p:spPr>
          <a:xfrm>
            <a:off x="16445027" y="10204704"/>
            <a:ext cx="12320443" cy="47549"/>
          </a:xfrm>
          <a:prstGeom prst="rect">
            <a:avLst/>
          </a:prstGeom>
          <a:solidFill>
            <a:srgbClr val="CCD1D9"/>
          </a:solidFill>
          <a:ln/>
        </p:spPr>
        <p:txBody>
          <a:bodyPr/>
          <a:lstStyle/>
          <a:p>
            <a:endParaRPr lang="en-GB"/>
          </a:p>
        </p:txBody>
      </p:sp>
      <p:sp>
        <p:nvSpPr>
          <p:cNvPr id="913" name="Shape"/>
          <p:cNvSpPr/>
          <p:nvPr/>
        </p:nvSpPr>
        <p:spPr>
          <a:xfrm>
            <a:off x="16445027" y="10204704"/>
            <a:ext cx="6406630" cy="47549"/>
          </a:xfrm>
          <a:prstGeom prst="rect">
            <a:avLst/>
          </a:prstGeom>
          <a:solidFill>
            <a:srgbClr val="025894"/>
          </a:solidFill>
          <a:ln/>
        </p:spPr>
        <p:txBody>
          <a:bodyPr/>
          <a:lstStyle/>
          <a:p>
            <a:endParaRPr lang="en-GB"/>
          </a:p>
        </p:txBody>
      </p:sp>
      <p:sp>
        <p:nvSpPr>
          <p:cNvPr id="914" name="Shape"/>
          <p:cNvSpPr/>
          <p:nvPr/>
        </p:nvSpPr>
        <p:spPr>
          <a:xfrm>
            <a:off x="22767075" y="10143896"/>
            <a:ext cx="169164" cy="169164"/>
          </a:xfrm>
          <a:prstGeom prst="ellipse">
            <a:avLst/>
          </a:prstGeom>
          <a:solidFill>
            <a:srgbClr val="903300"/>
          </a:solidFill>
          <a:ln/>
        </p:spPr>
        <p:txBody>
          <a:bodyPr/>
          <a:lstStyle/>
          <a:p>
            <a:endParaRPr lang="en-GB"/>
          </a:p>
        </p:txBody>
      </p:sp>
      <p:sp>
        <p:nvSpPr>
          <p:cNvPr id="915" name="Row annotation"/>
          <p:cNvSpPr/>
          <p:nvPr/>
        </p:nvSpPr>
        <p:spPr>
          <a:xfrm>
            <a:off x="21617217" y="9802368"/>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event time recorded</a:t>
            </a:r>
          </a:p>
        </p:txBody>
      </p:sp>
      <p:sp>
        <p:nvSpPr>
          <p:cNvPr id="916" name="Row label"/>
          <p:cNvSpPr/>
          <p:nvPr/>
        </p:nvSpPr>
        <p:spPr>
          <a:xfrm>
            <a:off x="16445027" y="10492740"/>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Right censored</a:t>
            </a:r>
          </a:p>
        </p:txBody>
      </p:sp>
      <p:sp>
        <p:nvSpPr>
          <p:cNvPr id="918" name="Timescale"/>
          <p:cNvSpPr/>
          <p:nvPr/>
        </p:nvSpPr>
        <p:spPr>
          <a:xfrm>
            <a:off x="16445027" y="11260836"/>
            <a:ext cx="12320443" cy="47549"/>
          </a:xfrm>
          <a:prstGeom prst="rect">
            <a:avLst/>
          </a:prstGeom>
          <a:solidFill>
            <a:srgbClr val="CCD1D9"/>
          </a:solidFill>
          <a:ln/>
        </p:spPr>
        <p:txBody>
          <a:bodyPr/>
          <a:lstStyle/>
          <a:p>
            <a:endParaRPr lang="en-GB"/>
          </a:p>
        </p:txBody>
      </p:sp>
      <p:sp>
        <p:nvSpPr>
          <p:cNvPr id="919" name="Shape"/>
          <p:cNvSpPr/>
          <p:nvPr/>
        </p:nvSpPr>
        <p:spPr>
          <a:xfrm>
            <a:off x="16445027" y="11260836"/>
            <a:ext cx="6406630" cy="47549"/>
          </a:xfrm>
          <a:prstGeom prst="rect">
            <a:avLst/>
          </a:prstGeom>
          <a:solidFill>
            <a:srgbClr val="025894"/>
          </a:solidFill>
          <a:ln/>
        </p:spPr>
        <p:txBody>
          <a:bodyPr/>
          <a:lstStyle/>
          <a:p>
            <a:endParaRPr lang="en-GB"/>
          </a:p>
        </p:txBody>
      </p:sp>
      <p:sp>
        <p:nvSpPr>
          <p:cNvPr id="920" name="Shape"/>
          <p:cNvSpPr/>
          <p:nvPr/>
        </p:nvSpPr>
        <p:spPr>
          <a:xfrm>
            <a:off x="22851657" y="11219688"/>
            <a:ext cx="5913813" cy="128016"/>
          </a:xfrm>
          <a:prstGeom prst="rect">
            <a:avLst/>
          </a:prstGeom>
          <a:solidFill>
            <a:srgbClr val="EB883B"/>
          </a:solidFill>
          <a:ln/>
        </p:spPr>
        <p:txBody>
          <a:bodyPr/>
          <a:lstStyle/>
          <a:p>
            <a:endParaRPr lang="en-GB"/>
          </a:p>
        </p:txBody>
      </p:sp>
      <p:sp>
        <p:nvSpPr>
          <p:cNvPr id="921" name="Shape"/>
          <p:cNvSpPr/>
          <p:nvPr/>
        </p:nvSpPr>
        <p:spPr>
          <a:xfrm>
            <a:off x="22826511" y="11096244"/>
            <a:ext cx="50292" cy="310896"/>
          </a:xfrm>
          <a:prstGeom prst="rect">
            <a:avLst/>
          </a:prstGeom>
          <a:solidFill>
            <a:srgbClr val="903300"/>
          </a:solidFill>
          <a:ln/>
        </p:spPr>
        <p:txBody>
          <a:bodyPr/>
          <a:lstStyle/>
          <a:p>
            <a:endParaRPr lang="en-GB"/>
          </a:p>
        </p:txBody>
      </p:sp>
      <p:sp>
        <p:nvSpPr>
          <p:cNvPr id="922" name="Row annotation"/>
          <p:cNvSpPr/>
          <p:nvPr/>
        </p:nvSpPr>
        <p:spPr>
          <a:xfrm>
            <a:off x="21617217" y="10858500"/>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last contact</a:t>
            </a:r>
          </a:p>
        </p:txBody>
      </p:sp>
      <p:sp>
        <p:nvSpPr>
          <p:cNvPr id="923" name="Row label"/>
          <p:cNvSpPr/>
          <p:nvPr/>
        </p:nvSpPr>
        <p:spPr>
          <a:xfrm>
            <a:off x="16445027" y="11548872"/>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Left censored</a:t>
            </a:r>
          </a:p>
        </p:txBody>
      </p:sp>
      <p:sp>
        <p:nvSpPr>
          <p:cNvPr id="925" name="Timescale"/>
          <p:cNvSpPr/>
          <p:nvPr/>
        </p:nvSpPr>
        <p:spPr>
          <a:xfrm>
            <a:off x="16445027" y="12316968"/>
            <a:ext cx="12320443" cy="47549"/>
          </a:xfrm>
          <a:prstGeom prst="rect">
            <a:avLst/>
          </a:prstGeom>
          <a:solidFill>
            <a:srgbClr val="CCD1D9"/>
          </a:solidFill>
          <a:ln/>
        </p:spPr>
        <p:txBody>
          <a:bodyPr/>
          <a:lstStyle/>
          <a:p>
            <a:endParaRPr lang="en-GB"/>
          </a:p>
        </p:txBody>
      </p:sp>
      <p:sp>
        <p:nvSpPr>
          <p:cNvPr id="926" name="Shape"/>
          <p:cNvSpPr/>
          <p:nvPr/>
        </p:nvSpPr>
        <p:spPr>
          <a:xfrm>
            <a:off x="16445027" y="12275820"/>
            <a:ext cx="3449724" cy="128016"/>
          </a:xfrm>
          <a:prstGeom prst="rect">
            <a:avLst/>
          </a:prstGeom>
          <a:solidFill>
            <a:srgbClr val="EB883B"/>
          </a:solidFill>
          <a:ln/>
        </p:spPr>
        <p:txBody>
          <a:bodyPr/>
          <a:lstStyle/>
          <a:p>
            <a:endParaRPr lang="en-GB"/>
          </a:p>
        </p:txBody>
      </p:sp>
      <p:sp>
        <p:nvSpPr>
          <p:cNvPr id="927" name="Shape"/>
          <p:cNvSpPr/>
          <p:nvPr/>
        </p:nvSpPr>
        <p:spPr>
          <a:xfrm>
            <a:off x="19869605" y="12152376"/>
            <a:ext cx="50292" cy="310896"/>
          </a:xfrm>
          <a:prstGeom prst="rect">
            <a:avLst/>
          </a:prstGeom>
          <a:solidFill>
            <a:srgbClr val="903300"/>
          </a:solidFill>
          <a:ln/>
        </p:spPr>
        <p:txBody>
          <a:bodyPr/>
          <a:lstStyle/>
          <a:p>
            <a:endParaRPr lang="en-GB"/>
          </a:p>
        </p:txBody>
      </p:sp>
      <p:sp>
        <p:nvSpPr>
          <p:cNvPr id="928" name="Row annotation"/>
          <p:cNvSpPr/>
          <p:nvPr/>
        </p:nvSpPr>
        <p:spPr>
          <a:xfrm>
            <a:off x="18660311" y="11914632"/>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first assessment</a:t>
            </a:r>
          </a:p>
        </p:txBody>
      </p:sp>
      <p:sp>
        <p:nvSpPr>
          <p:cNvPr id="929" name="Row label"/>
          <p:cNvSpPr/>
          <p:nvPr/>
        </p:nvSpPr>
        <p:spPr>
          <a:xfrm>
            <a:off x="16445027" y="12605004"/>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Interval censored</a:t>
            </a:r>
          </a:p>
        </p:txBody>
      </p:sp>
      <p:sp>
        <p:nvSpPr>
          <p:cNvPr id="931" name="Timescale"/>
          <p:cNvSpPr/>
          <p:nvPr/>
        </p:nvSpPr>
        <p:spPr>
          <a:xfrm>
            <a:off x="16445027" y="13373100"/>
            <a:ext cx="12320443" cy="47549"/>
          </a:xfrm>
          <a:prstGeom prst="rect">
            <a:avLst/>
          </a:prstGeom>
          <a:solidFill>
            <a:srgbClr val="CCD1D9"/>
          </a:solidFill>
          <a:ln/>
        </p:spPr>
        <p:txBody>
          <a:bodyPr/>
          <a:lstStyle/>
          <a:p>
            <a:endParaRPr lang="en-GB"/>
          </a:p>
        </p:txBody>
      </p:sp>
      <p:sp>
        <p:nvSpPr>
          <p:cNvPr id="932" name="Shape"/>
          <p:cNvSpPr/>
          <p:nvPr/>
        </p:nvSpPr>
        <p:spPr>
          <a:xfrm>
            <a:off x="16445027" y="13373100"/>
            <a:ext cx="4435359" cy="47549"/>
          </a:xfrm>
          <a:prstGeom prst="rect">
            <a:avLst/>
          </a:prstGeom>
          <a:solidFill>
            <a:srgbClr val="025894"/>
          </a:solidFill>
          <a:ln/>
        </p:spPr>
        <p:txBody>
          <a:bodyPr/>
          <a:lstStyle/>
          <a:p>
            <a:endParaRPr lang="en-GB"/>
          </a:p>
        </p:txBody>
      </p:sp>
      <p:sp>
        <p:nvSpPr>
          <p:cNvPr id="933" name="Shape"/>
          <p:cNvSpPr/>
          <p:nvPr/>
        </p:nvSpPr>
        <p:spPr>
          <a:xfrm>
            <a:off x="20880386" y="13331952"/>
            <a:ext cx="4188951" cy="128016"/>
          </a:xfrm>
          <a:prstGeom prst="rect">
            <a:avLst/>
          </a:prstGeom>
          <a:solidFill>
            <a:srgbClr val="EB883B"/>
          </a:solidFill>
          <a:ln/>
        </p:spPr>
        <p:txBody>
          <a:bodyPr/>
          <a:lstStyle/>
          <a:p>
            <a:endParaRPr lang="en-GB"/>
          </a:p>
        </p:txBody>
      </p:sp>
      <p:sp>
        <p:nvSpPr>
          <p:cNvPr id="934" name="Shape"/>
          <p:cNvSpPr/>
          <p:nvPr/>
        </p:nvSpPr>
        <p:spPr>
          <a:xfrm>
            <a:off x="20855240" y="13208508"/>
            <a:ext cx="50292" cy="310896"/>
          </a:xfrm>
          <a:prstGeom prst="rect">
            <a:avLst/>
          </a:prstGeom>
          <a:solidFill>
            <a:srgbClr val="903300"/>
          </a:solidFill>
          <a:ln/>
        </p:spPr>
        <p:txBody>
          <a:bodyPr/>
          <a:lstStyle/>
          <a:p>
            <a:endParaRPr lang="en-GB"/>
          </a:p>
        </p:txBody>
      </p:sp>
      <p:sp>
        <p:nvSpPr>
          <p:cNvPr id="935" name="Shape"/>
          <p:cNvSpPr/>
          <p:nvPr/>
        </p:nvSpPr>
        <p:spPr>
          <a:xfrm>
            <a:off x="25044191" y="13208508"/>
            <a:ext cx="50292" cy="310896"/>
          </a:xfrm>
          <a:prstGeom prst="rect">
            <a:avLst/>
          </a:prstGeom>
          <a:solidFill>
            <a:srgbClr val="903300"/>
          </a:solidFill>
          <a:ln/>
        </p:spPr>
        <p:txBody>
          <a:bodyPr/>
          <a:lstStyle/>
          <a:p>
            <a:endParaRPr lang="en-GB"/>
          </a:p>
        </p:txBody>
      </p:sp>
      <p:sp>
        <p:nvSpPr>
          <p:cNvPr id="936" name="Row annotation"/>
          <p:cNvSpPr/>
          <p:nvPr/>
        </p:nvSpPr>
        <p:spPr>
          <a:xfrm>
            <a:off x="19645946" y="12970764"/>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visit k</a:t>
            </a:r>
          </a:p>
        </p:txBody>
      </p:sp>
      <p:sp>
        <p:nvSpPr>
          <p:cNvPr id="937" name="Row annotation"/>
          <p:cNvSpPr/>
          <p:nvPr/>
        </p:nvSpPr>
        <p:spPr>
          <a:xfrm>
            <a:off x="23834897" y="12970764"/>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visit k+1</a:t>
            </a:r>
          </a:p>
        </p:txBody>
      </p:sp>
      <p:sp>
        <p:nvSpPr>
          <p:cNvPr id="938" name="Row label"/>
          <p:cNvSpPr/>
          <p:nvPr/>
        </p:nvSpPr>
        <p:spPr>
          <a:xfrm>
            <a:off x="16445027" y="13661136"/>
            <a:ext cx="8229600" cy="420624"/>
          </a:xfrm>
          <a:prstGeom prst="rect">
            <a:avLst/>
          </a:prstGeom>
          <a:noFill/>
          <a:ln/>
        </p:spPr>
        <p:txBody>
          <a:bodyPr wrap="square" lIns="25420" tIns="25420" rIns="25420" bIns="25420" rtlCol="0" anchor="t">
            <a:normAutofit lnSpcReduction="10000"/>
          </a:bodyPr>
          <a:lstStyle/>
          <a:p>
            <a:pPr marL="0" indent="0" algn="l">
              <a:buNone/>
            </a:pPr>
            <a:r>
              <a:rPr lang="en-GB" sz="2550" b="1" kern="0" dirty="0">
                <a:solidFill>
                  <a:srgbClr val="121417"/>
                </a:solidFill>
                <a:latin typeface="IBM Plex Sans" pitchFamily="34" charset="0"/>
                <a:ea typeface="IBM Plex Sans" pitchFamily="34" charset="-122"/>
                <a:cs typeface="IBM Plex Sans" pitchFamily="34" charset="-120"/>
              </a:rPr>
              <a:t>Left truncated</a:t>
            </a:r>
          </a:p>
        </p:txBody>
      </p:sp>
      <p:sp>
        <p:nvSpPr>
          <p:cNvPr id="940" name="Timescale"/>
          <p:cNvSpPr/>
          <p:nvPr/>
        </p:nvSpPr>
        <p:spPr>
          <a:xfrm>
            <a:off x="16445027" y="14429232"/>
            <a:ext cx="12320443" cy="47549"/>
          </a:xfrm>
          <a:prstGeom prst="rect">
            <a:avLst/>
          </a:prstGeom>
          <a:solidFill>
            <a:srgbClr val="CCD1D9"/>
          </a:solidFill>
          <a:ln/>
        </p:spPr>
        <p:txBody>
          <a:bodyPr/>
          <a:lstStyle/>
          <a:p>
            <a:endParaRPr lang="en-GB"/>
          </a:p>
        </p:txBody>
      </p:sp>
      <p:sp>
        <p:nvSpPr>
          <p:cNvPr id="941" name="Shape"/>
          <p:cNvSpPr/>
          <p:nvPr/>
        </p:nvSpPr>
        <p:spPr>
          <a:xfrm>
            <a:off x="19401933" y="14429232"/>
            <a:ext cx="9363536" cy="47549"/>
          </a:xfrm>
          <a:prstGeom prst="rect">
            <a:avLst/>
          </a:prstGeom>
          <a:solidFill>
            <a:srgbClr val="025894"/>
          </a:solidFill>
          <a:ln/>
        </p:spPr>
        <p:txBody>
          <a:bodyPr/>
          <a:lstStyle/>
          <a:p>
            <a:endParaRPr lang="en-GB"/>
          </a:p>
        </p:txBody>
      </p:sp>
      <p:sp>
        <p:nvSpPr>
          <p:cNvPr id="942" name="Shape"/>
          <p:cNvSpPr/>
          <p:nvPr/>
        </p:nvSpPr>
        <p:spPr>
          <a:xfrm>
            <a:off x="19376787" y="14264640"/>
            <a:ext cx="50292" cy="310896"/>
          </a:xfrm>
          <a:prstGeom prst="rect">
            <a:avLst/>
          </a:prstGeom>
          <a:solidFill>
            <a:srgbClr val="903300"/>
          </a:solidFill>
          <a:ln/>
        </p:spPr>
        <p:txBody>
          <a:bodyPr/>
          <a:lstStyle/>
          <a:p>
            <a:endParaRPr lang="en-GB"/>
          </a:p>
        </p:txBody>
      </p:sp>
      <p:sp>
        <p:nvSpPr>
          <p:cNvPr id="943" name="Row annotation"/>
          <p:cNvSpPr/>
          <p:nvPr/>
        </p:nvSpPr>
        <p:spPr>
          <a:xfrm>
            <a:off x="18167493" y="14026896"/>
            <a:ext cx="2468880" cy="292608"/>
          </a:xfrm>
          <a:prstGeom prst="rect">
            <a:avLst/>
          </a:prstGeom>
          <a:noFill/>
          <a:ln/>
        </p:spPr>
        <p:txBody>
          <a:bodyPr wrap="square" lIns="25420" tIns="25420" rIns="25420" bIns="25420" rtlCol="0" anchor="t">
            <a:normAutofit lnSpcReduction="10000"/>
          </a:bodyPr>
          <a:lstStyle/>
          <a:p>
            <a:pPr marL="0" indent="0" algn="ctr">
              <a:buNone/>
            </a:pPr>
            <a:r>
              <a:rPr lang="en-GB" sz="1650" kern="0" dirty="0">
                <a:solidFill>
                  <a:srgbClr val="606369"/>
                </a:solidFill>
                <a:latin typeface="IBM Plex Mono" pitchFamily="34" charset="0"/>
                <a:ea typeface="IBM Plex Mono" pitchFamily="34" charset="-122"/>
                <a:cs typeface="IBM Plex Mono" pitchFamily="34" charset="-120"/>
              </a:rPr>
              <a:t>delayed entry</a:t>
            </a:r>
          </a:p>
        </p:txBody>
      </p:sp>
      <p:sp>
        <p:nvSpPr>
          <p:cNvPr id="41" name="Shape 39"/>
          <p:cNvSpPr/>
          <p:nvPr/>
        </p:nvSpPr>
        <p:spPr>
          <a:xfrm>
            <a:off x="1047750" y="15100995"/>
            <a:ext cx="28184475" cy="2322016"/>
          </a:xfrm>
          <a:prstGeom prst="rect">
            <a:avLst/>
          </a:prstGeom>
          <a:solidFill>
            <a:srgbClr val="003A66"/>
          </a:solidFill>
          <a:ln/>
        </p:spPr>
        <p:txBody>
          <a:bodyPr/>
          <a:lstStyle/>
          <a:p>
            <a:endParaRPr lang="en-GB"/>
          </a:p>
        </p:txBody>
      </p:sp>
      <p:sp>
        <p:nvSpPr>
          <p:cNvPr id="42" name="Shape 40"/>
          <p:cNvSpPr/>
          <p:nvPr/>
        </p:nvSpPr>
        <p:spPr>
          <a:xfrm>
            <a:off x="8065294" y="15100995"/>
            <a:ext cx="28575" cy="2322016"/>
          </a:xfrm>
          <a:prstGeom prst="rect">
            <a:avLst/>
          </a:prstGeom>
          <a:solidFill>
            <a:srgbClr val="245682"/>
          </a:solidFill>
          <a:ln/>
        </p:spPr>
        <p:txBody>
          <a:bodyPr/>
          <a:lstStyle/>
          <a:p>
            <a:endParaRPr lang="en-GB"/>
          </a:p>
        </p:txBody>
      </p:sp>
      <p:sp>
        <p:nvSpPr>
          <p:cNvPr id="43" name="Text 41"/>
          <p:cNvSpPr/>
          <p:nvPr/>
        </p:nvSpPr>
        <p:spPr>
          <a:xfrm>
            <a:off x="1466850"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4</a:t>
            </a:r>
            <a:endParaRPr lang="en-US" sz="8850" dirty="0"/>
          </a:p>
        </p:txBody>
      </p:sp>
      <p:sp>
        <p:nvSpPr>
          <p:cNvPr id="44" name="Text 42"/>
          <p:cNvSpPr/>
          <p:nvPr/>
        </p:nvSpPr>
        <p:spPr>
          <a:xfrm>
            <a:off x="1466850"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basis families for the baseline hazard</a:t>
            </a:r>
            <a:endParaRPr lang="en-US" sz="2400" dirty="0"/>
          </a:p>
        </p:txBody>
      </p:sp>
      <p:sp>
        <p:nvSpPr>
          <p:cNvPr id="45" name="Shape 43"/>
          <p:cNvSpPr/>
          <p:nvPr/>
        </p:nvSpPr>
        <p:spPr>
          <a:xfrm>
            <a:off x="15111413" y="15100995"/>
            <a:ext cx="28575" cy="2322016"/>
          </a:xfrm>
          <a:prstGeom prst="rect">
            <a:avLst/>
          </a:prstGeom>
          <a:solidFill>
            <a:srgbClr val="245682"/>
          </a:solidFill>
          <a:ln/>
        </p:spPr>
        <p:txBody>
          <a:bodyPr/>
          <a:lstStyle/>
          <a:p>
            <a:endParaRPr lang="en-GB"/>
          </a:p>
        </p:txBody>
      </p:sp>
      <p:sp>
        <p:nvSpPr>
          <p:cNvPr id="46" name="Text 44"/>
          <p:cNvSpPr/>
          <p:nvPr/>
        </p:nvSpPr>
        <p:spPr>
          <a:xfrm>
            <a:off x="8512969"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5</a:t>
            </a:r>
            <a:endParaRPr lang="en-US" sz="8850" dirty="0"/>
          </a:p>
        </p:txBody>
      </p:sp>
      <p:sp>
        <p:nvSpPr>
          <p:cNvPr id="47" name="Text 45"/>
          <p:cNvSpPr/>
          <p:nvPr/>
        </p:nvSpPr>
        <p:spPr>
          <a:xfrm>
            <a:off x="8512969"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observation schemes, one likelihood</a:t>
            </a:r>
            <a:endParaRPr lang="en-US" sz="2400" dirty="0"/>
          </a:p>
        </p:txBody>
      </p:sp>
      <p:sp>
        <p:nvSpPr>
          <p:cNvPr id="48" name="Shape 46"/>
          <p:cNvSpPr/>
          <p:nvPr/>
        </p:nvSpPr>
        <p:spPr>
          <a:xfrm>
            <a:off x="22157531" y="15100995"/>
            <a:ext cx="28575" cy="2322016"/>
          </a:xfrm>
          <a:prstGeom prst="rect">
            <a:avLst/>
          </a:prstGeom>
          <a:solidFill>
            <a:srgbClr val="245682"/>
          </a:solidFill>
          <a:ln/>
        </p:spPr>
        <p:txBody>
          <a:bodyPr/>
          <a:lstStyle/>
          <a:p>
            <a:endParaRPr lang="en-GB"/>
          </a:p>
        </p:txBody>
      </p:sp>
      <p:sp>
        <p:nvSpPr>
          <p:cNvPr id="49" name="Text 47"/>
          <p:cNvSpPr/>
          <p:nvPr/>
        </p:nvSpPr>
        <p:spPr>
          <a:xfrm>
            <a:off x="15559088" y="15520095"/>
            <a:ext cx="6797278"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6</a:t>
            </a:r>
            <a:endParaRPr lang="en-US" sz="8850" dirty="0"/>
          </a:p>
        </p:txBody>
      </p:sp>
      <p:sp>
        <p:nvSpPr>
          <p:cNvPr id="50" name="Text 48"/>
          <p:cNvSpPr/>
          <p:nvPr/>
        </p:nvSpPr>
        <p:spPr>
          <a:xfrm>
            <a:off x="15559088" y="16607730"/>
            <a:ext cx="6797278"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S3 methods for fitted objects</a:t>
            </a:r>
            <a:endParaRPr lang="en-US" sz="2400" dirty="0"/>
          </a:p>
        </p:txBody>
      </p:sp>
      <p:sp>
        <p:nvSpPr>
          <p:cNvPr id="51" name="Text 49"/>
          <p:cNvSpPr/>
          <p:nvPr/>
        </p:nvSpPr>
        <p:spPr>
          <a:xfrm>
            <a:off x="22605206" y="15520095"/>
            <a:ext cx="6828711" cy="1049536"/>
          </a:xfrm>
          <a:prstGeom prst="rect">
            <a:avLst/>
          </a:prstGeom>
          <a:noFill/>
          <a:ln/>
        </p:spPr>
        <p:txBody>
          <a:bodyPr wrap="square" lIns="25400" tIns="25400" rIns="25400" bIns="25400" rtlCol="0" anchor="t">
            <a:normAutofit fontScale="92500" lnSpcReduction="10000"/>
          </a:bodyPr>
          <a:lstStyle/>
          <a:p>
            <a:pPr marL="0" indent="0" algn="l">
              <a:lnSpc>
                <a:spcPct val="82326"/>
              </a:lnSpc>
              <a:buNone/>
            </a:pPr>
            <a:r>
              <a:rPr lang="en-US" sz="8850" b="1" kern="0" spc="-354" dirty="0">
                <a:solidFill>
                  <a:srgbClr val="F0F6FC"/>
                </a:solidFill>
                <a:latin typeface="Archivo" pitchFamily="34" charset="0"/>
                <a:ea typeface="Archivo" pitchFamily="34" charset="-122"/>
                <a:cs typeface="Archivo" pitchFamily="34" charset="-120"/>
              </a:rPr>
              <a:t>7</a:t>
            </a:r>
            <a:endParaRPr lang="en-US" sz="8850" dirty="0"/>
          </a:p>
        </p:txBody>
      </p:sp>
      <p:sp>
        <p:nvSpPr>
          <p:cNvPr id="52" name="Text 50"/>
          <p:cNvSpPr/>
          <p:nvPr/>
        </p:nvSpPr>
        <p:spPr>
          <a:xfrm>
            <a:off x="22605206" y="16607730"/>
            <a:ext cx="6828711" cy="434280"/>
          </a:xfrm>
          <a:prstGeom prst="rect">
            <a:avLst/>
          </a:prstGeom>
          <a:noFill/>
          <a:ln/>
        </p:spPr>
        <p:txBody>
          <a:bodyPr wrap="square" lIns="25400" tIns="25400" rIns="25400" bIns="25400" rtlCol="0" anchor="t">
            <a:normAutofit/>
          </a:bodyPr>
          <a:lstStyle/>
          <a:p>
            <a:pPr marL="0" indent="0" algn="l">
              <a:lnSpc>
                <a:spcPct val="99048"/>
              </a:lnSpc>
              <a:buNone/>
            </a:pPr>
            <a:r>
              <a:rPr lang="en-US" sz="2400" dirty="0">
                <a:solidFill>
                  <a:srgbClr val="C2D3E4"/>
                </a:solidFill>
                <a:latin typeface="IBM Plex Sans" pitchFamily="34" charset="0"/>
                <a:ea typeface="IBM Plex Sans" pitchFamily="34" charset="-122"/>
                <a:cs typeface="IBM Plex Sans" pitchFamily="34" charset="-120"/>
              </a:rPr>
              <a:t>worked tutorials on the docs site</a:t>
            </a:r>
            <a:endParaRPr lang="en-US" sz="2400" dirty="0"/>
          </a:p>
        </p:txBody>
      </p:sp>
      <p:sp>
        <p:nvSpPr>
          <p:cNvPr id="53" name="Text 51"/>
          <p:cNvSpPr/>
          <p:nvPr/>
        </p:nvSpPr>
        <p:spPr>
          <a:xfrm>
            <a:off x="1047750" y="18013561"/>
            <a:ext cx="14030027"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ARCHITECTURE</a:t>
            </a:r>
            <a:endParaRPr lang="en-US" sz="2100" dirty="0"/>
          </a:p>
        </p:txBody>
      </p:sp>
      <p:sp>
        <p:nvSpPr>
          <p:cNvPr id="54" name="Text 52"/>
          <p:cNvSpPr/>
          <p:nvPr/>
        </p:nvSpPr>
        <p:spPr>
          <a:xfrm>
            <a:off x="1047750" y="18632686"/>
            <a:ext cx="14030027"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Four separated stages, one stable user-facing API.</a:t>
            </a:r>
            <a:endParaRPr lang="en-US" sz="3450" dirty="0"/>
          </a:p>
        </p:txBody>
      </p:sp>
      <p:sp>
        <p:nvSpPr>
          <p:cNvPr id="55" name="Shape 53"/>
          <p:cNvSpPr/>
          <p:nvPr/>
        </p:nvSpPr>
        <p:spPr>
          <a:xfrm>
            <a:off x="1047750" y="19416266"/>
            <a:ext cx="12754570" cy="1285875"/>
          </a:xfrm>
          <a:prstGeom prst="rect">
            <a:avLst/>
          </a:prstGeom>
          <a:solidFill>
            <a:srgbClr val="FDFCF9"/>
          </a:solidFill>
          <a:ln/>
        </p:spPr>
        <p:txBody>
          <a:bodyPr/>
          <a:lstStyle/>
          <a:p>
            <a:endParaRPr lang="en-GB"/>
          </a:p>
        </p:txBody>
      </p:sp>
      <p:sp>
        <p:nvSpPr>
          <p:cNvPr id="56" name="Shape 54"/>
          <p:cNvSpPr/>
          <p:nvPr/>
        </p:nvSpPr>
        <p:spPr>
          <a:xfrm>
            <a:off x="1047750" y="20673566"/>
            <a:ext cx="12754570" cy="28575"/>
          </a:xfrm>
          <a:prstGeom prst="rect">
            <a:avLst/>
          </a:prstGeom>
          <a:solidFill>
            <a:srgbClr val="D3D8E0"/>
          </a:solidFill>
          <a:ln/>
        </p:spPr>
        <p:txBody>
          <a:bodyPr/>
          <a:lstStyle/>
          <a:p>
            <a:endParaRPr lang="en-GB"/>
          </a:p>
        </p:txBody>
      </p:sp>
      <p:sp>
        <p:nvSpPr>
          <p:cNvPr id="57" name="Shape 55"/>
          <p:cNvSpPr/>
          <p:nvPr/>
        </p:nvSpPr>
        <p:spPr>
          <a:xfrm>
            <a:off x="1047750" y="19416266"/>
            <a:ext cx="12754570" cy="28575"/>
          </a:xfrm>
          <a:prstGeom prst="rect">
            <a:avLst/>
          </a:prstGeom>
          <a:solidFill>
            <a:srgbClr val="D3D8E0"/>
          </a:solidFill>
          <a:ln/>
        </p:spPr>
        <p:txBody>
          <a:bodyPr/>
          <a:lstStyle/>
          <a:p>
            <a:endParaRPr lang="en-GB"/>
          </a:p>
        </p:txBody>
      </p:sp>
      <p:sp>
        <p:nvSpPr>
          <p:cNvPr id="58" name="Shape 56"/>
          <p:cNvSpPr/>
          <p:nvPr/>
        </p:nvSpPr>
        <p:spPr>
          <a:xfrm>
            <a:off x="1047750" y="19416266"/>
            <a:ext cx="114300" cy="1285875"/>
          </a:xfrm>
          <a:prstGeom prst="rect">
            <a:avLst/>
          </a:prstGeom>
          <a:solidFill>
            <a:srgbClr val="025894"/>
          </a:solidFill>
          <a:ln/>
        </p:spPr>
        <p:txBody>
          <a:bodyPr/>
          <a:lstStyle/>
          <a:p>
            <a:endParaRPr lang="en-GB"/>
          </a:p>
        </p:txBody>
      </p:sp>
      <p:sp>
        <p:nvSpPr>
          <p:cNvPr id="59" name="Shape 57"/>
          <p:cNvSpPr/>
          <p:nvPr/>
        </p:nvSpPr>
        <p:spPr>
          <a:xfrm>
            <a:off x="13773745" y="19416266"/>
            <a:ext cx="28575" cy="1285875"/>
          </a:xfrm>
          <a:prstGeom prst="rect">
            <a:avLst/>
          </a:prstGeom>
          <a:solidFill>
            <a:srgbClr val="D3D8E0"/>
          </a:solidFill>
          <a:ln/>
        </p:spPr>
        <p:txBody>
          <a:bodyPr/>
          <a:lstStyle/>
          <a:p>
            <a:endParaRPr lang="en-GB"/>
          </a:p>
        </p:txBody>
      </p:sp>
      <p:sp>
        <p:nvSpPr>
          <p:cNvPr id="60" name="Text 58"/>
          <p:cNvSpPr/>
          <p:nvPr/>
        </p:nvSpPr>
        <p:spPr>
          <a:xfrm>
            <a:off x="1447800" y="19654391"/>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Model specification</a:t>
            </a:r>
            <a:endParaRPr lang="en-US" sz="2700" dirty="0"/>
          </a:p>
        </p:txBody>
      </p:sp>
      <p:sp>
        <p:nvSpPr>
          <p:cNvPr id="61" name="Text 59"/>
          <p:cNvSpPr/>
          <p:nvPr/>
        </p:nvSpPr>
        <p:spPr>
          <a:xfrm>
            <a:off x="1447800" y="20140166"/>
            <a:ext cx="1324421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formula · Surv(type = "interval2") · entry=</a:t>
            </a:r>
            <a:endParaRPr lang="en-US" sz="1950" dirty="0"/>
          </a:p>
        </p:txBody>
      </p:sp>
      <p:sp>
        <p:nvSpPr>
          <p:cNvPr id="62" name="Shape 60"/>
          <p:cNvSpPr/>
          <p:nvPr/>
        </p:nvSpPr>
        <p:spPr>
          <a:xfrm>
            <a:off x="1428750" y="20816441"/>
            <a:ext cx="47625" cy="190500"/>
          </a:xfrm>
          <a:prstGeom prst="rect">
            <a:avLst/>
          </a:prstGeom>
          <a:solidFill>
            <a:srgbClr val="B6BECB"/>
          </a:solidFill>
          <a:ln/>
        </p:spPr>
        <p:txBody>
          <a:bodyPr/>
          <a:lstStyle/>
          <a:p>
            <a:endParaRPr lang="en-GB"/>
          </a:p>
        </p:txBody>
      </p:sp>
      <p:sp>
        <p:nvSpPr>
          <p:cNvPr id="63" name="Shape 61"/>
          <p:cNvSpPr/>
          <p:nvPr/>
        </p:nvSpPr>
        <p:spPr>
          <a:xfrm>
            <a:off x="1047750" y="21121241"/>
            <a:ext cx="12754570" cy="1285875"/>
          </a:xfrm>
          <a:prstGeom prst="rect">
            <a:avLst/>
          </a:prstGeom>
          <a:solidFill>
            <a:srgbClr val="FDFCF9"/>
          </a:solidFill>
          <a:ln/>
        </p:spPr>
        <p:txBody>
          <a:bodyPr/>
          <a:lstStyle/>
          <a:p>
            <a:endParaRPr lang="en-GB"/>
          </a:p>
        </p:txBody>
      </p:sp>
      <p:sp>
        <p:nvSpPr>
          <p:cNvPr id="64" name="Shape 62"/>
          <p:cNvSpPr/>
          <p:nvPr/>
        </p:nvSpPr>
        <p:spPr>
          <a:xfrm>
            <a:off x="1047750" y="22378541"/>
            <a:ext cx="12754570" cy="28575"/>
          </a:xfrm>
          <a:prstGeom prst="rect">
            <a:avLst/>
          </a:prstGeom>
          <a:solidFill>
            <a:srgbClr val="D3D8E0"/>
          </a:solidFill>
          <a:ln/>
        </p:spPr>
        <p:txBody>
          <a:bodyPr/>
          <a:lstStyle/>
          <a:p>
            <a:endParaRPr lang="en-GB"/>
          </a:p>
        </p:txBody>
      </p:sp>
      <p:sp>
        <p:nvSpPr>
          <p:cNvPr id="65" name="Shape 63"/>
          <p:cNvSpPr/>
          <p:nvPr/>
        </p:nvSpPr>
        <p:spPr>
          <a:xfrm>
            <a:off x="1047750" y="21121241"/>
            <a:ext cx="12754570" cy="28575"/>
          </a:xfrm>
          <a:prstGeom prst="rect">
            <a:avLst/>
          </a:prstGeom>
          <a:solidFill>
            <a:srgbClr val="D3D8E0"/>
          </a:solidFill>
          <a:ln/>
        </p:spPr>
        <p:txBody>
          <a:bodyPr/>
          <a:lstStyle/>
          <a:p>
            <a:endParaRPr lang="en-GB"/>
          </a:p>
        </p:txBody>
      </p:sp>
      <p:sp>
        <p:nvSpPr>
          <p:cNvPr id="66" name="Shape 64"/>
          <p:cNvSpPr/>
          <p:nvPr/>
        </p:nvSpPr>
        <p:spPr>
          <a:xfrm>
            <a:off x="1047750" y="21121241"/>
            <a:ext cx="114300" cy="1285875"/>
          </a:xfrm>
          <a:prstGeom prst="rect">
            <a:avLst/>
          </a:prstGeom>
          <a:solidFill>
            <a:srgbClr val="025894"/>
          </a:solidFill>
          <a:ln/>
        </p:spPr>
        <p:txBody>
          <a:bodyPr/>
          <a:lstStyle/>
          <a:p>
            <a:endParaRPr lang="en-GB"/>
          </a:p>
        </p:txBody>
      </p:sp>
      <p:sp>
        <p:nvSpPr>
          <p:cNvPr id="67" name="Shape 65"/>
          <p:cNvSpPr/>
          <p:nvPr/>
        </p:nvSpPr>
        <p:spPr>
          <a:xfrm>
            <a:off x="13773745" y="21121241"/>
            <a:ext cx="28575" cy="1285875"/>
          </a:xfrm>
          <a:prstGeom prst="rect">
            <a:avLst/>
          </a:prstGeom>
          <a:solidFill>
            <a:srgbClr val="D3D8E0"/>
          </a:solidFill>
          <a:ln/>
        </p:spPr>
        <p:txBody>
          <a:bodyPr/>
          <a:lstStyle/>
          <a:p>
            <a:endParaRPr lang="en-GB"/>
          </a:p>
        </p:txBody>
      </p:sp>
      <p:sp>
        <p:nvSpPr>
          <p:cNvPr id="68" name="Text 66"/>
          <p:cNvSpPr/>
          <p:nvPr/>
        </p:nvSpPr>
        <p:spPr>
          <a:xfrm>
            <a:off x="1447800" y="21359366"/>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Estimation</a:t>
            </a:r>
            <a:endParaRPr lang="en-US" sz="2700" dirty="0"/>
          </a:p>
        </p:txBody>
      </p:sp>
      <p:sp>
        <p:nvSpPr>
          <p:cNvPr id="69" name="Text 67"/>
          <p:cNvSpPr/>
          <p:nvPr/>
        </p:nvSpPr>
        <p:spPr>
          <a:xfrm>
            <a:off x="1447800" y="21845141"/>
            <a:ext cx="13244215" cy="361950"/>
          </a:xfrm>
          <a:prstGeom prst="rect">
            <a:avLst/>
          </a:prstGeom>
          <a:noFill/>
          <a:ln/>
        </p:spPr>
        <p:txBody>
          <a:bodyPr wrap="square" lIns="25400" tIns="25400" rIns="25400" bIns="25400" rtlCol="0" anchor="t">
            <a:normAutofit/>
          </a:bodyPr>
          <a:lstStyle/>
          <a:p>
            <a:r>
              <a:rPr lang="en-US" sz="1950" dirty="0">
                <a:solidFill>
                  <a:srgbClr val="5A5E63"/>
                </a:solidFill>
                <a:latin typeface="IBM Plex Mono" pitchFamily="34" charset="0"/>
                <a:ea typeface="IBM Plex Mono" pitchFamily="34" charset="-122"/>
                <a:cs typeface="IBM Plex Mono" pitchFamily="34" charset="-120"/>
              </a:rPr>
              <a:t>coefficients via </a:t>
            </a:r>
            <a:r>
              <a:rPr lang="en-US" sz="1950" dirty="0" err="1">
                <a:solidFill>
                  <a:srgbClr val="5A5E63"/>
                </a:solidFill>
                <a:latin typeface="IBM Plex Mono" pitchFamily="34" charset="0"/>
                <a:ea typeface="IBM Plex Mono" pitchFamily="34" charset="-122"/>
                <a:cs typeface="IBM Plex Mono" pitchFamily="34" charset="-120"/>
              </a:rPr>
              <a:t>penalised</a:t>
            </a:r>
            <a:r>
              <a:rPr lang="en-US" sz="1950" dirty="0">
                <a:solidFill>
                  <a:srgbClr val="5A5E63"/>
                </a:solidFill>
                <a:latin typeface="IBM Plex Mono" pitchFamily="34" charset="0"/>
                <a:ea typeface="IBM Plex Mono" pitchFamily="34" charset="-122"/>
                <a:cs typeface="IBM Plex Mono" pitchFamily="34" charset="-120"/>
              </a:rPr>
              <a:t> likelihood with non-negativity constraints </a:t>
            </a:r>
            <a:endParaRPr lang="en-US" sz="1950" dirty="0"/>
          </a:p>
        </p:txBody>
      </p:sp>
      <p:sp>
        <p:nvSpPr>
          <p:cNvPr id="70" name="Shape 68"/>
          <p:cNvSpPr/>
          <p:nvPr/>
        </p:nvSpPr>
        <p:spPr>
          <a:xfrm>
            <a:off x="1428750" y="22521416"/>
            <a:ext cx="47625" cy="190500"/>
          </a:xfrm>
          <a:prstGeom prst="rect">
            <a:avLst/>
          </a:prstGeom>
          <a:solidFill>
            <a:srgbClr val="B6BECB"/>
          </a:solidFill>
          <a:ln/>
        </p:spPr>
        <p:txBody>
          <a:bodyPr/>
          <a:lstStyle/>
          <a:p>
            <a:endParaRPr lang="en-GB"/>
          </a:p>
        </p:txBody>
      </p:sp>
      <p:sp>
        <p:nvSpPr>
          <p:cNvPr id="71" name="Shape 69"/>
          <p:cNvSpPr/>
          <p:nvPr/>
        </p:nvSpPr>
        <p:spPr>
          <a:xfrm>
            <a:off x="1047750" y="22826216"/>
            <a:ext cx="12754570" cy="1285875"/>
          </a:xfrm>
          <a:prstGeom prst="rect">
            <a:avLst/>
          </a:prstGeom>
          <a:solidFill>
            <a:srgbClr val="FDFCF9"/>
          </a:solidFill>
          <a:ln/>
        </p:spPr>
        <p:txBody>
          <a:bodyPr/>
          <a:lstStyle/>
          <a:p>
            <a:endParaRPr lang="en-GB"/>
          </a:p>
        </p:txBody>
      </p:sp>
      <p:sp>
        <p:nvSpPr>
          <p:cNvPr id="72" name="Shape 70"/>
          <p:cNvSpPr/>
          <p:nvPr/>
        </p:nvSpPr>
        <p:spPr>
          <a:xfrm>
            <a:off x="1047750" y="24083516"/>
            <a:ext cx="12754570" cy="28575"/>
          </a:xfrm>
          <a:prstGeom prst="rect">
            <a:avLst/>
          </a:prstGeom>
          <a:solidFill>
            <a:srgbClr val="D3D8E0"/>
          </a:solidFill>
          <a:ln/>
        </p:spPr>
        <p:txBody>
          <a:bodyPr/>
          <a:lstStyle/>
          <a:p>
            <a:endParaRPr lang="en-GB"/>
          </a:p>
        </p:txBody>
      </p:sp>
      <p:sp>
        <p:nvSpPr>
          <p:cNvPr id="73" name="Shape 71"/>
          <p:cNvSpPr/>
          <p:nvPr/>
        </p:nvSpPr>
        <p:spPr>
          <a:xfrm>
            <a:off x="1047750" y="22826216"/>
            <a:ext cx="12754570" cy="28575"/>
          </a:xfrm>
          <a:prstGeom prst="rect">
            <a:avLst/>
          </a:prstGeom>
          <a:solidFill>
            <a:srgbClr val="D3D8E0"/>
          </a:solidFill>
          <a:ln/>
        </p:spPr>
        <p:txBody>
          <a:bodyPr/>
          <a:lstStyle/>
          <a:p>
            <a:endParaRPr lang="en-GB"/>
          </a:p>
        </p:txBody>
      </p:sp>
      <p:sp>
        <p:nvSpPr>
          <p:cNvPr id="74" name="Shape 72"/>
          <p:cNvSpPr/>
          <p:nvPr/>
        </p:nvSpPr>
        <p:spPr>
          <a:xfrm>
            <a:off x="1047750" y="22826216"/>
            <a:ext cx="114300" cy="1285875"/>
          </a:xfrm>
          <a:prstGeom prst="rect">
            <a:avLst/>
          </a:prstGeom>
          <a:solidFill>
            <a:srgbClr val="025894"/>
          </a:solidFill>
          <a:ln/>
        </p:spPr>
        <p:txBody>
          <a:bodyPr/>
          <a:lstStyle/>
          <a:p>
            <a:endParaRPr lang="en-GB"/>
          </a:p>
        </p:txBody>
      </p:sp>
      <p:sp>
        <p:nvSpPr>
          <p:cNvPr id="75" name="Shape 73"/>
          <p:cNvSpPr/>
          <p:nvPr/>
        </p:nvSpPr>
        <p:spPr>
          <a:xfrm>
            <a:off x="13773745" y="22826216"/>
            <a:ext cx="28575" cy="1285875"/>
          </a:xfrm>
          <a:prstGeom prst="rect">
            <a:avLst/>
          </a:prstGeom>
          <a:solidFill>
            <a:srgbClr val="D3D8E0"/>
          </a:solidFill>
          <a:ln/>
        </p:spPr>
        <p:txBody>
          <a:bodyPr/>
          <a:lstStyle/>
          <a:p>
            <a:endParaRPr lang="en-GB"/>
          </a:p>
        </p:txBody>
      </p:sp>
      <p:sp>
        <p:nvSpPr>
          <p:cNvPr id="76" name="Text 74"/>
          <p:cNvSpPr/>
          <p:nvPr/>
        </p:nvSpPr>
        <p:spPr>
          <a:xfrm>
            <a:off x="1447800" y="23064341"/>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Inference</a:t>
            </a:r>
            <a:endParaRPr lang="en-US" sz="2700" dirty="0"/>
          </a:p>
        </p:txBody>
      </p:sp>
      <p:sp>
        <p:nvSpPr>
          <p:cNvPr id="77" name="Text 75"/>
          <p:cNvSpPr/>
          <p:nvPr/>
        </p:nvSpPr>
        <p:spPr>
          <a:xfrm>
            <a:off x="1447800" y="23435787"/>
            <a:ext cx="11598498" cy="361950"/>
          </a:xfrm>
          <a:prstGeom prst="rect">
            <a:avLst/>
          </a:prstGeom>
          <a:noFill/>
          <a:ln/>
        </p:spPr>
        <p:txBody>
          <a:bodyPr wrap="square" lIns="25400" tIns="25400" rIns="25400" bIns="25400" rtlCol="0" anchor="t">
            <a:no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standard errors, confidence intervals for coefficients, </a:t>
            </a:r>
          </a:p>
          <a:p>
            <a:pPr marL="0" indent="0" algn="l">
              <a:buNone/>
            </a:pPr>
            <a:r>
              <a:rPr lang="en-US" sz="1950" dirty="0">
                <a:solidFill>
                  <a:srgbClr val="5A5E63"/>
                </a:solidFill>
                <a:latin typeface="IBM Plex Mono" pitchFamily="34" charset="0"/>
                <a:ea typeface="IBM Plex Mono" pitchFamily="34" charset="-122"/>
                <a:cs typeface="IBM Plex Mono" pitchFamily="34" charset="-120"/>
              </a:rPr>
              <a:t>confidence bounds for hazard-related functions</a:t>
            </a:r>
            <a:endParaRPr lang="en-US" sz="1950" dirty="0"/>
          </a:p>
        </p:txBody>
      </p:sp>
      <p:sp>
        <p:nvSpPr>
          <p:cNvPr id="78" name="Shape 76"/>
          <p:cNvSpPr/>
          <p:nvPr/>
        </p:nvSpPr>
        <p:spPr>
          <a:xfrm>
            <a:off x="1428750" y="24226391"/>
            <a:ext cx="47625" cy="190500"/>
          </a:xfrm>
          <a:prstGeom prst="rect">
            <a:avLst/>
          </a:prstGeom>
          <a:solidFill>
            <a:srgbClr val="B6BECB"/>
          </a:solidFill>
          <a:ln/>
        </p:spPr>
        <p:txBody>
          <a:bodyPr/>
          <a:lstStyle/>
          <a:p>
            <a:endParaRPr lang="en-GB"/>
          </a:p>
        </p:txBody>
      </p:sp>
      <p:sp>
        <p:nvSpPr>
          <p:cNvPr id="79" name="Shape 77"/>
          <p:cNvSpPr/>
          <p:nvPr/>
        </p:nvSpPr>
        <p:spPr>
          <a:xfrm>
            <a:off x="1047750" y="24531191"/>
            <a:ext cx="12754570" cy="1285875"/>
          </a:xfrm>
          <a:prstGeom prst="rect">
            <a:avLst/>
          </a:prstGeom>
          <a:solidFill>
            <a:srgbClr val="FDFCF9"/>
          </a:solidFill>
          <a:ln/>
        </p:spPr>
        <p:txBody>
          <a:bodyPr/>
          <a:lstStyle/>
          <a:p>
            <a:endParaRPr lang="en-GB"/>
          </a:p>
        </p:txBody>
      </p:sp>
      <p:sp>
        <p:nvSpPr>
          <p:cNvPr id="80" name="Shape 78"/>
          <p:cNvSpPr/>
          <p:nvPr/>
        </p:nvSpPr>
        <p:spPr>
          <a:xfrm>
            <a:off x="1047750" y="25788491"/>
            <a:ext cx="12754570" cy="28575"/>
          </a:xfrm>
          <a:prstGeom prst="rect">
            <a:avLst/>
          </a:prstGeom>
          <a:solidFill>
            <a:srgbClr val="D3D8E0"/>
          </a:solidFill>
          <a:ln/>
        </p:spPr>
        <p:txBody>
          <a:bodyPr/>
          <a:lstStyle/>
          <a:p>
            <a:endParaRPr lang="en-GB"/>
          </a:p>
        </p:txBody>
      </p:sp>
      <p:sp>
        <p:nvSpPr>
          <p:cNvPr id="81" name="Shape 79"/>
          <p:cNvSpPr/>
          <p:nvPr/>
        </p:nvSpPr>
        <p:spPr>
          <a:xfrm>
            <a:off x="1047750" y="24531191"/>
            <a:ext cx="12754570" cy="28575"/>
          </a:xfrm>
          <a:prstGeom prst="rect">
            <a:avLst/>
          </a:prstGeom>
          <a:solidFill>
            <a:srgbClr val="D3D8E0"/>
          </a:solidFill>
          <a:ln/>
        </p:spPr>
        <p:txBody>
          <a:bodyPr/>
          <a:lstStyle/>
          <a:p>
            <a:endParaRPr lang="en-GB"/>
          </a:p>
        </p:txBody>
      </p:sp>
      <p:sp>
        <p:nvSpPr>
          <p:cNvPr id="82" name="Shape 80"/>
          <p:cNvSpPr/>
          <p:nvPr/>
        </p:nvSpPr>
        <p:spPr>
          <a:xfrm>
            <a:off x="1047750" y="24531191"/>
            <a:ext cx="114300" cy="1285875"/>
          </a:xfrm>
          <a:prstGeom prst="rect">
            <a:avLst/>
          </a:prstGeom>
          <a:solidFill>
            <a:srgbClr val="025894"/>
          </a:solidFill>
          <a:ln/>
        </p:spPr>
        <p:txBody>
          <a:bodyPr/>
          <a:lstStyle/>
          <a:p>
            <a:endParaRPr lang="en-GB"/>
          </a:p>
        </p:txBody>
      </p:sp>
      <p:sp>
        <p:nvSpPr>
          <p:cNvPr id="83" name="Shape 81"/>
          <p:cNvSpPr/>
          <p:nvPr/>
        </p:nvSpPr>
        <p:spPr>
          <a:xfrm>
            <a:off x="13773745" y="24531191"/>
            <a:ext cx="28575" cy="1285875"/>
          </a:xfrm>
          <a:prstGeom prst="rect">
            <a:avLst/>
          </a:prstGeom>
          <a:solidFill>
            <a:srgbClr val="D3D8E0"/>
          </a:solidFill>
          <a:ln/>
        </p:spPr>
        <p:txBody>
          <a:bodyPr/>
          <a:lstStyle/>
          <a:p>
            <a:endParaRPr lang="en-GB"/>
          </a:p>
        </p:txBody>
      </p:sp>
      <p:sp>
        <p:nvSpPr>
          <p:cNvPr id="84" name="Text 82"/>
          <p:cNvSpPr/>
          <p:nvPr/>
        </p:nvSpPr>
        <p:spPr>
          <a:xfrm>
            <a:off x="1447800" y="24769316"/>
            <a:ext cx="13244215" cy="485775"/>
          </a:xfrm>
          <a:prstGeom prst="rect">
            <a:avLst/>
          </a:prstGeom>
          <a:noFill/>
          <a:ln/>
        </p:spPr>
        <p:txBody>
          <a:bodyPr wrap="square" lIns="25400" tIns="25400" rIns="25400" bIns="25400" rtlCol="0" anchor="t">
            <a:normAutofit/>
          </a:bodyPr>
          <a:lstStyle/>
          <a:p>
            <a:pPr marL="0" indent="0" algn="l">
              <a:buNone/>
            </a:pPr>
            <a:r>
              <a:rPr lang="en-US" sz="2700" b="1" dirty="0">
                <a:solidFill>
                  <a:srgbClr val="121417"/>
                </a:solidFill>
                <a:latin typeface="IBM Plex Sans" pitchFamily="34" charset="0"/>
                <a:ea typeface="IBM Plex Sans" pitchFamily="34" charset="-122"/>
                <a:cs typeface="IBM Plex Sans" pitchFamily="34" charset="-120"/>
              </a:rPr>
              <a:t>Post-processing</a:t>
            </a:r>
            <a:endParaRPr lang="en-US" sz="2700" dirty="0"/>
          </a:p>
        </p:txBody>
      </p:sp>
      <p:sp>
        <p:nvSpPr>
          <p:cNvPr id="85" name="Text 83"/>
          <p:cNvSpPr/>
          <p:nvPr/>
        </p:nvSpPr>
        <p:spPr>
          <a:xfrm>
            <a:off x="1447800" y="25255091"/>
            <a:ext cx="13244215"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A5E63"/>
                </a:solidFill>
                <a:latin typeface="IBM Plex Mono" pitchFamily="34" charset="0"/>
                <a:ea typeface="IBM Plex Mono" pitchFamily="34" charset="-122"/>
                <a:cs typeface="IBM Plex Mono" pitchFamily="34" charset="-120"/>
              </a:rPr>
              <a:t>print · summary · predict · residuals · plot</a:t>
            </a:r>
            <a:endParaRPr lang="en-US" sz="1950" dirty="0"/>
          </a:p>
        </p:txBody>
      </p:sp>
      <p:sp>
        <p:nvSpPr>
          <p:cNvPr id="90" name="Text 88"/>
          <p:cNvSpPr/>
          <p:nvPr/>
        </p:nvSpPr>
        <p:spPr>
          <a:xfrm>
            <a:off x="14564320" y="18013561"/>
            <a:ext cx="1613469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BASELINE HAZARD BASES</a:t>
            </a:r>
            <a:endParaRPr lang="en-US" sz="2100" dirty="0"/>
          </a:p>
        </p:txBody>
      </p:sp>
      <p:sp>
        <p:nvSpPr>
          <p:cNvPr id="91" name="Text 89"/>
          <p:cNvSpPr/>
          <p:nvPr/>
        </p:nvSpPr>
        <p:spPr>
          <a:xfrm>
            <a:off x="14619317" y="18593321"/>
            <a:ext cx="16134695"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The baseline hazard is defined as a non-negative mixture of basis functions.</a:t>
            </a:r>
            <a:endParaRPr lang="en-US" sz="3450" dirty="0"/>
          </a:p>
        </p:txBody>
      </p:sp>
      <p:sp>
        <p:nvSpPr>
          <p:cNvPr id="118" name="Text 116"/>
          <p:cNvSpPr/>
          <p:nvPr/>
        </p:nvSpPr>
        <p:spPr>
          <a:xfrm>
            <a:off x="1172171" y="35911496"/>
            <a:ext cx="18098899"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DOCUMENTATION &amp; REPRODUCIBILITY</a:t>
            </a:r>
            <a:endParaRPr lang="en-US" sz="2100" dirty="0"/>
          </a:p>
        </p:txBody>
      </p:sp>
      <p:sp>
        <p:nvSpPr>
          <p:cNvPr id="119" name="Text 117"/>
          <p:cNvSpPr/>
          <p:nvPr/>
        </p:nvSpPr>
        <p:spPr>
          <a:xfrm>
            <a:off x="1172171" y="36530621"/>
            <a:ext cx="18098899" cy="554980"/>
          </a:xfrm>
          <a:prstGeom prst="rect">
            <a:avLst/>
          </a:prstGeom>
          <a:noFill/>
          <a:ln/>
        </p:spPr>
        <p:txBody>
          <a:bodyPr wrap="square" lIns="25400" tIns="25400" rIns="25400" bIns="25400" rtlCol="0" anchor="t">
            <a:normAutofit fontScale="92500" lnSpcReduction="10000"/>
          </a:bodyPr>
          <a:lstStyle/>
          <a:p>
            <a:pPr marL="0" indent="0" algn="l">
              <a:lnSpc>
                <a:spcPct val="108560"/>
              </a:lnSpc>
              <a:buNone/>
            </a:pPr>
            <a:r>
              <a:rPr lang="en-US" sz="3450" b="1" kern="0" spc="-69" dirty="0">
                <a:solidFill>
                  <a:srgbClr val="121417"/>
                </a:solidFill>
                <a:latin typeface="Archivo" pitchFamily="34" charset="0"/>
                <a:ea typeface="Archivo" pitchFamily="34" charset="-122"/>
                <a:cs typeface="Archivo" pitchFamily="34" charset="-120"/>
              </a:rPr>
              <a:t>A pkgdown site with worked examples.</a:t>
            </a:r>
            <a:endParaRPr lang="en-US" sz="3450" dirty="0"/>
          </a:p>
        </p:txBody>
      </p:sp>
      <p:sp>
        <p:nvSpPr>
          <p:cNvPr id="120" name="Shape 118"/>
          <p:cNvSpPr/>
          <p:nvPr/>
        </p:nvSpPr>
        <p:spPr>
          <a:xfrm>
            <a:off x="1172171" y="37472419"/>
            <a:ext cx="152400" cy="152400"/>
          </a:xfrm>
          <a:prstGeom prst="rect">
            <a:avLst/>
          </a:prstGeom>
          <a:solidFill>
            <a:srgbClr val="025894"/>
          </a:solidFill>
          <a:ln/>
        </p:spPr>
        <p:txBody>
          <a:bodyPr/>
          <a:lstStyle/>
          <a:p>
            <a:endParaRPr lang="en-GB"/>
          </a:p>
        </p:txBody>
      </p:sp>
      <p:sp>
        <p:nvSpPr>
          <p:cNvPr id="121" name="Text 119"/>
          <p:cNvSpPr/>
          <p:nvPr/>
        </p:nvSpPr>
        <p:spPr>
          <a:xfrm>
            <a:off x="1496021" y="37314201"/>
            <a:ext cx="3831327"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Getting-started vignette</a:t>
            </a:r>
            <a:endParaRPr lang="en-US" sz="2550" dirty="0"/>
          </a:p>
        </p:txBody>
      </p:sp>
      <p:sp>
        <p:nvSpPr>
          <p:cNvPr id="122" name="Shape 120"/>
          <p:cNvSpPr/>
          <p:nvPr/>
        </p:nvSpPr>
        <p:spPr>
          <a:xfrm>
            <a:off x="8764272" y="38000610"/>
            <a:ext cx="152400" cy="152400"/>
          </a:xfrm>
          <a:prstGeom prst="rect">
            <a:avLst/>
          </a:prstGeom>
          <a:solidFill>
            <a:srgbClr val="025894"/>
          </a:solidFill>
          <a:ln/>
        </p:spPr>
        <p:txBody>
          <a:bodyPr/>
          <a:lstStyle/>
          <a:p>
            <a:endParaRPr lang="en-GB"/>
          </a:p>
        </p:txBody>
      </p:sp>
      <p:sp>
        <p:nvSpPr>
          <p:cNvPr id="123" name="Text 121"/>
          <p:cNvSpPr/>
          <p:nvPr/>
        </p:nvSpPr>
        <p:spPr>
          <a:xfrm>
            <a:off x="9137935" y="37307937"/>
            <a:ext cx="4573756"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Right, left, interval censoring</a:t>
            </a:r>
            <a:endParaRPr lang="en-US" sz="2550" dirty="0"/>
          </a:p>
        </p:txBody>
      </p:sp>
      <p:sp>
        <p:nvSpPr>
          <p:cNvPr id="124" name="Shape 122"/>
          <p:cNvSpPr/>
          <p:nvPr/>
        </p:nvSpPr>
        <p:spPr>
          <a:xfrm>
            <a:off x="1172171" y="38001787"/>
            <a:ext cx="152400" cy="152400"/>
          </a:xfrm>
          <a:prstGeom prst="rect">
            <a:avLst/>
          </a:prstGeom>
          <a:solidFill>
            <a:srgbClr val="025894"/>
          </a:solidFill>
          <a:ln/>
        </p:spPr>
        <p:txBody>
          <a:bodyPr/>
          <a:lstStyle/>
          <a:p>
            <a:endParaRPr lang="en-GB"/>
          </a:p>
        </p:txBody>
      </p:sp>
      <p:sp>
        <p:nvSpPr>
          <p:cNvPr id="125" name="Text 123"/>
          <p:cNvSpPr/>
          <p:nvPr/>
        </p:nvSpPr>
        <p:spPr>
          <a:xfrm>
            <a:off x="1490960" y="37868437"/>
            <a:ext cx="519045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Left truncation, profile likelihood</a:t>
            </a:r>
            <a:endParaRPr lang="en-US" sz="2550" dirty="0"/>
          </a:p>
        </p:txBody>
      </p:sp>
      <p:sp>
        <p:nvSpPr>
          <p:cNvPr id="126" name="Shape 124"/>
          <p:cNvSpPr/>
          <p:nvPr/>
        </p:nvSpPr>
        <p:spPr>
          <a:xfrm>
            <a:off x="8764272" y="37472419"/>
            <a:ext cx="152400" cy="152400"/>
          </a:xfrm>
          <a:prstGeom prst="rect">
            <a:avLst/>
          </a:prstGeom>
          <a:solidFill>
            <a:srgbClr val="025894"/>
          </a:solidFill>
          <a:ln/>
        </p:spPr>
        <p:txBody>
          <a:bodyPr/>
          <a:lstStyle/>
          <a:p>
            <a:endParaRPr lang="en-GB"/>
          </a:p>
        </p:txBody>
      </p:sp>
      <p:sp>
        <p:nvSpPr>
          <p:cNvPr id="127" name="Text 125"/>
          <p:cNvSpPr/>
          <p:nvPr/>
        </p:nvSpPr>
        <p:spPr>
          <a:xfrm>
            <a:off x="9158208" y="37878174"/>
            <a:ext cx="5486400"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Bases and control parameters</a:t>
            </a:r>
            <a:endParaRPr lang="en-US" sz="2550" dirty="0"/>
          </a:p>
        </p:txBody>
      </p:sp>
      <p:sp>
        <p:nvSpPr>
          <p:cNvPr id="128" name="Shape 126"/>
          <p:cNvSpPr/>
          <p:nvPr/>
        </p:nvSpPr>
        <p:spPr>
          <a:xfrm>
            <a:off x="1172171" y="38556023"/>
            <a:ext cx="152400" cy="152400"/>
          </a:xfrm>
          <a:prstGeom prst="rect">
            <a:avLst/>
          </a:prstGeom>
          <a:solidFill>
            <a:srgbClr val="025894"/>
          </a:solidFill>
          <a:ln/>
        </p:spPr>
        <p:txBody>
          <a:bodyPr/>
          <a:lstStyle/>
          <a:p>
            <a:endParaRPr lang="en-GB"/>
          </a:p>
        </p:txBody>
      </p:sp>
      <p:sp>
        <p:nvSpPr>
          <p:cNvPr id="129" name="Text 127"/>
          <p:cNvSpPr/>
          <p:nvPr/>
        </p:nvSpPr>
        <p:spPr>
          <a:xfrm>
            <a:off x="1496021" y="38422673"/>
            <a:ext cx="373375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coxph() vs coxph_mpl()</a:t>
            </a:r>
            <a:endParaRPr lang="en-US" sz="2550" dirty="0"/>
          </a:p>
        </p:txBody>
      </p:sp>
      <p:sp>
        <p:nvSpPr>
          <p:cNvPr id="130" name="Shape 128"/>
          <p:cNvSpPr/>
          <p:nvPr/>
        </p:nvSpPr>
        <p:spPr>
          <a:xfrm>
            <a:off x="8764272" y="38604230"/>
            <a:ext cx="152400" cy="152400"/>
          </a:xfrm>
          <a:prstGeom prst="rect">
            <a:avLst/>
          </a:prstGeom>
          <a:solidFill>
            <a:srgbClr val="025894"/>
          </a:solidFill>
          <a:ln/>
        </p:spPr>
        <p:txBody>
          <a:bodyPr/>
          <a:lstStyle/>
          <a:p>
            <a:endParaRPr lang="en-GB"/>
          </a:p>
        </p:txBody>
      </p:sp>
      <p:sp>
        <p:nvSpPr>
          <p:cNvPr id="131" name="Text 129"/>
          <p:cNvSpPr/>
          <p:nvPr/>
        </p:nvSpPr>
        <p:spPr>
          <a:xfrm>
            <a:off x="9137935" y="38478930"/>
            <a:ext cx="5547345" cy="458986"/>
          </a:xfrm>
          <a:prstGeom prst="rect">
            <a:avLst/>
          </a:prstGeom>
          <a:noFill/>
          <a:ln/>
        </p:spPr>
        <p:txBody>
          <a:bodyPr wrap="square" lIns="25400" tIns="25400" rIns="25400" bIns="25400" rtlCol="0" anchor="t">
            <a:normAutofit/>
          </a:bodyPr>
          <a:lstStyle/>
          <a:p>
            <a:pPr marL="0" indent="0" algn="l">
              <a:lnSpc>
                <a:spcPct val="100455"/>
              </a:lnSpc>
              <a:buNone/>
            </a:pPr>
            <a:r>
              <a:rPr lang="en-US" sz="2550" dirty="0">
                <a:solidFill>
                  <a:srgbClr val="121417"/>
                </a:solidFill>
                <a:latin typeface="IBM Plex Sans" pitchFamily="34" charset="0"/>
                <a:ea typeface="IBM Plex Sans" pitchFamily="34" charset="-122"/>
                <a:cs typeface="IBM Plex Sans" pitchFamily="34" charset="-120"/>
              </a:rPr>
              <a:t>Searchable, cross-linked reference</a:t>
            </a:r>
            <a:endParaRPr lang="en-US" sz="2550" dirty="0"/>
          </a:p>
        </p:txBody>
      </p:sp>
      <p:sp>
        <p:nvSpPr>
          <p:cNvPr id="138" name="Text 136"/>
          <p:cNvSpPr/>
          <p:nvPr/>
        </p:nvSpPr>
        <p:spPr>
          <a:xfrm>
            <a:off x="26174942" y="41164384"/>
            <a:ext cx="3322717" cy="629931"/>
          </a:xfrm>
          <a:prstGeom prst="rect">
            <a:avLst/>
          </a:prstGeom>
          <a:noFill/>
          <a:ln/>
        </p:spPr>
        <p:txBody>
          <a:bodyPr wrap="square" lIns="25400" tIns="25400" rIns="25400" bIns="25400" rtlCol="0" anchor="t">
            <a:normAutofit/>
          </a:bodyPr>
          <a:lstStyle/>
          <a:p>
            <a:pPr algn="ctr"/>
            <a:r>
              <a:rPr lang="en-US" dirty="0">
                <a:solidFill>
                  <a:srgbClr val="4A4D53"/>
                </a:solidFill>
                <a:latin typeface="IBM Plex Sans" pitchFamily="34" charset="0"/>
                <a:ea typeface="IBM Plex Sans" pitchFamily="34" charset="-122"/>
                <a:cs typeface="IBM Plex Sans" pitchFamily="34" charset="-120"/>
              </a:rPr>
              <a:t>Full documentation</a:t>
            </a:r>
            <a:br>
              <a:rPr lang="en-US" dirty="0">
                <a:solidFill>
                  <a:srgbClr val="4A4D53"/>
                </a:solidFill>
                <a:latin typeface="IBM Plex Sans" pitchFamily="34" charset="0"/>
                <a:ea typeface="IBM Plex Sans" pitchFamily="34" charset="-122"/>
                <a:cs typeface="IBM Plex Sans" pitchFamily="34" charset="-120"/>
              </a:rPr>
            </a:br>
            <a:r>
              <a:rPr lang="en-US" dirty="0">
                <a:solidFill>
                  <a:srgbClr val="4A4D53"/>
                </a:solidFill>
                <a:latin typeface="IBM Plex Sans" pitchFamily="34" charset="0"/>
                <a:ea typeface="IBM Plex Sans" pitchFamily="34" charset="-122"/>
                <a:cs typeface="IBM Plex Sans" pitchFamily="34" charset="-120"/>
              </a:rPr>
              <a:t>https://tinyurl.com/survivalMPL</a:t>
            </a:r>
            <a:endParaRPr lang="en-US" dirty="0"/>
          </a:p>
        </p:txBody>
      </p:sp>
      <p:sp>
        <p:nvSpPr>
          <p:cNvPr id="140" name="Shape 138"/>
          <p:cNvSpPr/>
          <p:nvPr/>
        </p:nvSpPr>
        <p:spPr>
          <a:xfrm>
            <a:off x="1104900" y="39643050"/>
            <a:ext cx="28184475" cy="114300"/>
          </a:xfrm>
          <a:prstGeom prst="rect">
            <a:avLst/>
          </a:prstGeom>
          <a:solidFill>
            <a:srgbClr val="EB883B"/>
          </a:solidFill>
          <a:ln/>
        </p:spPr>
        <p:txBody>
          <a:bodyPr/>
          <a:lstStyle/>
          <a:p>
            <a:endParaRPr lang="en-GB"/>
          </a:p>
        </p:txBody>
      </p:sp>
      <p:sp>
        <p:nvSpPr>
          <p:cNvPr id="143" name="Text 141"/>
          <p:cNvSpPr/>
          <p:nvPr/>
        </p:nvSpPr>
        <p:spPr>
          <a:xfrm>
            <a:off x="1162020" y="40167755"/>
            <a:ext cx="22911352" cy="642791"/>
          </a:xfrm>
          <a:prstGeom prst="rect">
            <a:avLst/>
          </a:prstGeom>
          <a:noFill/>
          <a:ln/>
        </p:spPr>
        <p:txBody>
          <a:bodyPr wrap="square" lIns="25400" tIns="25400" rIns="25400" bIns="25400" rtlCol="0" anchor="t">
            <a:normAutofit fontScale="92500"/>
          </a:bodyPr>
          <a:lstStyle/>
          <a:p>
            <a:r>
              <a:rPr lang="en-GB" sz="1950" dirty="0">
                <a:solidFill>
                  <a:srgbClr val="52555B"/>
                </a:solidFill>
                <a:latin typeface="IBM Plex Mono" pitchFamily="34" charset="0"/>
              </a:rPr>
              <a:t>Ma, Jun, Couturier, Dominique-Laurent, Heritier, Stephane and Marschner, Ian C.. "Penalized likelihood estimation of the proportional hazards model for survival data with interval censoring" The International Journal of Biostatistics, vol. 18, no. 2, 2022, pp. 553-575. </a:t>
            </a:r>
            <a:r>
              <a:rPr lang="en-GB" sz="1950" dirty="0">
                <a:solidFill>
                  <a:srgbClr val="52555B"/>
                </a:solidFill>
                <a:latin typeface="IBM Plex Mono" pitchFamily="34" charset="0"/>
                <a:hlinkClick r:id="rId3">
                  <a:extLst>
                    <a:ext uri="{A12FA001-AC4F-418D-AE19-62706E023703}">
                      <ahyp:hlinkClr xmlns:ahyp="http://schemas.microsoft.com/office/drawing/2018/hyperlinkcolor" val="tx"/>
                    </a:ext>
                  </a:extLst>
                </a:hlinkClick>
              </a:rPr>
              <a:t>https://doi.org/10.1515/ijb-2020-0104</a:t>
            </a:r>
            <a:r>
              <a:rPr lang="en-GB" sz="1950" dirty="0">
                <a:solidFill>
                  <a:srgbClr val="52555B"/>
                </a:solidFill>
                <a:latin typeface="IBM Plex Mono" pitchFamily="34" charset="0"/>
              </a:rPr>
              <a:t> </a:t>
            </a:r>
            <a:endParaRPr lang="en-US" sz="1950" dirty="0">
              <a:solidFill>
                <a:srgbClr val="52555B"/>
              </a:solidFill>
              <a:latin typeface="IBM Plex Mono" pitchFamily="34" charset="0"/>
            </a:endParaRPr>
          </a:p>
        </p:txBody>
      </p:sp>
      <p:sp>
        <p:nvSpPr>
          <p:cNvPr id="144" name="Text 142"/>
          <p:cNvSpPr/>
          <p:nvPr/>
        </p:nvSpPr>
        <p:spPr>
          <a:xfrm>
            <a:off x="1162020" y="40947928"/>
            <a:ext cx="24468434" cy="339251"/>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2555B"/>
                </a:solidFill>
                <a:latin typeface="IBM Plex Mono" pitchFamily="34" charset="0"/>
                <a:ea typeface="IBM Plex Mono" pitchFamily="34" charset="-122"/>
                <a:cs typeface="IBM Plex Mono" pitchFamily="34" charset="-120"/>
              </a:rPr>
              <a:t>Ma J., Webb A., Hudson H. M. (2024). </a:t>
            </a:r>
            <a:r>
              <a:rPr lang="en-US" sz="1950" i="1" dirty="0">
                <a:solidFill>
                  <a:srgbClr val="52555B"/>
                </a:solidFill>
                <a:latin typeface="IBM Plex Mono" pitchFamily="34" charset="0"/>
                <a:ea typeface="IBM Plex Mono" pitchFamily="34" charset="-122"/>
                <a:cs typeface="IBM Plex Mono" pitchFamily="34" charset="-120"/>
              </a:rPr>
              <a:t>Likelihood Methods in Survival Analysis: With R Examples. </a:t>
            </a:r>
            <a:r>
              <a:rPr lang="en-US" sz="1950" dirty="0">
                <a:solidFill>
                  <a:srgbClr val="52555B"/>
                </a:solidFill>
                <a:latin typeface="IBM Plex Mono" pitchFamily="34" charset="0"/>
                <a:ea typeface="IBM Plex Mono" pitchFamily="34" charset="-122"/>
                <a:cs typeface="IBM Plex Mono" pitchFamily="34" charset="-120"/>
              </a:rPr>
              <a:t>Chapman and Hall/CRC, Boca Raton.</a:t>
            </a:r>
            <a:endParaRPr lang="en-US" sz="1950" dirty="0"/>
          </a:p>
        </p:txBody>
      </p:sp>
      <p:sp>
        <p:nvSpPr>
          <p:cNvPr id="145" name="Text 143"/>
          <p:cNvSpPr/>
          <p:nvPr/>
        </p:nvSpPr>
        <p:spPr>
          <a:xfrm>
            <a:off x="1162020" y="41395368"/>
            <a:ext cx="24468434" cy="339251"/>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2555B"/>
                </a:solidFill>
                <a:latin typeface="IBM Plex Mono" pitchFamily="34" charset="0"/>
                <a:ea typeface="IBM Plex Mono" pitchFamily="34" charset="-122"/>
                <a:cs typeface="IBM Plex Mono" pitchFamily="34" charset="-120"/>
              </a:rPr>
              <a:t>Bhaskaran A., Liquet B., Ma J. Maximum profile likelihood for Cox models under left truncation and right censoring. Macquarie University.</a:t>
            </a:r>
            <a:endParaRPr lang="en-US" sz="1950" dirty="0"/>
          </a:p>
        </p:txBody>
      </p:sp>
      <p:sp>
        <p:nvSpPr>
          <p:cNvPr id="146" name="Text 144"/>
          <p:cNvSpPr/>
          <p:nvPr/>
        </p:nvSpPr>
        <p:spPr>
          <a:xfrm>
            <a:off x="23463272" y="41834827"/>
            <a:ext cx="6047646" cy="361950"/>
          </a:xfrm>
          <a:prstGeom prst="rect">
            <a:avLst/>
          </a:prstGeom>
          <a:noFill/>
          <a:ln/>
        </p:spPr>
        <p:txBody>
          <a:bodyPr wrap="square" lIns="25400" tIns="25400" rIns="25400" bIns="25400" rtlCol="0" anchor="t">
            <a:normAutofit/>
          </a:bodyPr>
          <a:lstStyle/>
          <a:p>
            <a:pPr marL="0" indent="0" algn="r">
              <a:buNone/>
            </a:pPr>
            <a:r>
              <a:rPr lang="en-US" sz="1950" dirty="0">
                <a:solidFill>
                  <a:srgbClr val="003A66"/>
                </a:solidFill>
                <a:latin typeface="IBM Plex Mono" pitchFamily="34" charset="0"/>
                <a:ea typeface="IBM Plex Mono" pitchFamily="34" charset="-122"/>
                <a:cs typeface="IBM Plex Mono" pitchFamily="34" charset="-120"/>
              </a:rPr>
              <a:t>nikita.mozgunov@mrc-bsu.cam.ac.uk</a:t>
            </a:r>
            <a:endParaRPr lang="en-US" sz="1950" dirty="0"/>
          </a:p>
        </p:txBody>
      </p:sp>
      <p:sp>
        <p:nvSpPr>
          <p:cNvPr id="147" name="Text 145"/>
          <p:cNvSpPr/>
          <p:nvPr/>
        </p:nvSpPr>
        <p:spPr>
          <a:xfrm>
            <a:off x="23463272" y="42234877"/>
            <a:ext cx="6047646" cy="361950"/>
          </a:xfrm>
          <a:prstGeom prst="rect">
            <a:avLst/>
          </a:prstGeom>
          <a:noFill/>
          <a:ln/>
        </p:spPr>
        <p:txBody>
          <a:bodyPr wrap="square" lIns="25400" tIns="25400" rIns="25400" bIns="25400" rtlCol="0" anchor="t">
            <a:normAutofit/>
          </a:bodyPr>
          <a:lstStyle/>
          <a:p>
            <a:pPr marL="0" indent="0" algn="r">
              <a:buNone/>
            </a:pPr>
            <a:r>
              <a:rPr lang="en-US" sz="1950" dirty="0">
                <a:solidFill>
                  <a:srgbClr val="52555B"/>
                </a:solidFill>
                <a:latin typeface="IBM Plex Mono" pitchFamily="34" charset="0"/>
                <a:ea typeface="IBM Plex Mono" pitchFamily="34" charset="-122"/>
                <a:cs typeface="IBM Plex Mono" pitchFamily="34" charset="-120"/>
              </a:rPr>
              <a:t>ICTMC 2026 · Birmingham</a:t>
            </a:r>
            <a:endParaRPr lang="en-US" sz="1950" dirty="0"/>
          </a:p>
        </p:txBody>
      </p:sp>
      <p:sp>
        <p:nvSpPr>
          <p:cNvPr id="154" name="Text 136">
            <a:extLst>
              <a:ext uri="{FF2B5EF4-FFF2-40B4-BE49-F238E27FC236}">
                <a16:creationId xmlns:a16="http://schemas.microsoft.com/office/drawing/2014/main" id="{2678FC03-EA12-6374-DA5A-B06D4525E7B4}"/>
              </a:ext>
            </a:extLst>
          </p:cNvPr>
          <p:cNvSpPr/>
          <p:nvPr/>
        </p:nvSpPr>
        <p:spPr>
          <a:xfrm>
            <a:off x="27341845" y="6191418"/>
            <a:ext cx="2155814" cy="328162"/>
          </a:xfrm>
          <a:prstGeom prst="rect">
            <a:avLst/>
          </a:prstGeom>
          <a:noFill/>
          <a:ln/>
        </p:spPr>
        <p:txBody>
          <a:bodyPr wrap="square" lIns="25400" tIns="25400" rIns="25400" bIns="25400" rtlCol="0" anchor="t">
            <a:normAutofit fontScale="70000" lnSpcReduction="20000"/>
          </a:bodyPr>
          <a:lstStyle/>
          <a:p>
            <a:pPr marL="0" indent="0" algn="ctr">
              <a:lnSpc>
                <a:spcPct val="100000"/>
              </a:lnSpc>
              <a:buNone/>
            </a:pPr>
            <a:r>
              <a:rPr lang="en-US" sz="2400" dirty="0">
                <a:solidFill>
                  <a:srgbClr val="B0C7DD"/>
                </a:solidFill>
                <a:latin typeface="IBM Plex Sans" pitchFamily="34" charset="0"/>
              </a:rPr>
              <a:t>Download this poster</a:t>
            </a:r>
          </a:p>
        </p:txBody>
      </p:sp>
      <p:grpSp>
        <p:nvGrpSpPr>
          <p:cNvPr id="16" name="Group 15">
            <a:extLst>
              <a:ext uri="{FF2B5EF4-FFF2-40B4-BE49-F238E27FC236}">
                <a16:creationId xmlns:a16="http://schemas.microsoft.com/office/drawing/2014/main" id="{91CB7F68-54E4-31CD-7FF0-45F6F89866A8}"/>
              </a:ext>
            </a:extLst>
          </p:cNvPr>
          <p:cNvGrpSpPr/>
          <p:nvPr/>
        </p:nvGrpSpPr>
        <p:grpSpPr>
          <a:xfrm>
            <a:off x="14515109" y="28022309"/>
            <a:ext cx="15764867" cy="3232664"/>
            <a:chOff x="14448868" y="28810352"/>
            <a:chExt cx="15711785" cy="2542032"/>
          </a:xfrm>
        </p:grpSpPr>
        <p:sp>
          <p:nvSpPr>
            <p:cNvPr id="105" name="Shape 103"/>
            <p:cNvSpPr/>
            <p:nvPr/>
          </p:nvSpPr>
          <p:spPr>
            <a:xfrm>
              <a:off x="14448868" y="28810352"/>
              <a:ext cx="14214365" cy="2542032"/>
            </a:xfrm>
            <a:prstGeom prst="rect">
              <a:avLst/>
            </a:prstGeom>
            <a:solidFill>
              <a:srgbClr val="FDFCF9"/>
            </a:solidFill>
            <a:ln w="28575">
              <a:solidFill>
                <a:srgbClr val="D3D8E0"/>
              </a:solidFill>
              <a:prstDash val="solid"/>
            </a:ln>
          </p:spPr>
          <p:txBody>
            <a:bodyPr/>
            <a:lstStyle/>
            <a:p>
              <a:endParaRPr lang="en-GB"/>
            </a:p>
          </p:txBody>
        </p:sp>
        <p:sp>
          <p:nvSpPr>
            <p:cNvPr id="106" name="Text 104"/>
            <p:cNvSpPr/>
            <p:nvPr/>
          </p:nvSpPr>
          <p:spPr>
            <a:xfrm>
              <a:off x="14801293" y="29124677"/>
              <a:ext cx="15359360" cy="361950"/>
            </a:xfrm>
            <a:prstGeom prst="rect">
              <a:avLst/>
            </a:prstGeom>
            <a:noFill/>
            <a:ln/>
          </p:spPr>
          <p:txBody>
            <a:bodyPr wrap="square" lIns="25400" tIns="25400" rIns="25400" bIns="25400" rtlCol="0" anchor="t">
              <a:normAutofit/>
            </a:bodyPr>
            <a:lstStyle/>
            <a:p>
              <a:pPr marL="0" indent="0" algn="l">
                <a:buNone/>
              </a:pPr>
              <a:r>
                <a:rPr lang="en-US" sz="1950" kern="0" spc="273" dirty="0">
                  <a:solidFill>
                    <a:srgbClr val="606369"/>
                  </a:solidFill>
                  <a:latin typeface="IBM Plex Mono" pitchFamily="34" charset="0"/>
                  <a:ea typeface="IBM Plex Mono" pitchFamily="34" charset="-122"/>
                  <a:cs typeface="IBM Plex Mono" pitchFamily="34" charset="-120"/>
                </a:rPr>
                <a:t>SMOOTHING &amp; METHODS</a:t>
              </a:r>
              <a:endParaRPr lang="en-US" sz="1950" dirty="0"/>
            </a:p>
          </p:txBody>
        </p:sp>
        <p:sp>
          <p:nvSpPr>
            <p:cNvPr id="107" name="Text 105"/>
            <p:cNvSpPr/>
            <p:nvPr/>
          </p:nvSpPr>
          <p:spPr>
            <a:xfrm>
              <a:off x="14748193" y="29469141"/>
              <a:ext cx="13881919" cy="1405713"/>
            </a:xfrm>
            <a:prstGeom prst="rect">
              <a:avLst/>
            </a:prstGeom>
            <a:noFill/>
            <a:ln/>
          </p:spPr>
          <p:txBody>
            <a:bodyPr wrap="square" lIns="25400" tIns="25400" rIns="25400" bIns="25400" rtlCol="0" anchor="t">
              <a:normAutofit/>
            </a:bodyPr>
            <a:lstStyle/>
            <a:p>
              <a:pPr marL="0" indent="0" algn="l">
                <a:lnSpc>
                  <a:spcPct val="106636"/>
                </a:lnSpc>
                <a:buNone/>
              </a:pPr>
              <a:r>
                <a:rPr lang="en-GB" sz="2100" noProof="0" dirty="0">
                  <a:solidFill>
                    <a:srgbClr val="121417"/>
                  </a:solidFill>
                  <a:latin typeface="IBM Plex Sans" pitchFamily="34" charset="0"/>
                  <a:ea typeface="IBM Plex Sans" pitchFamily="34" charset="-122"/>
                  <a:cs typeface="IBM Plex Sans" pitchFamily="34" charset="-120"/>
                </a:rPr>
                <a:t>λ, the penalisation parameter, is selected automatically by marginal likelihood or held fixed at a value user supplies. </a:t>
              </a:r>
            </a:p>
            <a:p>
              <a:pPr marL="0" indent="0" algn="l">
                <a:lnSpc>
                  <a:spcPct val="106636"/>
                </a:lnSpc>
                <a:buNone/>
              </a:pPr>
              <a:r>
                <a:rPr lang="en-US" sz="2100" dirty="0">
                  <a:solidFill>
                    <a:srgbClr val="121417"/>
                  </a:solidFill>
                  <a:latin typeface="IBM Plex Sans" pitchFamily="34" charset="0"/>
                  <a:ea typeface="IBM Plex Sans" pitchFamily="34" charset="-122"/>
                  <a:cs typeface="IBM Plex Sans" pitchFamily="34" charset="-120"/>
                </a:rPr>
                <a:t>Non-negativity of θ, the baseline hazard estimates, is a constraint inside the optimiser, not a correction applied afterwards.</a:t>
              </a:r>
              <a:endParaRPr lang="en-US" sz="2100" dirty="0"/>
            </a:p>
          </p:txBody>
        </p:sp>
      </p:grpSp>
      <p:sp>
        <p:nvSpPr>
          <p:cNvPr id="956" name="Repo URL"/>
          <p:cNvSpPr/>
          <p:nvPr/>
        </p:nvSpPr>
        <p:spPr>
          <a:xfrm>
            <a:off x="14971597" y="36988858"/>
            <a:ext cx="13915727" cy="2446688"/>
          </a:xfrm>
          <a:prstGeom prst="rect">
            <a:avLst/>
          </a:prstGeom>
          <a:noFill/>
          <a:ln/>
        </p:spPr>
        <p:txBody>
          <a:bodyPr wrap="square" lIns="25420" tIns="25420" rIns="25420" bIns="25420" rtlCol="0" anchor="t">
            <a:noAutofit/>
          </a:bodyPr>
          <a:lstStyle/>
          <a:p>
            <a:pPr algn="just"/>
            <a:r>
              <a:rPr lang="en-GB" sz="2550" dirty="0">
                <a:solidFill>
                  <a:srgbClr val="121417"/>
                </a:solidFill>
                <a:latin typeface="IBM Plex Sans" pitchFamily="34" charset="0"/>
              </a:rPr>
              <a:t>By combining our rigorous penalised likelihood framework with an extensible and openly documented implementation, </a:t>
            </a:r>
            <a:r>
              <a:rPr lang="en-GB" sz="2550" b="1" dirty="0">
                <a:solidFill>
                  <a:srgbClr val="121417"/>
                </a:solidFill>
                <a:latin typeface="IBM Plex Sans" pitchFamily="34" charset="0"/>
              </a:rPr>
              <a:t>survivalMPL</a:t>
            </a:r>
            <a:r>
              <a:rPr lang="en-GB" sz="2550" dirty="0">
                <a:solidFill>
                  <a:srgbClr val="121417"/>
                </a:solidFill>
                <a:latin typeface="IBM Plex Sans" pitchFamily="34" charset="0"/>
              </a:rPr>
              <a:t> brings exact, right-, left- and interval-censored observations, and delayed entry, into a single analysis rather than a collection of workarounds. </a:t>
            </a:r>
          </a:p>
          <a:p>
            <a:pPr algn="just"/>
            <a:endParaRPr lang="en-GB" sz="900" dirty="0">
              <a:solidFill>
                <a:srgbClr val="121417"/>
              </a:solidFill>
              <a:latin typeface="IBM Plex Sans" pitchFamily="34" charset="0"/>
            </a:endParaRPr>
          </a:p>
          <a:p>
            <a:pPr algn="just"/>
            <a:r>
              <a:rPr lang="en-GB" sz="2550" dirty="0">
                <a:solidFill>
                  <a:srgbClr val="121417"/>
                </a:solidFill>
                <a:latin typeface="IBM Plex Sans" pitchFamily="34" charset="0"/>
              </a:rPr>
              <a:t>The worked examples and reference documentation lower the barrier for clinicians, trialists and applied statisticians, and reduce reliance on ad hoc approaches that discard or misrepresent the censoring the trial actually observed.</a:t>
            </a:r>
          </a:p>
        </p:txBody>
      </p:sp>
      <p:sp>
        <p:nvSpPr>
          <p:cNvPr id="17" name="Shape 77">
            <a:extLst>
              <a:ext uri="{FF2B5EF4-FFF2-40B4-BE49-F238E27FC236}">
                <a16:creationId xmlns:a16="http://schemas.microsoft.com/office/drawing/2014/main" id="{D7B7AE01-6CE6-1B59-8717-0CB635B5283F}"/>
              </a:ext>
            </a:extLst>
          </p:cNvPr>
          <p:cNvSpPr/>
          <p:nvPr/>
        </p:nvSpPr>
        <p:spPr>
          <a:xfrm>
            <a:off x="14515110" y="19206973"/>
            <a:ext cx="14250360" cy="8362188"/>
          </a:xfrm>
          <a:prstGeom prst="rect">
            <a:avLst/>
          </a:prstGeom>
          <a:solidFill>
            <a:srgbClr val="FDFCF9"/>
          </a:solidFill>
          <a:ln>
            <a:solidFill>
              <a:schemeClr val="bg1">
                <a:lumMod val="85000"/>
              </a:schemeClr>
            </a:solidFill>
          </a:ln>
        </p:spPr>
        <p:txBody>
          <a:bodyPr/>
          <a:lstStyle/>
          <a:p>
            <a:endParaRPr lang="en-GB"/>
          </a:p>
        </p:txBody>
      </p:sp>
      <p:sp>
        <p:nvSpPr>
          <p:cNvPr id="92" name="Shape 90"/>
          <p:cNvSpPr/>
          <p:nvPr/>
        </p:nvSpPr>
        <p:spPr>
          <a:xfrm>
            <a:off x="14695423" y="19416266"/>
            <a:ext cx="7257752" cy="1813322"/>
          </a:xfrm>
          <a:prstGeom prst="rect">
            <a:avLst/>
          </a:prstGeom>
          <a:solidFill>
            <a:srgbClr val="FDFCF9"/>
          </a:solidFill>
          <a:ln w="28575">
            <a:solidFill>
              <a:srgbClr val="D3D8E0"/>
            </a:solidFill>
            <a:prstDash val="solid"/>
          </a:ln>
        </p:spPr>
        <p:txBody>
          <a:bodyPr/>
          <a:lstStyle/>
          <a:p>
            <a:endParaRPr lang="en-GB"/>
          </a:p>
        </p:txBody>
      </p:sp>
      <p:sp>
        <p:nvSpPr>
          <p:cNvPr id="93" name="Text 91"/>
          <p:cNvSpPr/>
          <p:nvPr/>
        </p:nvSpPr>
        <p:spPr>
          <a:xfrm>
            <a:off x="15009748" y="19692491"/>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uniform</a:t>
            </a:r>
            <a:endParaRPr lang="en-US" sz="2550" dirty="0"/>
          </a:p>
        </p:txBody>
      </p:sp>
      <p:sp>
        <p:nvSpPr>
          <p:cNvPr id="94" name="Text 92"/>
          <p:cNvSpPr/>
          <p:nvPr/>
        </p:nvSpPr>
        <p:spPr>
          <a:xfrm>
            <a:off x="15009748" y="20187791"/>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Piecewise-constant function. The package default, and the only basis that supports delayed entry.</a:t>
            </a:r>
            <a:endParaRPr lang="en-US" sz="2250" dirty="0"/>
          </a:p>
        </p:txBody>
      </p:sp>
      <p:sp>
        <p:nvSpPr>
          <p:cNvPr id="95" name="Shape 93"/>
          <p:cNvSpPr/>
          <p:nvPr/>
        </p:nvSpPr>
        <p:spPr>
          <a:xfrm>
            <a:off x="14692015" y="21672347"/>
            <a:ext cx="7257752" cy="1508236"/>
          </a:xfrm>
          <a:prstGeom prst="rect">
            <a:avLst/>
          </a:prstGeom>
          <a:solidFill>
            <a:srgbClr val="FDFCF9"/>
          </a:solidFill>
          <a:ln w="28575">
            <a:solidFill>
              <a:srgbClr val="D3D8E0"/>
            </a:solidFill>
            <a:prstDash val="solid"/>
          </a:ln>
        </p:spPr>
        <p:txBody>
          <a:bodyPr/>
          <a:lstStyle/>
          <a:p>
            <a:endParaRPr lang="en-GB"/>
          </a:p>
        </p:txBody>
      </p:sp>
      <p:sp>
        <p:nvSpPr>
          <p:cNvPr id="96" name="Text 94"/>
          <p:cNvSpPr/>
          <p:nvPr/>
        </p:nvSpPr>
        <p:spPr>
          <a:xfrm>
            <a:off x="15006340" y="21948572"/>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msplines</a:t>
            </a:r>
            <a:endParaRPr lang="en-US" sz="2550" dirty="0"/>
          </a:p>
        </p:txBody>
      </p:sp>
      <p:sp>
        <p:nvSpPr>
          <p:cNvPr id="97" name="Text 95"/>
          <p:cNvSpPr/>
          <p:nvPr/>
        </p:nvSpPr>
        <p:spPr>
          <a:xfrm>
            <a:off x="14971597" y="22479542"/>
            <a:ext cx="6525455" cy="803672"/>
          </a:xfrm>
          <a:prstGeom prst="rect">
            <a:avLst/>
          </a:prstGeom>
          <a:noFill/>
          <a:ln/>
        </p:spPr>
        <p:txBody>
          <a:bodyPr wrap="square" lIns="25400" tIns="25400" rIns="25400" bIns="25400" rtlCol="0" anchor="t">
            <a:noAutofit/>
          </a:bodyPr>
          <a:lstStyle/>
          <a:p>
            <a:pPr>
              <a:lnSpc>
                <a:spcPct val="103077"/>
              </a:lnSpc>
            </a:pPr>
            <a:r>
              <a:rPr lang="en-US" sz="2200" dirty="0">
                <a:solidFill>
                  <a:srgbClr val="121417"/>
                </a:solidFill>
                <a:latin typeface="IBM Plex Sans" pitchFamily="34" charset="0"/>
              </a:rPr>
              <a:t>Cubic M-splines, the usual recommendation.</a:t>
            </a:r>
          </a:p>
        </p:txBody>
      </p:sp>
      <p:sp>
        <p:nvSpPr>
          <p:cNvPr id="98" name="Shape 96"/>
          <p:cNvSpPr/>
          <p:nvPr/>
        </p:nvSpPr>
        <p:spPr>
          <a:xfrm>
            <a:off x="14706843" y="23624861"/>
            <a:ext cx="7257752" cy="1463666"/>
          </a:xfrm>
          <a:prstGeom prst="rect">
            <a:avLst/>
          </a:prstGeom>
          <a:solidFill>
            <a:srgbClr val="FDFCF9"/>
          </a:solidFill>
          <a:ln w="28575">
            <a:solidFill>
              <a:srgbClr val="D3D8E0"/>
            </a:solidFill>
            <a:prstDash val="solid"/>
          </a:ln>
        </p:spPr>
        <p:txBody>
          <a:bodyPr/>
          <a:lstStyle/>
          <a:p>
            <a:endParaRPr lang="en-GB"/>
          </a:p>
        </p:txBody>
      </p:sp>
      <p:sp>
        <p:nvSpPr>
          <p:cNvPr id="99" name="Text 97"/>
          <p:cNvSpPr/>
          <p:nvPr/>
        </p:nvSpPr>
        <p:spPr>
          <a:xfrm>
            <a:off x="15021168" y="23901086"/>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gaussian</a:t>
            </a:r>
            <a:endParaRPr lang="en-US" sz="2550" dirty="0"/>
          </a:p>
        </p:txBody>
      </p:sp>
      <p:sp>
        <p:nvSpPr>
          <p:cNvPr id="100" name="Text 98"/>
          <p:cNvSpPr/>
          <p:nvPr/>
        </p:nvSpPr>
        <p:spPr>
          <a:xfrm>
            <a:off x="15021168" y="24396386"/>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Truncated Gaussian kernels.</a:t>
            </a:r>
            <a:endParaRPr lang="en-US" sz="2250" dirty="0"/>
          </a:p>
        </p:txBody>
      </p:sp>
      <p:sp>
        <p:nvSpPr>
          <p:cNvPr id="101" name="Shape 99"/>
          <p:cNvSpPr/>
          <p:nvPr/>
        </p:nvSpPr>
        <p:spPr>
          <a:xfrm>
            <a:off x="14706843" y="25606359"/>
            <a:ext cx="7257752" cy="1459462"/>
          </a:xfrm>
          <a:prstGeom prst="rect">
            <a:avLst/>
          </a:prstGeom>
          <a:solidFill>
            <a:srgbClr val="FDFCF9"/>
          </a:solidFill>
          <a:ln w="28575">
            <a:solidFill>
              <a:srgbClr val="D3D8E0"/>
            </a:solidFill>
            <a:prstDash val="solid"/>
          </a:ln>
        </p:spPr>
        <p:txBody>
          <a:bodyPr/>
          <a:lstStyle/>
          <a:p>
            <a:endParaRPr lang="en-GB"/>
          </a:p>
        </p:txBody>
      </p:sp>
      <p:sp>
        <p:nvSpPr>
          <p:cNvPr id="102" name="Text 100"/>
          <p:cNvSpPr/>
          <p:nvPr/>
        </p:nvSpPr>
        <p:spPr>
          <a:xfrm>
            <a:off x="15021168" y="25835870"/>
            <a:ext cx="7292013" cy="457200"/>
          </a:xfrm>
          <a:prstGeom prst="rect">
            <a:avLst/>
          </a:prstGeom>
          <a:noFill/>
          <a:ln/>
        </p:spPr>
        <p:txBody>
          <a:bodyPr wrap="square" lIns="25400" tIns="25400" rIns="25400" bIns="25400" rtlCol="0" anchor="t">
            <a:normAutofit/>
          </a:bodyPr>
          <a:lstStyle/>
          <a:p>
            <a:pPr marL="0" indent="0" algn="l">
              <a:buNone/>
            </a:pPr>
            <a:r>
              <a:rPr lang="en-US" sz="2550" dirty="0">
                <a:solidFill>
                  <a:srgbClr val="025894"/>
                </a:solidFill>
                <a:latin typeface="IBM Plex Mono" pitchFamily="34" charset="0"/>
                <a:ea typeface="IBM Plex Mono" pitchFamily="34" charset="-122"/>
                <a:cs typeface="IBM Plex Mono" pitchFamily="34" charset="-120"/>
              </a:rPr>
              <a:t>epanechnikov</a:t>
            </a:r>
            <a:endParaRPr lang="en-US" sz="2550" dirty="0"/>
          </a:p>
        </p:txBody>
      </p:sp>
      <p:sp>
        <p:nvSpPr>
          <p:cNvPr id="103" name="Text 101"/>
          <p:cNvSpPr/>
          <p:nvPr/>
        </p:nvSpPr>
        <p:spPr>
          <a:xfrm>
            <a:off x="15021168" y="26331170"/>
            <a:ext cx="6827975" cy="803672"/>
          </a:xfrm>
          <a:prstGeom prst="rect">
            <a:avLst/>
          </a:prstGeom>
          <a:noFill/>
          <a:ln/>
        </p:spPr>
        <p:txBody>
          <a:bodyPr wrap="square" lIns="25400" tIns="25400" rIns="25400" bIns="25400" rtlCol="0" anchor="t">
            <a:normAutofit/>
          </a:bodyPr>
          <a:lstStyle/>
          <a:p>
            <a:pPr marL="0" indent="0" algn="l">
              <a:lnSpc>
                <a:spcPct val="103077"/>
              </a:lnSpc>
              <a:buNone/>
            </a:pPr>
            <a:r>
              <a:rPr lang="en-US" sz="2250" dirty="0">
                <a:solidFill>
                  <a:srgbClr val="121417"/>
                </a:solidFill>
                <a:latin typeface="IBM Plex Sans" pitchFamily="34" charset="0"/>
                <a:ea typeface="IBM Plex Sans" pitchFamily="34" charset="-122"/>
                <a:cs typeface="IBM Plex Sans" pitchFamily="34" charset="-120"/>
              </a:rPr>
              <a:t>Compact parabolic kernels.</a:t>
            </a:r>
            <a:endParaRPr lang="en-US" sz="2250" dirty="0"/>
          </a:p>
        </p:txBody>
      </p:sp>
      <p:pic>
        <p:nvPicPr>
          <p:cNvPr id="949" name="Fig 3"/>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3066618" y="25561333"/>
            <a:ext cx="4840302" cy="1843076"/>
          </a:xfrm>
          <a:prstGeom prst="rect">
            <a:avLst/>
          </a:prstGeom>
        </p:spPr>
      </p:pic>
      <p:pic>
        <p:nvPicPr>
          <p:cNvPr id="4" name="Fig 3">
            <a:extLst>
              <a:ext uri="{FF2B5EF4-FFF2-40B4-BE49-F238E27FC236}">
                <a16:creationId xmlns:a16="http://schemas.microsoft.com/office/drawing/2014/main" id="{1ED02FCD-193C-E269-F65E-6422BF70F59E}"/>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23112535" y="19444841"/>
            <a:ext cx="4779466" cy="1817063"/>
          </a:xfrm>
          <a:prstGeom prst="rect">
            <a:avLst/>
          </a:prstGeom>
        </p:spPr>
      </p:pic>
      <p:pic>
        <p:nvPicPr>
          <p:cNvPr id="5" name="Fig 3">
            <a:extLst>
              <a:ext uri="{FF2B5EF4-FFF2-40B4-BE49-F238E27FC236}">
                <a16:creationId xmlns:a16="http://schemas.microsoft.com/office/drawing/2014/main" id="{BA96EDDA-54A2-5BE1-5C4B-168313417B8E}"/>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23293802" y="21643773"/>
            <a:ext cx="4598199" cy="1749144"/>
          </a:xfrm>
          <a:prstGeom prst="rect">
            <a:avLst/>
          </a:prstGeom>
        </p:spPr>
      </p:pic>
      <p:pic>
        <p:nvPicPr>
          <p:cNvPr id="7" name="Fig 3">
            <a:extLst>
              <a:ext uri="{FF2B5EF4-FFF2-40B4-BE49-F238E27FC236}">
                <a16:creationId xmlns:a16="http://schemas.microsoft.com/office/drawing/2014/main" id="{D66557AB-AB5A-445B-B900-7E38FA079C1E}"/>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23066618" y="23617374"/>
            <a:ext cx="4898836" cy="1827633"/>
          </a:xfrm>
          <a:prstGeom prst="rect">
            <a:avLst/>
          </a:prstGeom>
        </p:spPr>
      </p:pic>
      <p:sp>
        <p:nvSpPr>
          <p:cNvPr id="18" name="Problem continued"/>
          <p:cNvSpPr/>
          <p:nvPr/>
        </p:nvSpPr>
        <p:spPr>
          <a:xfrm>
            <a:off x="1047720" y="12271248"/>
            <a:ext cx="13244170" cy="2353497"/>
          </a:xfrm>
          <a:prstGeom prst="rect">
            <a:avLst/>
          </a:prstGeom>
          <a:noFill/>
          <a:ln/>
        </p:spPr>
        <p:txBody>
          <a:bodyPr wrap="square" lIns="25420" tIns="25420" rIns="25420" bIns="25420" rtlCol="0" anchor="t">
            <a:normAutofit fontScale="92500" lnSpcReduction="10000"/>
          </a:bodyPr>
          <a:lstStyle/>
          <a:p>
            <a:pPr marL="0" indent="0" algn="just">
              <a:lnSpc>
                <a:spcPct val="110300"/>
              </a:lnSpc>
              <a:buNone/>
            </a:pPr>
            <a:r>
              <a:rPr lang="en-GB" sz="3200" kern="0" dirty="0">
                <a:solidFill>
                  <a:srgbClr val="303338"/>
                </a:solidFill>
                <a:latin typeface="IBM Plex Sans" pitchFamily="34" charset="0"/>
                <a:ea typeface="IBM Plex Sans" pitchFamily="34" charset="-122"/>
                <a:cs typeface="IBM Plex Sans" pitchFamily="34" charset="-120"/>
              </a:rPr>
              <a:t>Where an interval is replaced by a single imputed time, that imputation is then treated  as if it had been observed, so standard errors are understated and bias increases with the width of the interval. Maximum penalised likelihood instead considers each interval as recorded and estimates the baseline hazard jointly with the regression coefficients.</a:t>
            </a:r>
          </a:p>
        </p:txBody>
      </p:sp>
      <p:pic>
        <p:nvPicPr>
          <p:cNvPr id="26" name="Fig 2">
            <a:extLst>
              <a:ext uri="{FF2B5EF4-FFF2-40B4-BE49-F238E27FC236}">
                <a16:creationId xmlns:a16="http://schemas.microsoft.com/office/drawing/2014/main" id="{CA206591-5F5B-972F-70CB-99549376A8A5}"/>
              </a:ext>
            </a:extLst>
          </p:cNvPr>
          <p:cNvPicPr>
            <a:picLocks noChangeAspect="1"/>
          </p:cNvPicPr>
          <p:nvPr/>
        </p:nvPicPr>
        <p:blipFill>
          <a:blip r:embed="rId8"/>
          <a:stretch>
            <a:fillRect/>
          </a:stretch>
        </p:blipFill>
        <p:spPr>
          <a:xfrm>
            <a:off x="14556924" y="31603950"/>
            <a:ext cx="14228064" cy="4663440"/>
          </a:xfrm>
          <a:prstGeom prst="rect">
            <a:avLst/>
          </a:prstGeom>
        </p:spPr>
      </p:pic>
      <p:sp>
        <p:nvSpPr>
          <p:cNvPr id="28" name="Text 10">
            <a:extLst>
              <a:ext uri="{FF2B5EF4-FFF2-40B4-BE49-F238E27FC236}">
                <a16:creationId xmlns:a16="http://schemas.microsoft.com/office/drawing/2014/main" id="{05DEE57B-2072-05A9-8D32-6CF0A381A42C}"/>
              </a:ext>
            </a:extLst>
          </p:cNvPr>
          <p:cNvSpPr/>
          <p:nvPr/>
        </p:nvSpPr>
        <p:spPr>
          <a:xfrm>
            <a:off x="14998797" y="36506328"/>
            <a:ext cx="15585445"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4476A4"/>
                </a:solidFill>
                <a:latin typeface="IBM Plex Mono" pitchFamily="34" charset="0"/>
                <a:ea typeface="IBM Plex Mono" pitchFamily="34" charset="-122"/>
                <a:cs typeface="IBM Plex Mono" pitchFamily="34" charset="-120"/>
              </a:rPr>
              <a:t>IN PRACTICE</a:t>
            </a:r>
            <a:endParaRPr lang="en-US" sz="2100" dirty="0"/>
          </a:p>
        </p:txBody>
      </p:sp>
      <p:sp>
        <p:nvSpPr>
          <p:cNvPr id="19" name="Example panel"/>
          <p:cNvSpPr/>
          <p:nvPr/>
        </p:nvSpPr>
        <p:spPr>
          <a:xfrm>
            <a:off x="1047720" y="26482871"/>
            <a:ext cx="12754600" cy="8778240"/>
          </a:xfrm>
          <a:prstGeom prst="rect">
            <a:avLst/>
          </a:prstGeom>
          <a:solidFill>
            <a:srgbClr val="F0F6FC"/>
          </a:solidFill>
          <a:ln/>
        </p:spPr>
        <p:txBody>
          <a:bodyPr/>
          <a:lstStyle/>
          <a:p>
            <a:endParaRPr lang="en-GB"/>
          </a:p>
        </p:txBody>
      </p:sp>
      <p:sp>
        <p:nvSpPr>
          <p:cNvPr id="20" name="Example rule"/>
          <p:cNvSpPr/>
          <p:nvPr/>
        </p:nvSpPr>
        <p:spPr>
          <a:xfrm>
            <a:off x="1047720" y="26435304"/>
            <a:ext cx="114300" cy="8778240"/>
          </a:xfrm>
          <a:prstGeom prst="rect">
            <a:avLst/>
          </a:prstGeom>
          <a:solidFill>
            <a:srgbClr val="025894"/>
          </a:solidFill>
          <a:ln/>
        </p:spPr>
        <p:txBody>
          <a:bodyPr/>
          <a:lstStyle/>
          <a:p>
            <a:endParaRPr lang="en-GB"/>
          </a:p>
        </p:txBody>
      </p:sp>
      <p:sp>
        <p:nvSpPr>
          <p:cNvPr id="21" name="Example label"/>
          <p:cNvSpPr/>
          <p:nvPr/>
        </p:nvSpPr>
        <p:spPr>
          <a:xfrm>
            <a:off x="1486632" y="26654760"/>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kern="0" spc="273" dirty="0">
                <a:solidFill>
                  <a:srgbClr val="025894"/>
                </a:solidFill>
                <a:latin typeface="IBM Plex Mono" pitchFamily="34" charset="0"/>
                <a:ea typeface="IBM Plex Mono" pitchFamily="34" charset="-122"/>
                <a:cs typeface="IBM Plex Mono" pitchFamily="34" charset="-120"/>
              </a:rPr>
              <a:t>A WORKED EXAMPLE</a:t>
            </a:r>
          </a:p>
        </p:txBody>
      </p:sp>
      <p:sp>
        <p:nvSpPr>
          <p:cNvPr id="22" name="Example dataset"/>
          <p:cNvSpPr/>
          <p:nvPr/>
        </p:nvSpPr>
        <p:spPr>
          <a:xfrm>
            <a:off x="5554431" y="26673048"/>
            <a:ext cx="7863840" cy="310896"/>
          </a:xfrm>
          <a:prstGeom prst="rect">
            <a:avLst/>
          </a:prstGeom>
          <a:noFill/>
          <a:ln/>
        </p:spPr>
        <p:txBody>
          <a:bodyPr wrap="square" lIns="25420" tIns="25420" rIns="25420" bIns="25420" rtlCol="0" anchor="t">
            <a:normAutofit/>
          </a:bodyPr>
          <a:lstStyle/>
          <a:p>
            <a:pPr marL="0" indent="0" algn="r">
              <a:buNone/>
            </a:pPr>
            <a:r>
              <a:rPr lang="en-GB" sz="1650" kern="0" dirty="0">
                <a:solidFill>
                  <a:srgbClr val="606369"/>
                </a:solidFill>
                <a:latin typeface="IBM Plex Mono" pitchFamily="34" charset="0"/>
                <a:ea typeface="IBM Plex Mono" pitchFamily="34" charset="-122"/>
                <a:cs typeface="IBM Plex Mono" pitchFamily="34" charset="-120"/>
              </a:rPr>
              <a:t>bcos2: breast cosmesis after radiotherapy</a:t>
            </a:r>
          </a:p>
        </p:txBody>
      </p:sp>
      <p:sp>
        <p:nvSpPr>
          <p:cNvPr id="23" name="Step 1 label"/>
          <p:cNvSpPr/>
          <p:nvPr/>
        </p:nvSpPr>
        <p:spPr>
          <a:xfrm>
            <a:off x="1486632" y="27166824"/>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1  </a:t>
            </a:r>
            <a:r>
              <a:rPr lang="en-GB" sz="1950" kern="0" spc="273" dirty="0">
                <a:solidFill>
                  <a:srgbClr val="025894"/>
                </a:solidFill>
                <a:latin typeface="IBM Plex Mono" pitchFamily="34" charset="0"/>
                <a:ea typeface="IBM Plex Mono" pitchFamily="34" charset="-122"/>
                <a:cs typeface="IBM Plex Mono" pitchFamily="34" charset="-120"/>
              </a:rPr>
              <a:t>THE CALL</a:t>
            </a:r>
          </a:p>
        </p:txBody>
      </p:sp>
      <p:sp>
        <p:nvSpPr>
          <p:cNvPr id="24" name="Step 1 body"/>
          <p:cNvSpPr/>
          <p:nvPr/>
        </p:nvSpPr>
        <p:spPr>
          <a:xfrm>
            <a:off x="1486632" y="27569160"/>
            <a:ext cx="12070080" cy="1005840"/>
          </a:xfrm>
          <a:prstGeom prst="rect">
            <a:avLst/>
          </a:prstGeom>
          <a:noFill/>
          <a:ln/>
        </p:spPr>
        <p:txBody>
          <a:bodyPr wrap="square" lIns="25420" tIns="25420" rIns="25420" bIns="25420" rtlCol="0" anchor="t">
            <a:normAutofit/>
          </a:bodyPr>
          <a:lstStyle/>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library(survivalMPL)</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fit &lt;- coxph_mpl(Surv(left, right, type = "interval2") ~ treatment,</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data = bcos2, basis = "msplines")</a:t>
            </a:r>
          </a:p>
        </p:txBody>
      </p:sp>
      <p:sp>
        <p:nvSpPr>
          <p:cNvPr id="25" name="Step 2 label"/>
          <p:cNvSpPr/>
          <p:nvPr/>
        </p:nvSpPr>
        <p:spPr>
          <a:xfrm>
            <a:off x="1486632" y="28739592"/>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2  </a:t>
            </a:r>
            <a:r>
              <a:rPr lang="en-GB" sz="1950" kern="0" spc="273" dirty="0">
                <a:solidFill>
                  <a:srgbClr val="025894"/>
                </a:solidFill>
                <a:latin typeface="IBM Plex Mono" pitchFamily="34" charset="0"/>
                <a:ea typeface="IBM Plex Mono" pitchFamily="34" charset="-122"/>
                <a:cs typeface="IBM Plex Mono" pitchFamily="34" charset="-120"/>
              </a:rPr>
              <a:t>WHAT IT RETURNS</a:t>
            </a:r>
          </a:p>
        </p:txBody>
      </p:sp>
      <p:sp>
        <p:nvSpPr>
          <p:cNvPr id="27" name="Step 2 body"/>
          <p:cNvSpPr/>
          <p:nvPr/>
        </p:nvSpPr>
        <p:spPr>
          <a:xfrm>
            <a:off x="1486632" y="29141928"/>
            <a:ext cx="12070080" cy="3840480"/>
          </a:xfrm>
          <a:prstGeom prst="rect">
            <a:avLst/>
          </a:prstGeom>
          <a:noFill/>
          <a:ln/>
        </p:spPr>
        <p:txBody>
          <a:bodyPr wrap="square" lIns="25420" tIns="25420" rIns="25420" bIns="25420" rtlCol="0" anchor="t">
            <a:normAutofit/>
          </a:bodyPr>
          <a:lstStyle/>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&gt; summary(fit)$Beta</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Estimate Std. Error z-value Pr(&gt;|z|)</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treatmentRadChem  0.89355    0.29414 3.03787  0.00238</a:t>
            </a:r>
          </a:p>
          <a:p>
            <a:pPr marL="0" indent="0" algn="l">
              <a:lnSpc>
                <a:spcPct val="114000"/>
              </a:lnSpc>
              <a:buNone/>
            </a:pPr>
            <a:endParaRPr lang="en-GB" sz="1800" kern="0" dirty="0">
              <a:solidFill>
                <a:srgbClr val="121417"/>
              </a:solidFill>
              <a:latin typeface="IBM Plex Mono" pitchFamily="34" charset="0"/>
              <a:ea typeface="IBM Plex Mono" pitchFamily="34" charset="-122"/>
              <a:cs typeface="IBM Plex Mono" pitchFamily="34" charset="-120"/>
            </a:endParaRP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HR   2.5%   97.5%</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treatmentRadChem 2.44  1.37   4.35</a:t>
            </a:r>
          </a:p>
          <a:p>
            <a:pPr marL="0" indent="0" algn="l">
              <a:lnSpc>
                <a:spcPct val="114000"/>
              </a:lnSpc>
              <a:buNone/>
            </a:pPr>
            <a:endParaRPr lang="en-GB" sz="1800" kern="0" dirty="0">
              <a:solidFill>
                <a:srgbClr val="121417"/>
              </a:solidFill>
              <a:latin typeface="IBM Plex Mono" pitchFamily="34" charset="0"/>
              <a:ea typeface="IBM Plex Mono" pitchFamily="34" charset="-122"/>
              <a:cs typeface="IBM Plex Mono" pitchFamily="34" charset="-120"/>
            </a:endParaRP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&gt; predict(fit, type = "survival", i = 47, time = c(24, 36))</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time survival     se    low   high</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24   0.4499 0.0574 0.3351 0.5648</a:t>
            </a:r>
          </a:p>
          <a:p>
            <a:pPr marL="0" indent="0" algn="l">
              <a:lnSpc>
                <a:spcPct val="114000"/>
              </a:lnSpc>
              <a:buNone/>
            </a:pPr>
            <a:r>
              <a:rPr lang="en-GB" sz="1800" kern="0" dirty="0">
                <a:solidFill>
                  <a:srgbClr val="121417"/>
                </a:solidFill>
                <a:latin typeface="IBM Plex Mono" pitchFamily="34" charset="0"/>
                <a:ea typeface="IBM Plex Mono" pitchFamily="34" charset="-122"/>
                <a:cs typeface="IBM Plex Mono" pitchFamily="34" charset="-120"/>
              </a:rPr>
              <a:t>    36   0.2273 0.0461 0.1351 0.3194</a:t>
            </a:r>
          </a:p>
        </p:txBody>
      </p:sp>
      <p:sp>
        <p:nvSpPr>
          <p:cNvPr id="31" name="Step 3 label"/>
          <p:cNvSpPr/>
          <p:nvPr/>
        </p:nvSpPr>
        <p:spPr>
          <a:xfrm>
            <a:off x="1486632" y="33092136"/>
            <a:ext cx="7315200" cy="329184"/>
          </a:xfrm>
          <a:prstGeom prst="rect">
            <a:avLst/>
          </a:prstGeom>
          <a:noFill/>
          <a:ln/>
        </p:spPr>
        <p:txBody>
          <a:bodyPr wrap="square" lIns="25420" tIns="25420" rIns="25420" bIns="25420" rtlCol="0" anchor="t">
            <a:normAutofit lnSpcReduction="10000"/>
          </a:bodyPr>
          <a:lstStyle/>
          <a:p>
            <a:pPr marL="0" indent="0" algn="l">
              <a:buNone/>
            </a:pPr>
            <a:r>
              <a:rPr lang="en-GB" sz="1950" b="1" kern="0" dirty="0">
                <a:solidFill>
                  <a:srgbClr val="025894"/>
                </a:solidFill>
                <a:latin typeface="IBM Plex Mono" pitchFamily="34" charset="0"/>
                <a:ea typeface="IBM Plex Mono" pitchFamily="34" charset="-122"/>
                <a:cs typeface="IBM Plex Mono" pitchFamily="34" charset="-120"/>
              </a:rPr>
              <a:t>3  </a:t>
            </a:r>
            <a:r>
              <a:rPr lang="en-GB" sz="1950" kern="0" spc="273" dirty="0">
                <a:solidFill>
                  <a:srgbClr val="025894"/>
                </a:solidFill>
                <a:latin typeface="IBM Plex Mono" pitchFamily="34" charset="0"/>
                <a:ea typeface="IBM Plex Mono" pitchFamily="34" charset="-122"/>
                <a:cs typeface="IBM Plex Mono" pitchFamily="34" charset="-120"/>
              </a:rPr>
              <a:t>WHAT IT MEANS</a:t>
            </a:r>
          </a:p>
        </p:txBody>
      </p:sp>
      <p:sp>
        <p:nvSpPr>
          <p:cNvPr id="32" name="Step 3 body"/>
          <p:cNvSpPr/>
          <p:nvPr/>
        </p:nvSpPr>
        <p:spPr>
          <a:xfrm>
            <a:off x="1466850" y="33458384"/>
            <a:ext cx="12070080" cy="1802727"/>
          </a:xfrm>
          <a:prstGeom prst="rect">
            <a:avLst/>
          </a:prstGeom>
          <a:noFill/>
          <a:ln/>
        </p:spPr>
        <p:txBody>
          <a:bodyPr wrap="square" lIns="25420" tIns="25420" rIns="25420" bIns="25420" rtlCol="0" anchor="t">
            <a:normAutofit/>
          </a:bodyPr>
          <a:lstStyle/>
          <a:p>
            <a:pPr marL="0" indent="0" algn="l">
              <a:lnSpc>
                <a:spcPct val="115000"/>
              </a:lnSpc>
              <a:buNone/>
            </a:pPr>
            <a:r>
              <a:rPr lang="en-GB" sz="2400" kern="0" dirty="0">
                <a:solidFill>
                  <a:srgbClr val="303338"/>
                </a:solidFill>
                <a:latin typeface="IBM Plex Sans" pitchFamily="34" charset="0"/>
                <a:ea typeface="IBM Plex Sans" pitchFamily="34" charset="-122"/>
                <a:cs typeface="IBM Plex Sans" pitchFamily="34" charset="-120"/>
              </a:rPr>
              <a:t>Adding chemotherapy raises the instantaneous rate of breast retraction by a factor of 2.44 (95% CI 1.37 to 4.35) compared to the radiotherapy-only group. For a woman given both, the fitted probability of remaining free of deterioration is 45% (34 to 56) at two years and 23% (14 to 32) at three.</a:t>
            </a:r>
          </a:p>
        </p:txBody>
      </p:sp>
      <p:sp>
        <p:nvSpPr>
          <p:cNvPr id="33" name="Chip coef()"/>
          <p:cNvSpPr/>
          <p:nvPr/>
        </p:nvSpPr>
        <p:spPr>
          <a:xfrm>
            <a:off x="15172128" y="30122316"/>
            <a:ext cx="1272899" cy="714674"/>
          </a:xfrm>
          <a:prstGeom prst="rect">
            <a:avLst/>
          </a:prstGeom>
          <a:solidFill>
            <a:srgbClr val="D9EAFC"/>
          </a:solidFill>
          <a:ln/>
        </p:spPr>
        <p:txBody>
          <a:bodyPr/>
          <a:lstStyle/>
          <a:p>
            <a:endParaRPr lang="en-GB"/>
          </a:p>
        </p:txBody>
      </p:sp>
      <p:sp>
        <p:nvSpPr>
          <p:cNvPr id="34" name="Chip label coef()"/>
          <p:cNvSpPr/>
          <p:nvPr/>
        </p:nvSpPr>
        <p:spPr>
          <a:xfrm>
            <a:off x="15210384" y="30283536"/>
            <a:ext cx="1272899" cy="523273"/>
          </a:xfrm>
          <a:prstGeom prst="rect">
            <a:avLst/>
          </a:prstGeom>
          <a:noFill/>
          <a:ln/>
        </p:spPr>
        <p:txBody>
          <a:bodyPr wrap="square" lIns="25420" tIns="25420" rIns="25420" bIns="25420" rtlCol="0" anchor="t">
            <a:normAutofit/>
          </a:bodyPr>
          <a:lstStyle/>
          <a:p>
            <a:pPr marL="0" indent="0" algn="ctr" defTabSz="990600">
              <a:buNone/>
            </a:pPr>
            <a:r>
              <a:rPr lang="en-GB" sz="1950" kern="0" dirty="0">
                <a:solidFill>
                  <a:srgbClr val="003A68"/>
                </a:solidFill>
                <a:latin typeface="IBM Plex Mono" pitchFamily="34" charset="0"/>
                <a:ea typeface="IBM Plex Mono" pitchFamily="34" charset="-122"/>
                <a:cs typeface="IBM Plex Mono" pitchFamily="34" charset="-120"/>
              </a:rPr>
              <a:t>coef()</a:t>
            </a:r>
          </a:p>
        </p:txBody>
      </p:sp>
      <p:sp>
        <p:nvSpPr>
          <p:cNvPr id="35" name="Chip summary()"/>
          <p:cNvSpPr/>
          <p:nvPr/>
        </p:nvSpPr>
        <p:spPr>
          <a:xfrm>
            <a:off x="17310443" y="30111510"/>
            <a:ext cx="1717729" cy="714674"/>
          </a:xfrm>
          <a:prstGeom prst="rect">
            <a:avLst/>
          </a:prstGeom>
          <a:solidFill>
            <a:srgbClr val="D9EAFC"/>
          </a:solidFill>
          <a:ln/>
        </p:spPr>
        <p:txBody>
          <a:bodyPr/>
          <a:lstStyle/>
          <a:p>
            <a:endParaRPr lang="en-GB"/>
          </a:p>
        </p:txBody>
      </p:sp>
      <p:sp>
        <p:nvSpPr>
          <p:cNvPr id="36" name="Chip label summary()"/>
          <p:cNvSpPr/>
          <p:nvPr/>
        </p:nvSpPr>
        <p:spPr>
          <a:xfrm>
            <a:off x="17310443" y="30289617"/>
            <a:ext cx="171772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summary()</a:t>
            </a:r>
          </a:p>
        </p:txBody>
      </p:sp>
      <p:sp>
        <p:nvSpPr>
          <p:cNvPr id="37" name="Chip predict()"/>
          <p:cNvSpPr/>
          <p:nvPr/>
        </p:nvSpPr>
        <p:spPr>
          <a:xfrm>
            <a:off x="19779323" y="30096636"/>
            <a:ext cx="1717729" cy="714674"/>
          </a:xfrm>
          <a:prstGeom prst="rect">
            <a:avLst/>
          </a:prstGeom>
          <a:solidFill>
            <a:srgbClr val="D9EAFC"/>
          </a:solidFill>
          <a:ln/>
        </p:spPr>
        <p:txBody>
          <a:bodyPr/>
          <a:lstStyle/>
          <a:p>
            <a:endParaRPr lang="en-GB"/>
          </a:p>
        </p:txBody>
      </p:sp>
      <p:sp>
        <p:nvSpPr>
          <p:cNvPr id="38" name="Chip label predict()"/>
          <p:cNvSpPr/>
          <p:nvPr/>
        </p:nvSpPr>
        <p:spPr>
          <a:xfrm>
            <a:off x="19817173" y="30283536"/>
            <a:ext cx="171772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predict()</a:t>
            </a:r>
          </a:p>
        </p:txBody>
      </p:sp>
      <p:sp>
        <p:nvSpPr>
          <p:cNvPr id="39" name="Chip residuals()"/>
          <p:cNvSpPr/>
          <p:nvPr/>
        </p:nvSpPr>
        <p:spPr>
          <a:xfrm>
            <a:off x="22041771" y="30096636"/>
            <a:ext cx="2014283" cy="714674"/>
          </a:xfrm>
          <a:prstGeom prst="rect">
            <a:avLst/>
          </a:prstGeom>
          <a:solidFill>
            <a:srgbClr val="D9EAFC"/>
          </a:solidFill>
          <a:ln/>
        </p:spPr>
        <p:txBody>
          <a:bodyPr/>
          <a:lstStyle/>
          <a:p>
            <a:endParaRPr lang="en-GB"/>
          </a:p>
        </p:txBody>
      </p:sp>
      <p:sp>
        <p:nvSpPr>
          <p:cNvPr id="40" name="Chip label residuals()"/>
          <p:cNvSpPr/>
          <p:nvPr/>
        </p:nvSpPr>
        <p:spPr>
          <a:xfrm>
            <a:off x="22059477" y="30283536"/>
            <a:ext cx="2014283"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residuals()</a:t>
            </a:r>
          </a:p>
        </p:txBody>
      </p:sp>
      <p:sp>
        <p:nvSpPr>
          <p:cNvPr id="896" name="Chip plot()"/>
          <p:cNvSpPr/>
          <p:nvPr/>
        </p:nvSpPr>
        <p:spPr>
          <a:xfrm>
            <a:off x="24620744" y="30096636"/>
            <a:ext cx="1272899" cy="714674"/>
          </a:xfrm>
          <a:prstGeom prst="rect">
            <a:avLst/>
          </a:prstGeom>
          <a:solidFill>
            <a:srgbClr val="D9EAFC"/>
          </a:solidFill>
          <a:ln/>
        </p:spPr>
        <p:txBody>
          <a:bodyPr/>
          <a:lstStyle/>
          <a:p>
            <a:endParaRPr lang="en-GB" dirty="0"/>
          </a:p>
        </p:txBody>
      </p:sp>
      <p:sp>
        <p:nvSpPr>
          <p:cNvPr id="897" name="Chip label plot()"/>
          <p:cNvSpPr/>
          <p:nvPr/>
        </p:nvSpPr>
        <p:spPr>
          <a:xfrm>
            <a:off x="24669599" y="30261363"/>
            <a:ext cx="1272899"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plot()</a:t>
            </a:r>
          </a:p>
        </p:txBody>
      </p:sp>
      <p:sp>
        <p:nvSpPr>
          <p:cNvPr id="898" name="Chip print()"/>
          <p:cNvSpPr/>
          <p:nvPr/>
        </p:nvSpPr>
        <p:spPr>
          <a:xfrm>
            <a:off x="26470826" y="30096636"/>
            <a:ext cx="1421176" cy="714674"/>
          </a:xfrm>
          <a:prstGeom prst="rect">
            <a:avLst/>
          </a:prstGeom>
          <a:solidFill>
            <a:srgbClr val="D9EAFC"/>
          </a:solidFill>
          <a:ln/>
        </p:spPr>
        <p:txBody>
          <a:bodyPr/>
          <a:lstStyle/>
          <a:p>
            <a:endParaRPr lang="en-GB"/>
          </a:p>
        </p:txBody>
      </p:sp>
      <p:sp>
        <p:nvSpPr>
          <p:cNvPr id="899" name="Chip label print()"/>
          <p:cNvSpPr/>
          <p:nvPr/>
        </p:nvSpPr>
        <p:spPr>
          <a:xfrm>
            <a:off x="26544279" y="30283536"/>
            <a:ext cx="1421176" cy="523273"/>
          </a:xfrm>
          <a:prstGeom prst="rect">
            <a:avLst/>
          </a:prstGeom>
          <a:noFill/>
          <a:ln/>
        </p:spPr>
        <p:txBody>
          <a:bodyPr wrap="square" lIns="25420" tIns="25420" rIns="25420" bIns="25420" rtlCol="0" anchor="t">
            <a:normAutofit/>
          </a:bodyPr>
          <a:lstStyle/>
          <a:p>
            <a:pPr marL="0" indent="0" algn="ctr">
              <a:buNone/>
            </a:pPr>
            <a:r>
              <a:rPr lang="en-GB" sz="1950" kern="0" dirty="0">
                <a:solidFill>
                  <a:srgbClr val="003A68"/>
                </a:solidFill>
                <a:latin typeface="IBM Plex Mono" pitchFamily="34" charset="0"/>
                <a:ea typeface="IBM Plex Mono" pitchFamily="34" charset="-122"/>
                <a:cs typeface="IBM Plex Mono" pitchFamily="34" charset="-120"/>
              </a:rPr>
              <a:t>print()</a:t>
            </a:r>
          </a:p>
        </p:txBody>
      </p:sp>
      <p:pic>
        <p:nvPicPr>
          <p:cNvPr id="946" name="Picture 945">
            <a:extLst>
              <a:ext uri="{FF2B5EF4-FFF2-40B4-BE49-F238E27FC236}">
                <a16:creationId xmlns:a16="http://schemas.microsoft.com/office/drawing/2014/main" id="{2B48347F-AA64-7CE2-A3C1-997336F44C7D}"/>
              </a:ext>
            </a:extLst>
          </p:cNvPr>
          <p:cNvPicPr>
            <a:picLocks noChangeAspect="1"/>
          </p:cNvPicPr>
          <p:nvPr/>
        </p:nvPicPr>
        <p:blipFill>
          <a:blip r:embed="rId9"/>
          <a:stretch>
            <a:fillRect/>
          </a:stretch>
        </p:blipFill>
        <p:spPr>
          <a:xfrm>
            <a:off x="26405309" y="289469"/>
            <a:ext cx="3228767" cy="959438"/>
          </a:xfrm>
          <a:prstGeom prst="rect">
            <a:avLst/>
          </a:prstGeom>
        </p:spPr>
      </p:pic>
      <p:pic>
        <p:nvPicPr>
          <p:cNvPr id="948" name="Picture 947">
            <a:extLst>
              <a:ext uri="{FF2B5EF4-FFF2-40B4-BE49-F238E27FC236}">
                <a16:creationId xmlns:a16="http://schemas.microsoft.com/office/drawing/2014/main" id="{98CF7A36-1E74-E0DD-B773-5BD601F6F2D8}"/>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603597" y="494636"/>
            <a:ext cx="3549304" cy="739000"/>
          </a:xfrm>
          <a:prstGeom prst="rect">
            <a:avLst/>
          </a:prstGeom>
        </p:spPr>
      </p:pic>
      <p:pic>
        <p:nvPicPr>
          <p:cNvPr id="958" name="Picture 957">
            <a:extLst>
              <a:ext uri="{FF2B5EF4-FFF2-40B4-BE49-F238E27FC236}">
                <a16:creationId xmlns:a16="http://schemas.microsoft.com/office/drawing/2014/main" id="{DF4DFC0D-9A8A-855B-7DB5-DF8DA556F2E8}"/>
              </a:ext>
            </a:extLst>
          </p:cNvPr>
          <p:cNvPicPr>
            <a:picLocks noChangeAspect="1"/>
          </p:cNvPicPr>
          <p:nvPr/>
        </p:nvPicPr>
        <p:blipFill>
          <a:blip r:embed="rId11"/>
          <a:stretch>
            <a:fillRect/>
          </a:stretch>
        </p:blipFill>
        <p:spPr>
          <a:xfrm>
            <a:off x="27702186" y="4560915"/>
            <a:ext cx="1424669" cy="1424669"/>
          </a:xfrm>
          <a:prstGeom prst="rect">
            <a:avLst/>
          </a:prstGeom>
        </p:spPr>
      </p:pic>
      <p:pic>
        <p:nvPicPr>
          <p:cNvPr id="30" name="Picture 29">
            <a:extLst>
              <a:ext uri="{FF2B5EF4-FFF2-40B4-BE49-F238E27FC236}">
                <a16:creationId xmlns:a16="http://schemas.microsoft.com/office/drawing/2014/main" id="{1A8A2969-86C4-B74F-0F8D-D5E2F231DB66}"/>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27066240" y="39832983"/>
            <a:ext cx="1419636" cy="14196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892</Words>
  <Application>Microsoft Office PowerPoint</Application>
  <PresentationFormat>Custom</PresentationFormat>
  <Paragraphs>105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Archivo</vt:lpstr>
      <vt:lpstr>Arial</vt:lpstr>
      <vt:lpstr>IBM Plex Mono</vt:lpstr>
      <vt:lpstr>IBM Plex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Nik</dc:creator>
  <cp:lastModifiedBy>Mozgunov, Nikita</cp:lastModifiedBy>
  <cp:revision>35</cp:revision>
  <dcterms:created xsi:type="dcterms:W3CDTF">2026-08-12T21:51:48Z</dcterms:created>
  <dcterms:modified xsi:type="dcterms:W3CDTF">2026-09-11T13:53:50Z</dcterms:modified>
</cp:coreProperties>
</file>